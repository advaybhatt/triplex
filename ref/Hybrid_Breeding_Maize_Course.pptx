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diagrams/data1.xml" ContentType="application/vnd.openxmlformats-officedocument.drawingml.diagramData+xml"/>
  <Override PartName="/ppt/diagrams/data6.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5.xml" ContentType="application/vnd.openxmlformats-officedocument.drawingml.diagramData+xml"/>
  <Override PartName="/ppt/diagrams/data4.xml" ContentType="application/vnd.openxmlformats-officedocument.drawingml.diagramData+xml"/>
  <Override PartName="/ppt/presentation.xml" ContentType="application/vnd.openxmlformats-officedocument.presentationml.presentation.main+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diagrams/drawing6.xml" ContentType="application/vnd.ms-office.drawingml.diagramDrawing+xml"/>
  <Override PartName="/ppt/diagrams/colors6.xml" ContentType="application/vnd.openxmlformats-officedocument.drawingml.diagramColors+xml"/>
  <Override PartName="/ppt/diagrams/quickStyle6.xml" ContentType="application/vnd.openxmlformats-officedocument.drawingml.diagramStyle+xml"/>
  <Override PartName="/ppt/diagrams/layout6.xml" ContentType="application/vnd.openxmlformats-officedocument.drawingml.diagramLayout+xml"/>
  <Override PartName="/ppt/diagrams/drawing5.xml" ContentType="application/vnd.ms-office.drawingml.diagramDrawing+xml"/>
  <Override PartName="/ppt/diagrams/colors5.xml" ContentType="application/vnd.openxmlformats-officedocument.drawingml.diagramColors+xml"/>
  <Override PartName="/ppt/diagrams/quickStyle5.xml" ContentType="application/vnd.openxmlformats-officedocument.drawingml.diagramStyle+xml"/>
  <Override PartName="/ppt/diagrams/layout5.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layout4.xml" ContentType="application/vnd.openxmlformats-officedocument.drawingml.diagramLayout+xml"/>
  <Override PartName="/ppt/diagrams/drawing3.xml" ContentType="application/vnd.ms-office.drawingml.diagramDrawing+xml"/>
  <Override PartName="/ppt/diagrams/colors3.xml" ContentType="application/vnd.openxmlformats-officedocument.drawingml.diagramColors+xml"/>
  <Override PartName="/ppt/diagrams/quickStyle3.xml" ContentType="application/vnd.openxmlformats-officedocument.drawingml.diagramStyle+xml"/>
  <Override PartName="/ppt/diagrams/layout3.xml" ContentType="application/vnd.openxmlformats-officedocument.drawingml.diagramLayout+xml"/>
  <Override PartName="/ppt/diagrams/drawing2.xml" ContentType="application/vnd.ms-office.drawingml.diagramDrawing+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diagrams/drawing4.xml" ContentType="application/vnd.ms-office.drawingml.diagramDrawing+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ppt/revisionInfo.xml" ContentType="application/vnd.ms-powerpoint.revisioninfo+xml"/>
  <Override PartName="/docProps/custom.xml" ContentType="application/vnd.openxmlformats-officedocument.custom-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304" r:id="rId9"/>
    <p:sldId id="305" r:id="rId10"/>
    <p:sldId id="306" r:id="rId11"/>
    <p:sldId id="307" r:id="rId12"/>
    <p:sldId id="308" r:id="rId13"/>
    <p:sldId id="321" r:id="rId14"/>
    <p:sldId id="273" r:id="rId15"/>
    <p:sldId id="285" r:id="rId16"/>
    <p:sldId id="310" r:id="rId17"/>
    <p:sldId id="289" r:id="rId18"/>
    <p:sldId id="287" r:id="rId19"/>
    <p:sldId id="290" r:id="rId20"/>
    <p:sldId id="291" r:id="rId21"/>
    <p:sldId id="292" r:id="rId22"/>
    <p:sldId id="293" r:id="rId23"/>
    <p:sldId id="294" r:id="rId24"/>
    <p:sldId id="295" r:id="rId25"/>
    <p:sldId id="296" r:id="rId26"/>
    <p:sldId id="297" r:id="rId27"/>
    <p:sldId id="298" r:id="rId28"/>
    <p:sldId id="299" r:id="rId29"/>
    <p:sldId id="309" r:id="rId30"/>
    <p:sldId id="300" r:id="rId31"/>
    <p:sldId id="301" r:id="rId32"/>
    <p:sldId id="302" r:id="rId33"/>
    <p:sldId id="272" r:id="rId34"/>
    <p:sldId id="320" r:id="rId35"/>
    <p:sldId id="274" r:id="rId36"/>
    <p:sldId id="275" r:id="rId37"/>
    <p:sldId id="318" r:id="rId38"/>
    <p:sldId id="319" r:id="rId39"/>
    <p:sldId id="278" r:id="rId40"/>
    <p:sldId id="279" r:id="rId41"/>
    <p:sldId id="280" r:id="rId42"/>
    <p:sldId id="281" r:id="rId43"/>
    <p:sldId id="282" r:id="rId44"/>
    <p:sldId id="286" r:id="rId45"/>
    <p:sldId id="322" r:id="rId46"/>
    <p:sldId id="263" r:id="rId47"/>
    <p:sldId id="264" r:id="rId48"/>
    <p:sldId id="265" r:id="rId49"/>
    <p:sldId id="266" r:id="rId50"/>
    <p:sldId id="268" r:id="rId51"/>
    <p:sldId id="269" r:id="rId52"/>
    <p:sldId id="270" r:id="rId53"/>
    <p:sldId id="311" r:id="rId54"/>
    <p:sldId id="312" r:id="rId55"/>
    <p:sldId id="313" r:id="rId56"/>
    <p:sldId id="315" r:id="rId57"/>
    <p:sldId id="316"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793202-1ACB-C344-A2B5-5B2FE47EDE3D}" v="1" dt="2026-05-13T13:52:08.9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25"/>
    <p:restoredTop sz="94561"/>
  </p:normalViewPr>
  <p:slideViewPr>
    <p:cSldViewPr snapToGrid="0" snapToObjects="1">
      <p:cViewPr varScale="1">
        <p:scale>
          <a:sx n="105" d="100"/>
          <a:sy n="105" d="100"/>
        </p:scale>
        <p:origin x="168" y="464"/>
      </p:cViewPr>
      <p:guideLst>
        <p:guide orient="horz" pos="2160"/>
        <p:guide pos="2880"/>
      </p:guideLst>
    </p:cSldViewPr>
  </p:slideViewPr>
  <p:outlineViewPr>
    <p:cViewPr>
      <p:scale>
        <a:sx n="33" d="100"/>
        <a:sy n="33" d="100"/>
      </p:scale>
      <p:origin x="0" y="-28328"/>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2AAD27-169F-460A-B0E3-4CF9F2F176F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9A56406-7B45-4720-A78D-D69834800B43}">
      <dgm:prSet/>
      <dgm:spPr/>
      <dgm:t>
        <a:bodyPr/>
        <a:lstStyle/>
        <a:p>
          <a:pPr>
            <a:lnSpc>
              <a:spcPct val="100000"/>
            </a:lnSpc>
          </a:pPr>
          <a:r>
            <a:rPr lang="en-US" dirty="0"/>
            <a:t>Session 1: Commercial hybrid seed (10 min)</a:t>
          </a:r>
        </a:p>
      </dgm:t>
    </dgm:pt>
    <dgm:pt modelId="{B1EBC440-5919-4300-8865-AC4DF722C824}" type="parTrans" cxnId="{21F7B215-5BC0-4DEC-B552-5B6D5B34EC1E}">
      <dgm:prSet/>
      <dgm:spPr/>
      <dgm:t>
        <a:bodyPr/>
        <a:lstStyle/>
        <a:p>
          <a:endParaRPr lang="en-US"/>
        </a:p>
      </dgm:t>
    </dgm:pt>
    <dgm:pt modelId="{996B3E72-DBB4-46B5-AF3C-F9E9EFFA3CD9}" type="sibTrans" cxnId="{21F7B215-5BC0-4DEC-B552-5B6D5B34EC1E}">
      <dgm:prSet/>
      <dgm:spPr/>
      <dgm:t>
        <a:bodyPr/>
        <a:lstStyle/>
        <a:p>
          <a:endParaRPr lang="en-US"/>
        </a:p>
      </dgm:t>
    </dgm:pt>
    <dgm:pt modelId="{205DA3BF-8A74-478D-BEB2-186117A0B261}">
      <dgm:prSet/>
      <dgm:spPr/>
      <dgm:t>
        <a:bodyPr/>
        <a:lstStyle/>
        <a:p>
          <a:pPr>
            <a:lnSpc>
              <a:spcPct val="100000"/>
            </a:lnSpc>
          </a:pPr>
          <a:r>
            <a:rPr lang="en-US" dirty="0"/>
            <a:t>Session 2: Biological Foundation (30 min)</a:t>
          </a:r>
        </a:p>
      </dgm:t>
    </dgm:pt>
    <dgm:pt modelId="{05968070-8CE0-4B4E-8C66-48872ABFC4AF}" type="parTrans" cxnId="{5189ED91-82F1-42DC-8AAA-3FE89883143F}">
      <dgm:prSet/>
      <dgm:spPr/>
      <dgm:t>
        <a:bodyPr/>
        <a:lstStyle/>
        <a:p>
          <a:endParaRPr lang="en-US"/>
        </a:p>
      </dgm:t>
    </dgm:pt>
    <dgm:pt modelId="{BDE1642D-3532-4E2A-82BC-D54BF4B13C0C}" type="sibTrans" cxnId="{5189ED91-82F1-42DC-8AAA-3FE89883143F}">
      <dgm:prSet/>
      <dgm:spPr/>
      <dgm:t>
        <a:bodyPr/>
        <a:lstStyle/>
        <a:p>
          <a:endParaRPr lang="en-US"/>
        </a:p>
      </dgm:t>
    </dgm:pt>
    <dgm:pt modelId="{D632C7D2-DF09-4A7B-AF20-13D902B9DA5E}">
      <dgm:prSet/>
      <dgm:spPr/>
      <dgm:t>
        <a:bodyPr/>
        <a:lstStyle/>
        <a:p>
          <a:pPr>
            <a:lnSpc>
              <a:spcPct val="100000"/>
            </a:lnSpc>
          </a:pPr>
          <a:r>
            <a:rPr lang="en-US"/>
            <a:t>Break (10 min)</a:t>
          </a:r>
        </a:p>
      </dgm:t>
    </dgm:pt>
    <dgm:pt modelId="{15A8ECB5-F943-491A-AD72-B7771297A466}" type="parTrans" cxnId="{E1E64205-E44F-4611-8258-7E0A452FCC44}">
      <dgm:prSet/>
      <dgm:spPr/>
      <dgm:t>
        <a:bodyPr/>
        <a:lstStyle/>
        <a:p>
          <a:endParaRPr lang="en-US"/>
        </a:p>
      </dgm:t>
    </dgm:pt>
    <dgm:pt modelId="{1317A714-C1D7-429F-9D1D-998A254C0DC7}" type="sibTrans" cxnId="{E1E64205-E44F-4611-8258-7E0A452FCC44}">
      <dgm:prSet/>
      <dgm:spPr/>
      <dgm:t>
        <a:bodyPr/>
        <a:lstStyle/>
        <a:p>
          <a:endParaRPr lang="en-US"/>
        </a:p>
      </dgm:t>
    </dgm:pt>
    <dgm:pt modelId="{74181711-E7EB-4E39-8F8E-88CEE58017DB}">
      <dgm:prSet/>
      <dgm:spPr/>
      <dgm:t>
        <a:bodyPr/>
        <a:lstStyle/>
        <a:p>
          <a:pPr>
            <a:lnSpc>
              <a:spcPct val="100000"/>
            </a:lnSpc>
          </a:pPr>
          <a:r>
            <a:rPr lang="en-US" dirty="0"/>
            <a:t>Session 3: Parent creation &amp; pools (30 min)</a:t>
          </a:r>
        </a:p>
      </dgm:t>
    </dgm:pt>
    <dgm:pt modelId="{62460778-5B70-4933-8757-7FCBF35A34EB}" type="parTrans" cxnId="{94638A63-A454-4019-9B9C-1E2DA1185552}">
      <dgm:prSet/>
      <dgm:spPr/>
      <dgm:t>
        <a:bodyPr/>
        <a:lstStyle/>
        <a:p>
          <a:endParaRPr lang="en-US"/>
        </a:p>
      </dgm:t>
    </dgm:pt>
    <dgm:pt modelId="{58FE1880-9201-4FEA-97A2-17BFA1D1A63F}" type="sibTrans" cxnId="{94638A63-A454-4019-9B9C-1E2DA1185552}">
      <dgm:prSet/>
      <dgm:spPr/>
      <dgm:t>
        <a:bodyPr/>
        <a:lstStyle/>
        <a:p>
          <a:endParaRPr lang="en-US"/>
        </a:p>
      </dgm:t>
    </dgm:pt>
    <dgm:pt modelId="{90FC9B0C-30FD-4339-A891-F2D745CEDDBC}">
      <dgm:prSet/>
      <dgm:spPr/>
      <dgm:t>
        <a:bodyPr/>
        <a:lstStyle/>
        <a:p>
          <a:pPr>
            <a:lnSpc>
              <a:spcPct val="100000"/>
            </a:lnSpc>
          </a:pPr>
          <a:r>
            <a:rPr lang="en-US" dirty="0"/>
            <a:t>Session 4: Production Realities (30 min)</a:t>
          </a:r>
        </a:p>
      </dgm:t>
    </dgm:pt>
    <dgm:pt modelId="{1F273377-EEAD-4E8C-A89A-39524FFA2B6B}" type="parTrans" cxnId="{4790C9C0-DC1A-4F09-81B2-AB6F873E6091}">
      <dgm:prSet/>
      <dgm:spPr/>
      <dgm:t>
        <a:bodyPr/>
        <a:lstStyle/>
        <a:p>
          <a:endParaRPr lang="en-US"/>
        </a:p>
      </dgm:t>
    </dgm:pt>
    <dgm:pt modelId="{25BC7AE7-599C-462C-A221-98677EEB7484}" type="sibTrans" cxnId="{4790C9C0-DC1A-4F09-81B2-AB6F873E6091}">
      <dgm:prSet/>
      <dgm:spPr/>
      <dgm:t>
        <a:bodyPr/>
        <a:lstStyle/>
        <a:p>
          <a:endParaRPr lang="en-US"/>
        </a:p>
      </dgm:t>
    </dgm:pt>
    <dgm:pt modelId="{C98DA46E-33FC-4D85-A797-CBD4CACE5477}">
      <dgm:prSet/>
      <dgm:spPr/>
      <dgm:t>
        <a:bodyPr/>
        <a:lstStyle/>
        <a:p>
          <a:pPr>
            <a:lnSpc>
              <a:spcPct val="100000"/>
            </a:lnSpc>
          </a:pPr>
          <a:r>
            <a:rPr lang="en-US"/>
            <a:t>Learning Goal: Understand how each breeding decision connects to farmer ROI</a:t>
          </a:r>
        </a:p>
      </dgm:t>
    </dgm:pt>
    <dgm:pt modelId="{539124F4-3A3D-4204-9A39-791E87379E9B}" type="parTrans" cxnId="{C7C0CEB9-3299-463F-9F7F-05EB1EDA622C}">
      <dgm:prSet/>
      <dgm:spPr/>
      <dgm:t>
        <a:bodyPr/>
        <a:lstStyle/>
        <a:p>
          <a:endParaRPr lang="en-US"/>
        </a:p>
      </dgm:t>
    </dgm:pt>
    <dgm:pt modelId="{B78F7C93-57F1-4EB0-8E74-CE279B2751D1}" type="sibTrans" cxnId="{C7C0CEB9-3299-463F-9F7F-05EB1EDA622C}">
      <dgm:prSet/>
      <dgm:spPr/>
      <dgm:t>
        <a:bodyPr/>
        <a:lstStyle/>
        <a:p>
          <a:endParaRPr lang="en-US"/>
        </a:p>
      </dgm:t>
    </dgm:pt>
    <dgm:pt modelId="{ACA6936E-F88A-3F4A-910A-E07408013A90}">
      <dgm:prSet/>
      <dgm:spPr/>
      <dgm:t>
        <a:bodyPr/>
        <a:lstStyle/>
        <a:p>
          <a:pPr>
            <a:lnSpc>
              <a:spcPct val="100000"/>
            </a:lnSpc>
          </a:pPr>
          <a:r>
            <a:rPr lang="en-US" dirty="0"/>
            <a:t>Session 4: How do we test? (20 min)</a:t>
          </a:r>
        </a:p>
      </dgm:t>
    </dgm:pt>
    <dgm:pt modelId="{AD6B0050-272E-4D41-9E50-547001E79051}" type="parTrans" cxnId="{9DBF1F98-F8A1-014A-927C-5BC0C7D84977}">
      <dgm:prSet/>
      <dgm:spPr/>
      <dgm:t>
        <a:bodyPr/>
        <a:lstStyle/>
        <a:p>
          <a:endParaRPr lang="en-US"/>
        </a:p>
      </dgm:t>
    </dgm:pt>
    <dgm:pt modelId="{7503F56E-B579-1B4A-A89F-E9FAAC77E177}" type="sibTrans" cxnId="{9DBF1F98-F8A1-014A-927C-5BC0C7D84977}">
      <dgm:prSet/>
      <dgm:spPr/>
      <dgm:t>
        <a:bodyPr/>
        <a:lstStyle/>
        <a:p>
          <a:endParaRPr lang="en-US"/>
        </a:p>
      </dgm:t>
    </dgm:pt>
    <dgm:pt modelId="{6D534E3E-93E8-4E19-8900-2755D0989F32}" type="pres">
      <dgm:prSet presAssocID="{FB2AAD27-169F-460A-B0E3-4CF9F2F176FD}" presName="root" presStyleCnt="0">
        <dgm:presLayoutVars>
          <dgm:dir/>
          <dgm:resizeHandles val="exact"/>
        </dgm:presLayoutVars>
      </dgm:prSet>
      <dgm:spPr/>
    </dgm:pt>
    <dgm:pt modelId="{C62BDD80-A283-462F-BDCE-B2A9F49BA15E}" type="pres">
      <dgm:prSet presAssocID="{39A56406-7B45-4720-A78D-D69834800B43}" presName="compNode" presStyleCnt="0"/>
      <dgm:spPr/>
    </dgm:pt>
    <dgm:pt modelId="{EE39B83F-30AE-481E-95CD-A6EBAF5DD03F}" type="pres">
      <dgm:prSet presAssocID="{39A56406-7B45-4720-A78D-D69834800B43}" presName="bgRect" presStyleLbl="bgShp" presStyleIdx="0" presStyleCnt="7"/>
      <dgm:spPr/>
    </dgm:pt>
    <dgm:pt modelId="{EA13E052-03CF-4DAF-ABEA-6D44731FA984}" type="pres">
      <dgm:prSet presAssocID="{39A56406-7B45-4720-A78D-D69834800B43}"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Open Hand with Plant"/>
        </a:ext>
      </dgm:extLst>
    </dgm:pt>
    <dgm:pt modelId="{AB8C9A2E-4F06-46E5-A5E1-52001D3961AE}" type="pres">
      <dgm:prSet presAssocID="{39A56406-7B45-4720-A78D-D69834800B43}" presName="spaceRect" presStyleCnt="0"/>
      <dgm:spPr/>
    </dgm:pt>
    <dgm:pt modelId="{42FF4E0E-6667-4490-8521-C06ECC6C9F7F}" type="pres">
      <dgm:prSet presAssocID="{39A56406-7B45-4720-A78D-D69834800B43}" presName="parTx" presStyleLbl="revTx" presStyleIdx="0" presStyleCnt="7">
        <dgm:presLayoutVars>
          <dgm:chMax val="0"/>
          <dgm:chPref val="0"/>
        </dgm:presLayoutVars>
      </dgm:prSet>
      <dgm:spPr/>
    </dgm:pt>
    <dgm:pt modelId="{E931D76E-4476-4CFB-A60D-5E15D2D9F391}" type="pres">
      <dgm:prSet presAssocID="{996B3E72-DBB4-46B5-AF3C-F9E9EFFA3CD9}" presName="sibTrans" presStyleCnt="0"/>
      <dgm:spPr/>
    </dgm:pt>
    <dgm:pt modelId="{6D0D8B1F-DCC0-4016-812F-4AEB6AFBDC40}" type="pres">
      <dgm:prSet presAssocID="{205DA3BF-8A74-478D-BEB2-186117A0B261}" presName="compNode" presStyleCnt="0"/>
      <dgm:spPr/>
    </dgm:pt>
    <dgm:pt modelId="{ABAB148E-DBAF-4B6E-A24C-9F5B2F1BDA93}" type="pres">
      <dgm:prSet presAssocID="{205DA3BF-8A74-478D-BEB2-186117A0B261}" presName="bgRect" presStyleLbl="bgShp" presStyleIdx="1" presStyleCnt="7"/>
      <dgm:spPr/>
    </dgm:pt>
    <dgm:pt modelId="{56C92C44-627B-43FF-9741-57E280CC6448}" type="pres">
      <dgm:prSet presAssocID="{205DA3BF-8A74-478D-BEB2-186117A0B261}"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0C5373AB-D67B-490B-A72C-5121F4221B13}" type="pres">
      <dgm:prSet presAssocID="{205DA3BF-8A74-478D-BEB2-186117A0B261}" presName="spaceRect" presStyleCnt="0"/>
      <dgm:spPr/>
    </dgm:pt>
    <dgm:pt modelId="{AB5EADB7-EF8B-444E-A06A-63139424D8CA}" type="pres">
      <dgm:prSet presAssocID="{205DA3BF-8A74-478D-BEB2-186117A0B261}" presName="parTx" presStyleLbl="revTx" presStyleIdx="1" presStyleCnt="7">
        <dgm:presLayoutVars>
          <dgm:chMax val="0"/>
          <dgm:chPref val="0"/>
        </dgm:presLayoutVars>
      </dgm:prSet>
      <dgm:spPr/>
    </dgm:pt>
    <dgm:pt modelId="{92B10D6B-44A5-4189-B632-4A7B1D80C71F}" type="pres">
      <dgm:prSet presAssocID="{BDE1642D-3532-4E2A-82BC-D54BF4B13C0C}" presName="sibTrans" presStyleCnt="0"/>
      <dgm:spPr/>
    </dgm:pt>
    <dgm:pt modelId="{07712E91-EAA5-4C0A-8A40-D3760BCF071D}" type="pres">
      <dgm:prSet presAssocID="{74181711-E7EB-4E39-8F8E-88CEE58017DB}" presName="compNode" presStyleCnt="0"/>
      <dgm:spPr/>
    </dgm:pt>
    <dgm:pt modelId="{E8E1637D-3A60-4449-A989-522824CC0C94}" type="pres">
      <dgm:prSet presAssocID="{74181711-E7EB-4E39-8F8E-88CEE58017DB}" presName="bgRect" presStyleLbl="bgShp" presStyleIdx="2" presStyleCnt="7"/>
      <dgm:spPr/>
    </dgm:pt>
    <dgm:pt modelId="{07138236-7BB2-4DE1-BEED-17E79EE1DA98}" type="pres">
      <dgm:prSet presAssocID="{74181711-E7EB-4E39-8F8E-88CEE58017DB}"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ierarchy"/>
        </a:ext>
      </dgm:extLst>
    </dgm:pt>
    <dgm:pt modelId="{A34CA061-6A17-4804-8FB8-34B58902DE50}" type="pres">
      <dgm:prSet presAssocID="{74181711-E7EB-4E39-8F8E-88CEE58017DB}" presName="spaceRect" presStyleCnt="0"/>
      <dgm:spPr/>
    </dgm:pt>
    <dgm:pt modelId="{0F621660-FCE5-4F63-92AB-2AD97382FF15}" type="pres">
      <dgm:prSet presAssocID="{74181711-E7EB-4E39-8F8E-88CEE58017DB}" presName="parTx" presStyleLbl="revTx" presStyleIdx="2" presStyleCnt="7">
        <dgm:presLayoutVars>
          <dgm:chMax val="0"/>
          <dgm:chPref val="0"/>
        </dgm:presLayoutVars>
      </dgm:prSet>
      <dgm:spPr/>
    </dgm:pt>
    <dgm:pt modelId="{2DDF7CC8-E55E-444D-9A3F-F26713A60C64}" type="pres">
      <dgm:prSet presAssocID="{58FE1880-9201-4FEA-97A2-17BFA1D1A63F}" presName="sibTrans" presStyleCnt="0"/>
      <dgm:spPr/>
    </dgm:pt>
    <dgm:pt modelId="{74E7C21F-2A75-4524-AC8E-6F78B5499CE3}" type="pres">
      <dgm:prSet presAssocID="{D632C7D2-DF09-4A7B-AF20-13D902B9DA5E}" presName="compNode" presStyleCnt="0"/>
      <dgm:spPr/>
    </dgm:pt>
    <dgm:pt modelId="{6A133550-779C-4936-B31E-23AA2F8C7885}" type="pres">
      <dgm:prSet presAssocID="{D632C7D2-DF09-4A7B-AF20-13D902B9DA5E}" presName="bgRect" presStyleLbl="bgShp" presStyleIdx="3" presStyleCnt="7"/>
      <dgm:spPr/>
    </dgm:pt>
    <dgm:pt modelId="{2AF4C114-B82E-41BD-B16C-1C5969B90E00}" type="pres">
      <dgm:prSet presAssocID="{D632C7D2-DF09-4A7B-AF20-13D902B9DA5E}"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ffee"/>
        </a:ext>
      </dgm:extLst>
    </dgm:pt>
    <dgm:pt modelId="{5F385564-2223-414E-9FD8-5E066B8C6135}" type="pres">
      <dgm:prSet presAssocID="{D632C7D2-DF09-4A7B-AF20-13D902B9DA5E}" presName="spaceRect" presStyleCnt="0"/>
      <dgm:spPr/>
    </dgm:pt>
    <dgm:pt modelId="{35680D57-A307-400A-9685-20325BE48DD3}" type="pres">
      <dgm:prSet presAssocID="{D632C7D2-DF09-4A7B-AF20-13D902B9DA5E}" presName="parTx" presStyleLbl="revTx" presStyleIdx="3" presStyleCnt="7">
        <dgm:presLayoutVars>
          <dgm:chMax val="0"/>
          <dgm:chPref val="0"/>
        </dgm:presLayoutVars>
      </dgm:prSet>
      <dgm:spPr/>
    </dgm:pt>
    <dgm:pt modelId="{05A3F685-77A4-4378-8565-C4EC81A68837}" type="pres">
      <dgm:prSet presAssocID="{1317A714-C1D7-429F-9D1D-998A254C0DC7}" presName="sibTrans" presStyleCnt="0"/>
      <dgm:spPr/>
    </dgm:pt>
    <dgm:pt modelId="{4F7B58C7-46E8-1848-900A-8B67FF7090A4}" type="pres">
      <dgm:prSet presAssocID="{ACA6936E-F88A-3F4A-910A-E07408013A90}" presName="compNode" presStyleCnt="0"/>
      <dgm:spPr/>
    </dgm:pt>
    <dgm:pt modelId="{06EC12FF-3004-5344-8D41-D952DF77E0A1}" type="pres">
      <dgm:prSet presAssocID="{ACA6936E-F88A-3F4A-910A-E07408013A90}" presName="bgRect" presStyleLbl="bgShp" presStyleIdx="4" presStyleCnt="7"/>
      <dgm:spPr/>
    </dgm:pt>
    <dgm:pt modelId="{83B6459E-C4A6-6E45-8E68-D97BC92926D2}" type="pres">
      <dgm:prSet presAssocID="{ACA6936E-F88A-3F4A-910A-E07408013A90}" presName="iconRect" presStyleLbl="node1" presStyleIdx="4" presStyleCnt="7"/>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Clipboard Partially Crossed with solid fill"/>
        </a:ext>
      </dgm:extLst>
    </dgm:pt>
    <dgm:pt modelId="{E623B629-5CD4-0F48-A415-8BAFAB31DA87}" type="pres">
      <dgm:prSet presAssocID="{ACA6936E-F88A-3F4A-910A-E07408013A90}" presName="spaceRect" presStyleCnt="0"/>
      <dgm:spPr/>
    </dgm:pt>
    <dgm:pt modelId="{3875BDCE-4857-9148-BDFA-BE5DEB5C1852}" type="pres">
      <dgm:prSet presAssocID="{ACA6936E-F88A-3F4A-910A-E07408013A90}" presName="parTx" presStyleLbl="revTx" presStyleIdx="4" presStyleCnt="7">
        <dgm:presLayoutVars>
          <dgm:chMax val="0"/>
          <dgm:chPref val="0"/>
        </dgm:presLayoutVars>
      </dgm:prSet>
      <dgm:spPr/>
    </dgm:pt>
    <dgm:pt modelId="{E34056D4-F738-4040-BF9C-50A311F9AD88}" type="pres">
      <dgm:prSet presAssocID="{7503F56E-B579-1B4A-A89F-E9FAAC77E177}" presName="sibTrans" presStyleCnt="0"/>
      <dgm:spPr/>
    </dgm:pt>
    <dgm:pt modelId="{CA23BF62-9B80-4F1C-BA56-2B65B83525EA}" type="pres">
      <dgm:prSet presAssocID="{90FC9B0C-30FD-4339-A891-F2D745CEDDBC}" presName="compNode" presStyleCnt="0"/>
      <dgm:spPr/>
    </dgm:pt>
    <dgm:pt modelId="{95D57702-7EAB-4655-8C54-F942FCDF38D0}" type="pres">
      <dgm:prSet presAssocID="{90FC9B0C-30FD-4339-A891-F2D745CEDDBC}" presName="bgRect" presStyleLbl="bgShp" presStyleIdx="5" presStyleCnt="7"/>
      <dgm:spPr/>
    </dgm:pt>
    <dgm:pt modelId="{E577B4D2-DAC8-4DED-BC73-8807C331C906}" type="pres">
      <dgm:prSet presAssocID="{90FC9B0C-30FD-4339-A891-F2D745CEDDBC}"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ck"/>
        </a:ext>
      </dgm:extLst>
    </dgm:pt>
    <dgm:pt modelId="{1099A0A7-AD2B-474B-B80C-FC230BC403FC}" type="pres">
      <dgm:prSet presAssocID="{90FC9B0C-30FD-4339-A891-F2D745CEDDBC}" presName="spaceRect" presStyleCnt="0"/>
      <dgm:spPr/>
    </dgm:pt>
    <dgm:pt modelId="{7E77C75F-FAC7-49FB-873D-80F9B3821CBA}" type="pres">
      <dgm:prSet presAssocID="{90FC9B0C-30FD-4339-A891-F2D745CEDDBC}" presName="parTx" presStyleLbl="revTx" presStyleIdx="5" presStyleCnt="7">
        <dgm:presLayoutVars>
          <dgm:chMax val="0"/>
          <dgm:chPref val="0"/>
        </dgm:presLayoutVars>
      </dgm:prSet>
      <dgm:spPr/>
    </dgm:pt>
    <dgm:pt modelId="{73F68F4C-01B3-461C-B796-04ACF316D79D}" type="pres">
      <dgm:prSet presAssocID="{25BC7AE7-599C-462C-A221-98677EEB7484}" presName="sibTrans" presStyleCnt="0"/>
      <dgm:spPr/>
    </dgm:pt>
    <dgm:pt modelId="{813AAD3C-C243-4805-9F4A-82C2B76E6808}" type="pres">
      <dgm:prSet presAssocID="{C98DA46E-33FC-4D85-A797-CBD4CACE5477}" presName="compNode" presStyleCnt="0"/>
      <dgm:spPr/>
    </dgm:pt>
    <dgm:pt modelId="{2D7637B3-B392-4C60-A1D3-FCE2BC722A89}" type="pres">
      <dgm:prSet presAssocID="{C98DA46E-33FC-4D85-A797-CBD4CACE5477}" presName="bgRect" presStyleLbl="bgShp" presStyleIdx="6" presStyleCnt="7"/>
      <dgm:spPr/>
    </dgm:pt>
    <dgm:pt modelId="{35BBFFA8-15F6-4065-86E1-4BCD7945906C}" type="pres">
      <dgm:prSet presAssocID="{C98DA46E-33FC-4D85-A797-CBD4CACE5477}"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Plant"/>
        </a:ext>
      </dgm:extLst>
    </dgm:pt>
    <dgm:pt modelId="{EBD2059F-783A-492D-A3F8-05E46D2444F5}" type="pres">
      <dgm:prSet presAssocID="{C98DA46E-33FC-4D85-A797-CBD4CACE5477}" presName="spaceRect" presStyleCnt="0"/>
      <dgm:spPr/>
    </dgm:pt>
    <dgm:pt modelId="{9CC8A294-3DE3-4D5F-AD3F-42B5FD020806}" type="pres">
      <dgm:prSet presAssocID="{C98DA46E-33FC-4D85-A797-CBD4CACE5477}" presName="parTx" presStyleLbl="revTx" presStyleIdx="6" presStyleCnt="7">
        <dgm:presLayoutVars>
          <dgm:chMax val="0"/>
          <dgm:chPref val="0"/>
        </dgm:presLayoutVars>
      </dgm:prSet>
      <dgm:spPr/>
    </dgm:pt>
  </dgm:ptLst>
  <dgm:cxnLst>
    <dgm:cxn modelId="{E1E64205-E44F-4611-8258-7E0A452FCC44}" srcId="{FB2AAD27-169F-460A-B0E3-4CF9F2F176FD}" destId="{D632C7D2-DF09-4A7B-AF20-13D902B9DA5E}" srcOrd="3" destOrd="0" parTransId="{15A8ECB5-F943-491A-AD72-B7771297A466}" sibTransId="{1317A714-C1D7-429F-9D1D-998A254C0DC7}"/>
    <dgm:cxn modelId="{83064812-DB42-8445-B828-226E47CB4B8A}" type="presOf" srcId="{90FC9B0C-30FD-4339-A891-F2D745CEDDBC}" destId="{7E77C75F-FAC7-49FB-873D-80F9B3821CBA}" srcOrd="0" destOrd="0" presId="urn:microsoft.com/office/officeart/2018/2/layout/IconVerticalSolidList"/>
    <dgm:cxn modelId="{21F7B215-5BC0-4DEC-B552-5B6D5B34EC1E}" srcId="{FB2AAD27-169F-460A-B0E3-4CF9F2F176FD}" destId="{39A56406-7B45-4720-A78D-D69834800B43}" srcOrd="0" destOrd="0" parTransId="{B1EBC440-5919-4300-8865-AC4DF722C824}" sibTransId="{996B3E72-DBB4-46B5-AF3C-F9E9EFFA3CD9}"/>
    <dgm:cxn modelId="{E9F59225-CC9F-CF42-9900-184C028525C1}" type="presOf" srcId="{205DA3BF-8A74-478D-BEB2-186117A0B261}" destId="{AB5EADB7-EF8B-444E-A06A-63139424D8CA}" srcOrd="0" destOrd="0" presId="urn:microsoft.com/office/officeart/2018/2/layout/IconVerticalSolidList"/>
    <dgm:cxn modelId="{3A049530-6F4D-43D4-9E03-2DE36A0A09F2}" type="presOf" srcId="{FB2AAD27-169F-460A-B0E3-4CF9F2F176FD}" destId="{6D534E3E-93E8-4E19-8900-2755D0989F32}" srcOrd="0" destOrd="0" presId="urn:microsoft.com/office/officeart/2018/2/layout/IconVerticalSolidList"/>
    <dgm:cxn modelId="{8F030C43-B6E9-9546-9B93-727CCD8693ED}" type="presOf" srcId="{D632C7D2-DF09-4A7B-AF20-13D902B9DA5E}" destId="{35680D57-A307-400A-9685-20325BE48DD3}" srcOrd="0" destOrd="0" presId="urn:microsoft.com/office/officeart/2018/2/layout/IconVerticalSolidList"/>
    <dgm:cxn modelId="{1E885F5B-EB31-9D4D-8A14-64532CED1BF2}" type="presOf" srcId="{C98DA46E-33FC-4D85-A797-CBD4CACE5477}" destId="{9CC8A294-3DE3-4D5F-AD3F-42B5FD020806}" srcOrd="0" destOrd="0" presId="urn:microsoft.com/office/officeart/2018/2/layout/IconVerticalSolidList"/>
    <dgm:cxn modelId="{0F1A8B5D-782F-1944-AD0C-FFBC61C04289}" type="presOf" srcId="{74181711-E7EB-4E39-8F8E-88CEE58017DB}" destId="{0F621660-FCE5-4F63-92AB-2AD97382FF15}" srcOrd="0" destOrd="0" presId="urn:microsoft.com/office/officeart/2018/2/layout/IconVerticalSolidList"/>
    <dgm:cxn modelId="{94638A63-A454-4019-9B9C-1E2DA1185552}" srcId="{FB2AAD27-169F-460A-B0E3-4CF9F2F176FD}" destId="{74181711-E7EB-4E39-8F8E-88CEE58017DB}" srcOrd="2" destOrd="0" parTransId="{62460778-5B70-4933-8757-7FCBF35A34EB}" sibTransId="{58FE1880-9201-4FEA-97A2-17BFA1D1A63F}"/>
    <dgm:cxn modelId="{AE923D6C-19C5-4440-829C-5923BC80E775}" type="presOf" srcId="{39A56406-7B45-4720-A78D-D69834800B43}" destId="{42FF4E0E-6667-4490-8521-C06ECC6C9F7F}" srcOrd="0" destOrd="0" presId="urn:microsoft.com/office/officeart/2018/2/layout/IconVerticalSolidList"/>
    <dgm:cxn modelId="{5223F27E-6CA8-9C43-8131-3AD4C66CF746}" type="presOf" srcId="{ACA6936E-F88A-3F4A-910A-E07408013A90}" destId="{3875BDCE-4857-9148-BDFA-BE5DEB5C1852}" srcOrd="0" destOrd="0" presId="urn:microsoft.com/office/officeart/2018/2/layout/IconVerticalSolidList"/>
    <dgm:cxn modelId="{5189ED91-82F1-42DC-8AAA-3FE89883143F}" srcId="{FB2AAD27-169F-460A-B0E3-4CF9F2F176FD}" destId="{205DA3BF-8A74-478D-BEB2-186117A0B261}" srcOrd="1" destOrd="0" parTransId="{05968070-8CE0-4B4E-8C66-48872ABFC4AF}" sibTransId="{BDE1642D-3532-4E2A-82BC-D54BF4B13C0C}"/>
    <dgm:cxn modelId="{9DBF1F98-F8A1-014A-927C-5BC0C7D84977}" srcId="{FB2AAD27-169F-460A-B0E3-4CF9F2F176FD}" destId="{ACA6936E-F88A-3F4A-910A-E07408013A90}" srcOrd="4" destOrd="0" parTransId="{AD6B0050-272E-4D41-9E50-547001E79051}" sibTransId="{7503F56E-B579-1B4A-A89F-E9FAAC77E177}"/>
    <dgm:cxn modelId="{C7C0CEB9-3299-463F-9F7F-05EB1EDA622C}" srcId="{FB2AAD27-169F-460A-B0E3-4CF9F2F176FD}" destId="{C98DA46E-33FC-4D85-A797-CBD4CACE5477}" srcOrd="6" destOrd="0" parTransId="{539124F4-3A3D-4204-9A39-791E87379E9B}" sibTransId="{B78F7C93-57F1-4EB0-8E74-CE279B2751D1}"/>
    <dgm:cxn modelId="{4790C9C0-DC1A-4F09-81B2-AB6F873E6091}" srcId="{FB2AAD27-169F-460A-B0E3-4CF9F2F176FD}" destId="{90FC9B0C-30FD-4339-A891-F2D745CEDDBC}" srcOrd="5" destOrd="0" parTransId="{1F273377-EEAD-4E8C-A89A-39524FFA2B6B}" sibTransId="{25BC7AE7-599C-462C-A221-98677EEB7484}"/>
    <dgm:cxn modelId="{CA150448-1B9F-5C48-AE31-8196F214D8C7}" type="presParOf" srcId="{6D534E3E-93E8-4E19-8900-2755D0989F32}" destId="{C62BDD80-A283-462F-BDCE-B2A9F49BA15E}" srcOrd="0" destOrd="0" presId="urn:microsoft.com/office/officeart/2018/2/layout/IconVerticalSolidList"/>
    <dgm:cxn modelId="{B391308C-B8EB-9F40-8037-5B63324A6A7C}" type="presParOf" srcId="{C62BDD80-A283-462F-BDCE-B2A9F49BA15E}" destId="{EE39B83F-30AE-481E-95CD-A6EBAF5DD03F}" srcOrd="0" destOrd="0" presId="urn:microsoft.com/office/officeart/2018/2/layout/IconVerticalSolidList"/>
    <dgm:cxn modelId="{956D6AFB-1B63-204D-95D8-A52B9D695D45}" type="presParOf" srcId="{C62BDD80-A283-462F-BDCE-B2A9F49BA15E}" destId="{EA13E052-03CF-4DAF-ABEA-6D44731FA984}" srcOrd="1" destOrd="0" presId="urn:microsoft.com/office/officeart/2018/2/layout/IconVerticalSolidList"/>
    <dgm:cxn modelId="{259B5023-C45D-C341-BEEC-6E55716714D0}" type="presParOf" srcId="{C62BDD80-A283-462F-BDCE-B2A9F49BA15E}" destId="{AB8C9A2E-4F06-46E5-A5E1-52001D3961AE}" srcOrd="2" destOrd="0" presId="urn:microsoft.com/office/officeart/2018/2/layout/IconVerticalSolidList"/>
    <dgm:cxn modelId="{8DCE3DE9-2486-4F46-AE31-5595DA2815C2}" type="presParOf" srcId="{C62BDD80-A283-462F-BDCE-B2A9F49BA15E}" destId="{42FF4E0E-6667-4490-8521-C06ECC6C9F7F}" srcOrd="3" destOrd="0" presId="urn:microsoft.com/office/officeart/2018/2/layout/IconVerticalSolidList"/>
    <dgm:cxn modelId="{23CF29E7-F79B-6442-B8E6-182ABCA4D3EE}" type="presParOf" srcId="{6D534E3E-93E8-4E19-8900-2755D0989F32}" destId="{E931D76E-4476-4CFB-A60D-5E15D2D9F391}" srcOrd="1" destOrd="0" presId="urn:microsoft.com/office/officeart/2018/2/layout/IconVerticalSolidList"/>
    <dgm:cxn modelId="{314D98E1-2D9A-4C4F-8BFB-3B5F4502B5C9}" type="presParOf" srcId="{6D534E3E-93E8-4E19-8900-2755D0989F32}" destId="{6D0D8B1F-DCC0-4016-812F-4AEB6AFBDC40}" srcOrd="2" destOrd="0" presId="urn:microsoft.com/office/officeart/2018/2/layout/IconVerticalSolidList"/>
    <dgm:cxn modelId="{EC0F90E4-7F01-8442-8F3A-A8038EDB8C6B}" type="presParOf" srcId="{6D0D8B1F-DCC0-4016-812F-4AEB6AFBDC40}" destId="{ABAB148E-DBAF-4B6E-A24C-9F5B2F1BDA93}" srcOrd="0" destOrd="0" presId="urn:microsoft.com/office/officeart/2018/2/layout/IconVerticalSolidList"/>
    <dgm:cxn modelId="{35DDA4E9-8B80-B444-8D20-0FAC2F71910F}" type="presParOf" srcId="{6D0D8B1F-DCC0-4016-812F-4AEB6AFBDC40}" destId="{56C92C44-627B-43FF-9741-57E280CC6448}" srcOrd="1" destOrd="0" presId="urn:microsoft.com/office/officeart/2018/2/layout/IconVerticalSolidList"/>
    <dgm:cxn modelId="{9B3189D3-F59E-C549-86C4-FA1D4A64377F}" type="presParOf" srcId="{6D0D8B1F-DCC0-4016-812F-4AEB6AFBDC40}" destId="{0C5373AB-D67B-490B-A72C-5121F4221B13}" srcOrd="2" destOrd="0" presId="urn:microsoft.com/office/officeart/2018/2/layout/IconVerticalSolidList"/>
    <dgm:cxn modelId="{BF07B01F-5055-D243-8950-0149C389C3B6}" type="presParOf" srcId="{6D0D8B1F-DCC0-4016-812F-4AEB6AFBDC40}" destId="{AB5EADB7-EF8B-444E-A06A-63139424D8CA}" srcOrd="3" destOrd="0" presId="urn:microsoft.com/office/officeart/2018/2/layout/IconVerticalSolidList"/>
    <dgm:cxn modelId="{92A12104-67B0-D94E-AA97-0BFF815D9DC0}" type="presParOf" srcId="{6D534E3E-93E8-4E19-8900-2755D0989F32}" destId="{92B10D6B-44A5-4189-B632-4A7B1D80C71F}" srcOrd="3" destOrd="0" presId="urn:microsoft.com/office/officeart/2018/2/layout/IconVerticalSolidList"/>
    <dgm:cxn modelId="{506DF95F-545E-6C4B-A320-458AB0736036}" type="presParOf" srcId="{6D534E3E-93E8-4E19-8900-2755D0989F32}" destId="{07712E91-EAA5-4C0A-8A40-D3760BCF071D}" srcOrd="4" destOrd="0" presId="urn:microsoft.com/office/officeart/2018/2/layout/IconVerticalSolidList"/>
    <dgm:cxn modelId="{A680A9F9-0220-FF46-9E3D-D6D3CDCB4862}" type="presParOf" srcId="{07712E91-EAA5-4C0A-8A40-D3760BCF071D}" destId="{E8E1637D-3A60-4449-A989-522824CC0C94}" srcOrd="0" destOrd="0" presId="urn:microsoft.com/office/officeart/2018/2/layout/IconVerticalSolidList"/>
    <dgm:cxn modelId="{BBB8B395-5817-EF4E-A4D1-D31A01C6F37F}" type="presParOf" srcId="{07712E91-EAA5-4C0A-8A40-D3760BCF071D}" destId="{07138236-7BB2-4DE1-BEED-17E79EE1DA98}" srcOrd="1" destOrd="0" presId="urn:microsoft.com/office/officeart/2018/2/layout/IconVerticalSolidList"/>
    <dgm:cxn modelId="{68089B08-3260-9745-B3D3-B1E0609FB7E9}" type="presParOf" srcId="{07712E91-EAA5-4C0A-8A40-D3760BCF071D}" destId="{A34CA061-6A17-4804-8FB8-34B58902DE50}" srcOrd="2" destOrd="0" presId="urn:microsoft.com/office/officeart/2018/2/layout/IconVerticalSolidList"/>
    <dgm:cxn modelId="{AE108F2C-3B8B-5847-9CB9-B4BAC1363124}" type="presParOf" srcId="{07712E91-EAA5-4C0A-8A40-D3760BCF071D}" destId="{0F621660-FCE5-4F63-92AB-2AD97382FF15}" srcOrd="3" destOrd="0" presId="urn:microsoft.com/office/officeart/2018/2/layout/IconVerticalSolidList"/>
    <dgm:cxn modelId="{B962F370-B763-D446-8E36-E4D911AE88E4}" type="presParOf" srcId="{6D534E3E-93E8-4E19-8900-2755D0989F32}" destId="{2DDF7CC8-E55E-444D-9A3F-F26713A60C64}" srcOrd="5" destOrd="0" presId="urn:microsoft.com/office/officeart/2018/2/layout/IconVerticalSolidList"/>
    <dgm:cxn modelId="{06C8F5E6-62DA-AB43-BBA0-56601C20BDA3}" type="presParOf" srcId="{6D534E3E-93E8-4E19-8900-2755D0989F32}" destId="{74E7C21F-2A75-4524-AC8E-6F78B5499CE3}" srcOrd="6" destOrd="0" presId="urn:microsoft.com/office/officeart/2018/2/layout/IconVerticalSolidList"/>
    <dgm:cxn modelId="{06CEFA6C-5FE9-4D4D-B40A-D891C0261A5B}" type="presParOf" srcId="{74E7C21F-2A75-4524-AC8E-6F78B5499CE3}" destId="{6A133550-779C-4936-B31E-23AA2F8C7885}" srcOrd="0" destOrd="0" presId="urn:microsoft.com/office/officeart/2018/2/layout/IconVerticalSolidList"/>
    <dgm:cxn modelId="{B8DD40CB-7CF9-2948-BAF3-0F7634DD97A3}" type="presParOf" srcId="{74E7C21F-2A75-4524-AC8E-6F78B5499CE3}" destId="{2AF4C114-B82E-41BD-B16C-1C5969B90E00}" srcOrd="1" destOrd="0" presId="urn:microsoft.com/office/officeart/2018/2/layout/IconVerticalSolidList"/>
    <dgm:cxn modelId="{36475AA4-DC37-9A48-913A-68D2DC866922}" type="presParOf" srcId="{74E7C21F-2A75-4524-AC8E-6F78B5499CE3}" destId="{5F385564-2223-414E-9FD8-5E066B8C6135}" srcOrd="2" destOrd="0" presId="urn:microsoft.com/office/officeart/2018/2/layout/IconVerticalSolidList"/>
    <dgm:cxn modelId="{98C09F90-8AA5-3442-8260-D7B77BAC3B87}" type="presParOf" srcId="{74E7C21F-2A75-4524-AC8E-6F78B5499CE3}" destId="{35680D57-A307-400A-9685-20325BE48DD3}" srcOrd="3" destOrd="0" presId="urn:microsoft.com/office/officeart/2018/2/layout/IconVerticalSolidList"/>
    <dgm:cxn modelId="{951EFCD8-87A0-AA4D-BA32-631E6FA70052}" type="presParOf" srcId="{6D534E3E-93E8-4E19-8900-2755D0989F32}" destId="{05A3F685-77A4-4378-8565-C4EC81A68837}" srcOrd="7" destOrd="0" presId="urn:microsoft.com/office/officeart/2018/2/layout/IconVerticalSolidList"/>
    <dgm:cxn modelId="{A9BA4B2D-5F22-4C4A-96CA-66F7292ABD27}" type="presParOf" srcId="{6D534E3E-93E8-4E19-8900-2755D0989F32}" destId="{4F7B58C7-46E8-1848-900A-8B67FF7090A4}" srcOrd="8" destOrd="0" presId="urn:microsoft.com/office/officeart/2018/2/layout/IconVerticalSolidList"/>
    <dgm:cxn modelId="{7CEA636C-3FDC-8E41-98CC-FEBE357F88C1}" type="presParOf" srcId="{4F7B58C7-46E8-1848-900A-8B67FF7090A4}" destId="{06EC12FF-3004-5344-8D41-D952DF77E0A1}" srcOrd="0" destOrd="0" presId="urn:microsoft.com/office/officeart/2018/2/layout/IconVerticalSolidList"/>
    <dgm:cxn modelId="{3803AD0F-ED69-CD49-A2E7-276ADDDC7B12}" type="presParOf" srcId="{4F7B58C7-46E8-1848-900A-8B67FF7090A4}" destId="{83B6459E-C4A6-6E45-8E68-D97BC92926D2}" srcOrd="1" destOrd="0" presId="urn:microsoft.com/office/officeart/2018/2/layout/IconVerticalSolidList"/>
    <dgm:cxn modelId="{F97CD343-9BA5-6247-B621-3595B52F7ECC}" type="presParOf" srcId="{4F7B58C7-46E8-1848-900A-8B67FF7090A4}" destId="{E623B629-5CD4-0F48-A415-8BAFAB31DA87}" srcOrd="2" destOrd="0" presId="urn:microsoft.com/office/officeart/2018/2/layout/IconVerticalSolidList"/>
    <dgm:cxn modelId="{443EE101-8EBD-ED49-9B15-C4CCB5A2E643}" type="presParOf" srcId="{4F7B58C7-46E8-1848-900A-8B67FF7090A4}" destId="{3875BDCE-4857-9148-BDFA-BE5DEB5C1852}" srcOrd="3" destOrd="0" presId="urn:microsoft.com/office/officeart/2018/2/layout/IconVerticalSolidList"/>
    <dgm:cxn modelId="{C825134C-A4D2-FB4D-BDCA-33AD0957E085}" type="presParOf" srcId="{6D534E3E-93E8-4E19-8900-2755D0989F32}" destId="{E34056D4-F738-4040-BF9C-50A311F9AD88}" srcOrd="9" destOrd="0" presId="urn:microsoft.com/office/officeart/2018/2/layout/IconVerticalSolidList"/>
    <dgm:cxn modelId="{FB49B8BD-F99A-514F-BA52-766E65089493}" type="presParOf" srcId="{6D534E3E-93E8-4E19-8900-2755D0989F32}" destId="{CA23BF62-9B80-4F1C-BA56-2B65B83525EA}" srcOrd="10" destOrd="0" presId="urn:microsoft.com/office/officeart/2018/2/layout/IconVerticalSolidList"/>
    <dgm:cxn modelId="{D1AF7DBD-6144-E243-8D89-559B75524A05}" type="presParOf" srcId="{CA23BF62-9B80-4F1C-BA56-2B65B83525EA}" destId="{95D57702-7EAB-4655-8C54-F942FCDF38D0}" srcOrd="0" destOrd="0" presId="urn:microsoft.com/office/officeart/2018/2/layout/IconVerticalSolidList"/>
    <dgm:cxn modelId="{AA9ECB5D-0E0B-7741-8CDC-5D95D1971A6E}" type="presParOf" srcId="{CA23BF62-9B80-4F1C-BA56-2B65B83525EA}" destId="{E577B4D2-DAC8-4DED-BC73-8807C331C906}" srcOrd="1" destOrd="0" presId="urn:microsoft.com/office/officeart/2018/2/layout/IconVerticalSolidList"/>
    <dgm:cxn modelId="{A5DD2110-AF77-5643-BB7C-85F66A17197B}" type="presParOf" srcId="{CA23BF62-9B80-4F1C-BA56-2B65B83525EA}" destId="{1099A0A7-AD2B-474B-B80C-FC230BC403FC}" srcOrd="2" destOrd="0" presId="urn:microsoft.com/office/officeart/2018/2/layout/IconVerticalSolidList"/>
    <dgm:cxn modelId="{C0D46CD5-406F-2146-9CFD-C7D7CC5FE866}" type="presParOf" srcId="{CA23BF62-9B80-4F1C-BA56-2B65B83525EA}" destId="{7E77C75F-FAC7-49FB-873D-80F9B3821CBA}" srcOrd="3" destOrd="0" presId="urn:microsoft.com/office/officeart/2018/2/layout/IconVerticalSolidList"/>
    <dgm:cxn modelId="{D7F2F13E-7278-2247-A295-B41553ED75D7}" type="presParOf" srcId="{6D534E3E-93E8-4E19-8900-2755D0989F32}" destId="{73F68F4C-01B3-461C-B796-04ACF316D79D}" srcOrd="11" destOrd="0" presId="urn:microsoft.com/office/officeart/2018/2/layout/IconVerticalSolidList"/>
    <dgm:cxn modelId="{3D09A58D-C2A0-434D-A9A2-A11ED539BB4F}" type="presParOf" srcId="{6D534E3E-93E8-4E19-8900-2755D0989F32}" destId="{813AAD3C-C243-4805-9F4A-82C2B76E6808}" srcOrd="12" destOrd="0" presId="urn:microsoft.com/office/officeart/2018/2/layout/IconVerticalSolidList"/>
    <dgm:cxn modelId="{5EBA3F5B-C153-FB40-A2FC-9C7E41D686CB}" type="presParOf" srcId="{813AAD3C-C243-4805-9F4A-82C2B76E6808}" destId="{2D7637B3-B392-4C60-A1D3-FCE2BC722A89}" srcOrd="0" destOrd="0" presId="urn:microsoft.com/office/officeart/2018/2/layout/IconVerticalSolidList"/>
    <dgm:cxn modelId="{3A88A54C-BB16-AF4B-A911-A12AB5FC9BBD}" type="presParOf" srcId="{813AAD3C-C243-4805-9F4A-82C2B76E6808}" destId="{35BBFFA8-15F6-4065-86E1-4BCD7945906C}" srcOrd="1" destOrd="0" presId="urn:microsoft.com/office/officeart/2018/2/layout/IconVerticalSolidList"/>
    <dgm:cxn modelId="{C1CFC3FA-B3C3-CF4B-A3A5-A00ABFC2CF12}" type="presParOf" srcId="{813AAD3C-C243-4805-9F4A-82C2B76E6808}" destId="{EBD2059F-783A-492D-A3F8-05E46D2444F5}" srcOrd="2" destOrd="0" presId="urn:microsoft.com/office/officeart/2018/2/layout/IconVerticalSolidList"/>
    <dgm:cxn modelId="{91A4C560-5118-F749-9190-04D608370D29}" type="presParOf" srcId="{813AAD3C-C243-4805-9F4A-82C2B76E6808}" destId="{9CC8A294-3DE3-4D5F-AD3F-42B5FD02080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24BE73-A962-473F-9499-DBB56B547AB5}"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8ED39555-C393-4DBC-A18F-351C4AEEF6F5}">
      <dgm:prSet/>
      <dgm:spPr/>
      <dgm:t>
        <a:bodyPr/>
        <a:lstStyle/>
        <a:p>
          <a:r>
            <a:rPr lang="en-US"/>
            <a:t>Yield heterosis: 15-30% advantage over open-pollinated</a:t>
          </a:r>
        </a:p>
      </dgm:t>
    </dgm:pt>
    <dgm:pt modelId="{1CF90779-7B87-4D6F-B529-FBAFA5036C11}" type="parTrans" cxnId="{87C4356E-6244-48C1-A8B8-8A2F612A902D}">
      <dgm:prSet/>
      <dgm:spPr/>
      <dgm:t>
        <a:bodyPr/>
        <a:lstStyle/>
        <a:p>
          <a:endParaRPr lang="en-US"/>
        </a:p>
      </dgm:t>
    </dgm:pt>
    <dgm:pt modelId="{0EA532A2-93F6-4BD6-9B23-1CC038E8F81E}" type="sibTrans" cxnId="{87C4356E-6244-48C1-A8B8-8A2F612A902D}">
      <dgm:prSet/>
      <dgm:spPr/>
      <dgm:t>
        <a:bodyPr/>
        <a:lstStyle/>
        <a:p>
          <a:endParaRPr lang="en-US"/>
        </a:p>
      </dgm:t>
    </dgm:pt>
    <dgm:pt modelId="{43EF66D3-CFD2-47D1-A6BE-B0AF7979DE5C}">
      <dgm:prSet/>
      <dgm:spPr/>
      <dgm:t>
        <a:bodyPr/>
        <a:lstStyle/>
        <a:p>
          <a:r>
            <a:rPr lang="en-US"/>
            <a:t>Uniformity: Easier management, predictable harvest</a:t>
          </a:r>
        </a:p>
      </dgm:t>
    </dgm:pt>
    <dgm:pt modelId="{204AFF3C-0E96-4208-9EA8-83ADDFD49B6F}" type="parTrans" cxnId="{A89BF00F-FCC2-4A81-AAEE-AEC5DFE2C8D3}">
      <dgm:prSet/>
      <dgm:spPr/>
      <dgm:t>
        <a:bodyPr/>
        <a:lstStyle/>
        <a:p>
          <a:endParaRPr lang="en-US"/>
        </a:p>
      </dgm:t>
    </dgm:pt>
    <dgm:pt modelId="{D4A68FE6-BBE2-47D4-B2FE-25A984B6BFD4}" type="sibTrans" cxnId="{A89BF00F-FCC2-4A81-AAEE-AEC5DFE2C8D3}">
      <dgm:prSet/>
      <dgm:spPr/>
      <dgm:t>
        <a:bodyPr/>
        <a:lstStyle/>
        <a:p>
          <a:endParaRPr lang="en-US"/>
        </a:p>
      </dgm:t>
    </dgm:pt>
    <dgm:pt modelId="{072D931D-EB17-4324-9FE0-E0EF018CB353}">
      <dgm:prSet/>
      <dgm:spPr/>
      <dgm:t>
        <a:bodyPr/>
        <a:lstStyle/>
        <a:p>
          <a:r>
            <a:rPr lang="en-US"/>
            <a:t>Stress resilience: Better performance in variable conditions</a:t>
          </a:r>
        </a:p>
      </dgm:t>
    </dgm:pt>
    <dgm:pt modelId="{8F899FC5-059A-4FF8-BA5A-1A28FD563BFA}" type="parTrans" cxnId="{874A8C1A-F0A1-4F84-A631-4DEEC78CBB38}">
      <dgm:prSet/>
      <dgm:spPr/>
      <dgm:t>
        <a:bodyPr/>
        <a:lstStyle/>
        <a:p>
          <a:endParaRPr lang="en-US"/>
        </a:p>
      </dgm:t>
    </dgm:pt>
    <dgm:pt modelId="{9184C8CF-0B34-4DC8-9E19-2E66649386B3}" type="sibTrans" cxnId="{874A8C1A-F0A1-4F84-A631-4DEEC78CBB38}">
      <dgm:prSet/>
      <dgm:spPr/>
      <dgm:t>
        <a:bodyPr/>
        <a:lstStyle/>
        <a:p>
          <a:endParaRPr lang="en-US"/>
        </a:p>
      </dgm:t>
    </dgm:pt>
    <dgm:pt modelId="{A2D355FE-5868-4B65-AA54-D1F5987B4385}">
      <dgm:prSet/>
      <dgm:spPr/>
      <dgm:t>
        <a:bodyPr/>
        <a:lstStyle/>
        <a:p>
          <a:r>
            <a:rPr lang="en-US"/>
            <a:t>Quality traits: Grain quality, silage digestibility</a:t>
          </a:r>
        </a:p>
      </dgm:t>
    </dgm:pt>
    <dgm:pt modelId="{080C2ED2-AA6D-4A09-A758-0A777285D3B8}" type="parTrans" cxnId="{E5706E97-F70A-4E0B-B005-EAD10D430541}">
      <dgm:prSet/>
      <dgm:spPr/>
      <dgm:t>
        <a:bodyPr/>
        <a:lstStyle/>
        <a:p>
          <a:endParaRPr lang="en-US"/>
        </a:p>
      </dgm:t>
    </dgm:pt>
    <dgm:pt modelId="{3CC856C2-7E5E-4D10-A8A2-57925D1DB295}" type="sibTrans" cxnId="{E5706E97-F70A-4E0B-B005-EAD10D430541}">
      <dgm:prSet/>
      <dgm:spPr/>
      <dgm:t>
        <a:bodyPr/>
        <a:lstStyle/>
        <a:p>
          <a:endParaRPr lang="en-US"/>
        </a:p>
      </dgm:t>
    </dgm:pt>
    <dgm:pt modelId="{321F9F03-5135-4C6A-9EE5-4ED2058B9C9B}">
      <dgm:prSet/>
      <dgm:spPr/>
      <dgm:t>
        <a:bodyPr/>
        <a:lstStyle/>
        <a:p>
          <a:r>
            <a:rPr lang="en-US"/>
            <a:t>Trade-off: Cannot save seed (F2 loses vigor and uniformity)</a:t>
          </a:r>
        </a:p>
      </dgm:t>
    </dgm:pt>
    <dgm:pt modelId="{0A8D30C5-4B33-41D6-B1E4-4827CB57DE75}" type="parTrans" cxnId="{EB1C9E8E-597A-49E3-A37A-61FFC4D5B2B2}">
      <dgm:prSet/>
      <dgm:spPr/>
      <dgm:t>
        <a:bodyPr/>
        <a:lstStyle/>
        <a:p>
          <a:endParaRPr lang="en-US"/>
        </a:p>
      </dgm:t>
    </dgm:pt>
    <dgm:pt modelId="{058047B9-A0D7-49EB-91AE-C6D0E351308A}" type="sibTrans" cxnId="{EB1C9E8E-597A-49E3-A37A-61FFC4D5B2B2}">
      <dgm:prSet/>
      <dgm:spPr/>
      <dgm:t>
        <a:bodyPr/>
        <a:lstStyle/>
        <a:p>
          <a:endParaRPr lang="en-US"/>
        </a:p>
      </dgm:t>
    </dgm:pt>
    <dgm:pt modelId="{6FEBA301-9560-C748-9281-68FC3B31713A}" type="pres">
      <dgm:prSet presAssocID="{B024BE73-A962-473F-9499-DBB56B547AB5}" presName="diagram" presStyleCnt="0">
        <dgm:presLayoutVars>
          <dgm:dir/>
          <dgm:resizeHandles val="exact"/>
        </dgm:presLayoutVars>
      </dgm:prSet>
      <dgm:spPr/>
    </dgm:pt>
    <dgm:pt modelId="{08272DFE-A091-044E-B5BD-6C6951D47D03}" type="pres">
      <dgm:prSet presAssocID="{8ED39555-C393-4DBC-A18F-351C4AEEF6F5}" presName="node" presStyleLbl="node1" presStyleIdx="0" presStyleCnt="5">
        <dgm:presLayoutVars>
          <dgm:bulletEnabled val="1"/>
        </dgm:presLayoutVars>
      </dgm:prSet>
      <dgm:spPr/>
    </dgm:pt>
    <dgm:pt modelId="{718441FD-89C4-0045-88BD-1B6F229E7F42}" type="pres">
      <dgm:prSet presAssocID="{0EA532A2-93F6-4BD6-9B23-1CC038E8F81E}" presName="sibTrans" presStyleCnt="0"/>
      <dgm:spPr/>
    </dgm:pt>
    <dgm:pt modelId="{965F5066-C224-A34E-AD90-BBA739E9793E}" type="pres">
      <dgm:prSet presAssocID="{43EF66D3-CFD2-47D1-A6BE-B0AF7979DE5C}" presName="node" presStyleLbl="node1" presStyleIdx="1" presStyleCnt="5">
        <dgm:presLayoutVars>
          <dgm:bulletEnabled val="1"/>
        </dgm:presLayoutVars>
      </dgm:prSet>
      <dgm:spPr/>
    </dgm:pt>
    <dgm:pt modelId="{A424C8E1-5C32-5940-9615-F64A800EC304}" type="pres">
      <dgm:prSet presAssocID="{D4A68FE6-BBE2-47D4-B2FE-25A984B6BFD4}" presName="sibTrans" presStyleCnt="0"/>
      <dgm:spPr/>
    </dgm:pt>
    <dgm:pt modelId="{B4B11F11-0120-6047-9DE8-736231984E22}" type="pres">
      <dgm:prSet presAssocID="{072D931D-EB17-4324-9FE0-E0EF018CB353}" presName="node" presStyleLbl="node1" presStyleIdx="2" presStyleCnt="5">
        <dgm:presLayoutVars>
          <dgm:bulletEnabled val="1"/>
        </dgm:presLayoutVars>
      </dgm:prSet>
      <dgm:spPr/>
    </dgm:pt>
    <dgm:pt modelId="{C068C179-0020-614E-AFD1-266BE4D16B8F}" type="pres">
      <dgm:prSet presAssocID="{9184C8CF-0B34-4DC8-9E19-2E66649386B3}" presName="sibTrans" presStyleCnt="0"/>
      <dgm:spPr/>
    </dgm:pt>
    <dgm:pt modelId="{A0581145-9A82-6D47-B1DE-FA918A24E23A}" type="pres">
      <dgm:prSet presAssocID="{A2D355FE-5868-4B65-AA54-D1F5987B4385}" presName="node" presStyleLbl="node1" presStyleIdx="3" presStyleCnt="5">
        <dgm:presLayoutVars>
          <dgm:bulletEnabled val="1"/>
        </dgm:presLayoutVars>
      </dgm:prSet>
      <dgm:spPr/>
    </dgm:pt>
    <dgm:pt modelId="{45A0B221-DFE0-1545-8EC3-4B1040927471}" type="pres">
      <dgm:prSet presAssocID="{3CC856C2-7E5E-4D10-A8A2-57925D1DB295}" presName="sibTrans" presStyleCnt="0"/>
      <dgm:spPr/>
    </dgm:pt>
    <dgm:pt modelId="{10FD38F1-2B95-DD42-AD39-F8F41EA69558}" type="pres">
      <dgm:prSet presAssocID="{321F9F03-5135-4C6A-9EE5-4ED2058B9C9B}" presName="node" presStyleLbl="node1" presStyleIdx="4" presStyleCnt="5">
        <dgm:presLayoutVars>
          <dgm:bulletEnabled val="1"/>
        </dgm:presLayoutVars>
      </dgm:prSet>
      <dgm:spPr/>
    </dgm:pt>
  </dgm:ptLst>
  <dgm:cxnLst>
    <dgm:cxn modelId="{A89BF00F-FCC2-4A81-AAEE-AEC5DFE2C8D3}" srcId="{B024BE73-A962-473F-9499-DBB56B547AB5}" destId="{43EF66D3-CFD2-47D1-A6BE-B0AF7979DE5C}" srcOrd="1" destOrd="0" parTransId="{204AFF3C-0E96-4208-9EA8-83ADDFD49B6F}" sibTransId="{D4A68FE6-BBE2-47D4-B2FE-25A984B6BFD4}"/>
    <dgm:cxn modelId="{874A8C1A-F0A1-4F84-A631-4DEEC78CBB38}" srcId="{B024BE73-A962-473F-9499-DBB56B547AB5}" destId="{072D931D-EB17-4324-9FE0-E0EF018CB353}" srcOrd="2" destOrd="0" parTransId="{8F899FC5-059A-4FF8-BA5A-1A28FD563BFA}" sibTransId="{9184C8CF-0B34-4DC8-9E19-2E66649386B3}"/>
    <dgm:cxn modelId="{39CDAE38-0F7C-FE40-B9ED-A334469FE158}" type="presOf" srcId="{072D931D-EB17-4324-9FE0-E0EF018CB353}" destId="{B4B11F11-0120-6047-9DE8-736231984E22}" srcOrd="0" destOrd="0" presId="urn:microsoft.com/office/officeart/2005/8/layout/default"/>
    <dgm:cxn modelId="{87C4356E-6244-48C1-A8B8-8A2F612A902D}" srcId="{B024BE73-A962-473F-9499-DBB56B547AB5}" destId="{8ED39555-C393-4DBC-A18F-351C4AEEF6F5}" srcOrd="0" destOrd="0" parTransId="{1CF90779-7B87-4D6F-B529-FBAFA5036C11}" sibTransId="{0EA532A2-93F6-4BD6-9B23-1CC038E8F81E}"/>
    <dgm:cxn modelId="{DE251772-D8B0-AE41-A9F4-825EF344C2B9}" type="presOf" srcId="{43EF66D3-CFD2-47D1-A6BE-B0AF7979DE5C}" destId="{965F5066-C224-A34E-AD90-BBA739E9793E}" srcOrd="0" destOrd="0" presId="urn:microsoft.com/office/officeart/2005/8/layout/default"/>
    <dgm:cxn modelId="{EB1C9E8E-597A-49E3-A37A-61FFC4D5B2B2}" srcId="{B024BE73-A962-473F-9499-DBB56B547AB5}" destId="{321F9F03-5135-4C6A-9EE5-4ED2058B9C9B}" srcOrd="4" destOrd="0" parTransId="{0A8D30C5-4B33-41D6-B1E4-4827CB57DE75}" sibTransId="{058047B9-A0D7-49EB-91AE-C6D0E351308A}"/>
    <dgm:cxn modelId="{E5706E97-F70A-4E0B-B005-EAD10D430541}" srcId="{B024BE73-A962-473F-9499-DBB56B547AB5}" destId="{A2D355FE-5868-4B65-AA54-D1F5987B4385}" srcOrd="3" destOrd="0" parTransId="{080C2ED2-AA6D-4A09-A758-0A777285D3B8}" sibTransId="{3CC856C2-7E5E-4D10-A8A2-57925D1DB295}"/>
    <dgm:cxn modelId="{41F19A9A-DE64-074B-AE33-6B8EB063A7F9}" type="presOf" srcId="{A2D355FE-5868-4B65-AA54-D1F5987B4385}" destId="{A0581145-9A82-6D47-B1DE-FA918A24E23A}" srcOrd="0" destOrd="0" presId="urn:microsoft.com/office/officeart/2005/8/layout/default"/>
    <dgm:cxn modelId="{D86942A0-7AD5-3C48-8FBE-2F31A2423B08}" type="presOf" srcId="{8ED39555-C393-4DBC-A18F-351C4AEEF6F5}" destId="{08272DFE-A091-044E-B5BD-6C6951D47D03}" srcOrd="0" destOrd="0" presId="urn:microsoft.com/office/officeart/2005/8/layout/default"/>
    <dgm:cxn modelId="{5ACEADD8-021C-C340-ABBF-7284F7DF944F}" type="presOf" srcId="{B024BE73-A962-473F-9499-DBB56B547AB5}" destId="{6FEBA301-9560-C748-9281-68FC3B31713A}" srcOrd="0" destOrd="0" presId="urn:microsoft.com/office/officeart/2005/8/layout/default"/>
    <dgm:cxn modelId="{1BCF33FA-B02E-714D-86A1-C1A49A192458}" type="presOf" srcId="{321F9F03-5135-4C6A-9EE5-4ED2058B9C9B}" destId="{10FD38F1-2B95-DD42-AD39-F8F41EA69558}" srcOrd="0" destOrd="0" presId="urn:microsoft.com/office/officeart/2005/8/layout/default"/>
    <dgm:cxn modelId="{A545DAFC-BC88-CF42-9FAB-23D3D041A6A9}" type="presParOf" srcId="{6FEBA301-9560-C748-9281-68FC3B31713A}" destId="{08272DFE-A091-044E-B5BD-6C6951D47D03}" srcOrd="0" destOrd="0" presId="urn:microsoft.com/office/officeart/2005/8/layout/default"/>
    <dgm:cxn modelId="{E350C3D3-9FFA-E249-8C3F-413252A885FA}" type="presParOf" srcId="{6FEBA301-9560-C748-9281-68FC3B31713A}" destId="{718441FD-89C4-0045-88BD-1B6F229E7F42}" srcOrd="1" destOrd="0" presId="urn:microsoft.com/office/officeart/2005/8/layout/default"/>
    <dgm:cxn modelId="{A5386EE4-F8C8-4543-A568-72D8AD5A022B}" type="presParOf" srcId="{6FEBA301-9560-C748-9281-68FC3B31713A}" destId="{965F5066-C224-A34E-AD90-BBA739E9793E}" srcOrd="2" destOrd="0" presId="urn:microsoft.com/office/officeart/2005/8/layout/default"/>
    <dgm:cxn modelId="{E5752DEA-C8E2-2446-8BAA-1143CB14BBE5}" type="presParOf" srcId="{6FEBA301-9560-C748-9281-68FC3B31713A}" destId="{A424C8E1-5C32-5940-9615-F64A800EC304}" srcOrd="3" destOrd="0" presId="urn:microsoft.com/office/officeart/2005/8/layout/default"/>
    <dgm:cxn modelId="{F588820F-914A-3147-8D08-A111A422C2F5}" type="presParOf" srcId="{6FEBA301-9560-C748-9281-68FC3B31713A}" destId="{B4B11F11-0120-6047-9DE8-736231984E22}" srcOrd="4" destOrd="0" presId="urn:microsoft.com/office/officeart/2005/8/layout/default"/>
    <dgm:cxn modelId="{7A685D77-7FD8-E441-A3F1-3918787976A5}" type="presParOf" srcId="{6FEBA301-9560-C748-9281-68FC3B31713A}" destId="{C068C179-0020-614E-AFD1-266BE4D16B8F}" srcOrd="5" destOrd="0" presId="urn:microsoft.com/office/officeart/2005/8/layout/default"/>
    <dgm:cxn modelId="{1E319A21-FACC-7443-9FC2-49D0873E65F6}" type="presParOf" srcId="{6FEBA301-9560-C748-9281-68FC3B31713A}" destId="{A0581145-9A82-6D47-B1DE-FA918A24E23A}" srcOrd="6" destOrd="0" presId="urn:microsoft.com/office/officeart/2005/8/layout/default"/>
    <dgm:cxn modelId="{8102DFC6-0D73-6A4E-B223-4AECAE542202}" type="presParOf" srcId="{6FEBA301-9560-C748-9281-68FC3B31713A}" destId="{45A0B221-DFE0-1545-8EC3-4B1040927471}" srcOrd="7" destOrd="0" presId="urn:microsoft.com/office/officeart/2005/8/layout/default"/>
    <dgm:cxn modelId="{B1C7E8E8-09B8-8F49-83B6-0E068131D784}" type="presParOf" srcId="{6FEBA301-9560-C748-9281-68FC3B31713A}" destId="{10FD38F1-2B95-DD42-AD39-F8F41EA6955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E5582C-5C2E-4B93-8A4D-8404DFDC31C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5373C2-84CB-4337-B5E4-EE9C090CFEFB}">
      <dgm:prSet/>
      <dgm:spPr/>
      <dgm:t>
        <a:bodyPr/>
        <a:lstStyle/>
        <a:p>
          <a:r>
            <a:rPr lang="en-US"/>
            <a:t>Market differentiation: Unique genetics, trait packages</a:t>
          </a:r>
        </a:p>
      </dgm:t>
    </dgm:pt>
    <dgm:pt modelId="{724206CA-81E4-4834-BBE9-D65333A9610F}" type="parTrans" cxnId="{AB9882F8-D7AC-4E00-BC19-1DA23DC589AE}">
      <dgm:prSet/>
      <dgm:spPr/>
      <dgm:t>
        <a:bodyPr/>
        <a:lstStyle/>
        <a:p>
          <a:endParaRPr lang="en-US"/>
        </a:p>
      </dgm:t>
    </dgm:pt>
    <dgm:pt modelId="{9B6C4694-8954-4577-9257-3F41FF544AA6}" type="sibTrans" cxnId="{AB9882F8-D7AC-4E00-BC19-1DA23DC589AE}">
      <dgm:prSet/>
      <dgm:spPr/>
      <dgm:t>
        <a:bodyPr/>
        <a:lstStyle/>
        <a:p>
          <a:endParaRPr lang="en-US"/>
        </a:p>
      </dgm:t>
    </dgm:pt>
    <dgm:pt modelId="{4FFD446A-635A-4993-AB8A-364703E06E3E}">
      <dgm:prSet/>
      <dgm:spPr/>
      <dgm:t>
        <a:bodyPr/>
        <a:lstStyle/>
        <a:p>
          <a:r>
            <a:rPr lang="en-US"/>
            <a:t>Production efficiency: Seed yield in production fields</a:t>
          </a:r>
        </a:p>
      </dgm:t>
    </dgm:pt>
    <dgm:pt modelId="{0D6A56A0-5E83-40C1-8465-E401425AE46E}" type="parTrans" cxnId="{60D61934-CF31-4B51-85B0-F14BAC04307A}">
      <dgm:prSet/>
      <dgm:spPr/>
      <dgm:t>
        <a:bodyPr/>
        <a:lstStyle/>
        <a:p>
          <a:endParaRPr lang="en-US"/>
        </a:p>
      </dgm:t>
    </dgm:pt>
    <dgm:pt modelId="{28D68DD0-231C-44AB-9D8F-3C350340FBF5}" type="sibTrans" cxnId="{60D61934-CF31-4B51-85B0-F14BAC04307A}">
      <dgm:prSet/>
      <dgm:spPr/>
      <dgm:t>
        <a:bodyPr/>
        <a:lstStyle/>
        <a:p>
          <a:endParaRPr lang="en-US"/>
        </a:p>
      </dgm:t>
    </dgm:pt>
    <dgm:pt modelId="{F7529558-3974-4E0A-9EED-98B772C0A3B2}">
      <dgm:prSet/>
      <dgm:spPr/>
      <dgm:t>
        <a:bodyPr/>
        <a:lstStyle/>
        <a:p>
          <a:r>
            <a:rPr lang="en-US"/>
            <a:t>Built-in IP protection: F1 hybrid biology prevents seed saving</a:t>
          </a:r>
        </a:p>
      </dgm:t>
    </dgm:pt>
    <dgm:pt modelId="{52D24BE9-E733-4D52-A04A-2E8BDA99EA62}" type="parTrans" cxnId="{9ED042EE-B19E-411B-B401-08DA5A47E79D}">
      <dgm:prSet/>
      <dgm:spPr/>
      <dgm:t>
        <a:bodyPr/>
        <a:lstStyle/>
        <a:p>
          <a:endParaRPr lang="en-US"/>
        </a:p>
      </dgm:t>
    </dgm:pt>
    <dgm:pt modelId="{E0B6998C-5C59-4BA8-8C72-0C47C5A1FBDE}" type="sibTrans" cxnId="{9ED042EE-B19E-411B-B401-08DA5A47E79D}">
      <dgm:prSet/>
      <dgm:spPr/>
      <dgm:t>
        <a:bodyPr/>
        <a:lstStyle/>
        <a:p>
          <a:endParaRPr lang="en-US"/>
        </a:p>
      </dgm:t>
    </dgm:pt>
    <dgm:pt modelId="{8C4FD769-69FB-48F3-BB99-C32E0D80D7DD}">
      <dgm:prSet/>
      <dgm:spPr/>
      <dgm:t>
        <a:bodyPr/>
        <a:lstStyle/>
        <a:p>
          <a:r>
            <a:rPr lang="en-US"/>
            <a:t>Margins justify R&amp;D: Premium pricing for performance</a:t>
          </a:r>
        </a:p>
      </dgm:t>
    </dgm:pt>
    <dgm:pt modelId="{DC676A52-5427-44B6-AC69-A4D05CBC466E}" type="parTrans" cxnId="{0CBDFC7B-E05D-4576-9ECA-9CBE91DB2D38}">
      <dgm:prSet/>
      <dgm:spPr/>
      <dgm:t>
        <a:bodyPr/>
        <a:lstStyle/>
        <a:p>
          <a:endParaRPr lang="en-US"/>
        </a:p>
      </dgm:t>
    </dgm:pt>
    <dgm:pt modelId="{33F828EF-D933-4505-9AB3-C533EBF0C265}" type="sibTrans" cxnId="{0CBDFC7B-E05D-4576-9ECA-9CBE91DB2D38}">
      <dgm:prSet/>
      <dgm:spPr/>
      <dgm:t>
        <a:bodyPr/>
        <a:lstStyle/>
        <a:p>
          <a:endParaRPr lang="en-US"/>
        </a:p>
      </dgm:t>
    </dgm:pt>
    <dgm:pt modelId="{B1D6862D-7190-4A7B-A4C9-6726039979E4}">
      <dgm:prSet/>
      <dgm:spPr/>
      <dgm:t>
        <a:bodyPr/>
        <a:lstStyle/>
        <a:p>
          <a:r>
            <a:rPr lang="en-US"/>
            <a:t>Brand loyalty: Consistent winners build farmer trust</a:t>
          </a:r>
        </a:p>
      </dgm:t>
    </dgm:pt>
    <dgm:pt modelId="{BFF9DFC1-A7B9-44B8-B3C4-0988B4862C46}" type="parTrans" cxnId="{CBD25A78-3A49-4427-BEF6-A82F2B802B1E}">
      <dgm:prSet/>
      <dgm:spPr/>
      <dgm:t>
        <a:bodyPr/>
        <a:lstStyle/>
        <a:p>
          <a:endParaRPr lang="en-US"/>
        </a:p>
      </dgm:t>
    </dgm:pt>
    <dgm:pt modelId="{ED0933AC-1EF1-4811-B271-B142AD4AE75B}" type="sibTrans" cxnId="{CBD25A78-3A49-4427-BEF6-A82F2B802B1E}">
      <dgm:prSet/>
      <dgm:spPr/>
      <dgm:t>
        <a:bodyPr/>
        <a:lstStyle/>
        <a:p>
          <a:endParaRPr lang="en-US"/>
        </a:p>
      </dgm:t>
    </dgm:pt>
    <dgm:pt modelId="{0797BF37-907D-4D2B-B8D7-82F7108963B4}">
      <dgm:prSet/>
      <dgm:spPr/>
      <dgm:t>
        <a:bodyPr/>
        <a:lstStyle/>
        <a:p>
          <a:r>
            <a:rPr lang="en-US"/>
            <a:t>Long-term investment: 10-15 years to first commercial product</a:t>
          </a:r>
        </a:p>
      </dgm:t>
    </dgm:pt>
    <dgm:pt modelId="{B7D6F5FE-C107-45AC-8867-33A610840141}" type="parTrans" cxnId="{0ED1C54D-D742-4F04-BB83-B6E4A4F41ACD}">
      <dgm:prSet/>
      <dgm:spPr/>
      <dgm:t>
        <a:bodyPr/>
        <a:lstStyle/>
        <a:p>
          <a:endParaRPr lang="en-US"/>
        </a:p>
      </dgm:t>
    </dgm:pt>
    <dgm:pt modelId="{B8EE94F1-B8EB-4368-8B78-A9186E092BBA}" type="sibTrans" cxnId="{0ED1C54D-D742-4F04-BB83-B6E4A4F41ACD}">
      <dgm:prSet/>
      <dgm:spPr/>
      <dgm:t>
        <a:bodyPr/>
        <a:lstStyle/>
        <a:p>
          <a:endParaRPr lang="en-US"/>
        </a:p>
      </dgm:t>
    </dgm:pt>
    <dgm:pt modelId="{356C7B9A-2031-46BA-9729-B7F72077516E}" type="pres">
      <dgm:prSet presAssocID="{0AE5582C-5C2E-4B93-8A4D-8404DFDC31C3}" presName="root" presStyleCnt="0">
        <dgm:presLayoutVars>
          <dgm:dir/>
          <dgm:resizeHandles val="exact"/>
        </dgm:presLayoutVars>
      </dgm:prSet>
      <dgm:spPr/>
    </dgm:pt>
    <dgm:pt modelId="{9FAAD7AC-8848-4DCC-B496-472E8E3752A3}" type="pres">
      <dgm:prSet presAssocID="{3E5373C2-84CB-4337-B5E4-EE9C090CFEFB}" presName="compNode" presStyleCnt="0"/>
      <dgm:spPr/>
    </dgm:pt>
    <dgm:pt modelId="{7BC6416C-53E6-4526-B142-37BFE37E4A14}" type="pres">
      <dgm:prSet presAssocID="{3E5373C2-84CB-4337-B5E4-EE9C090CFEFB}" presName="bgRect" presStyleLbl="bgShp" presStyleIdx="0" presStyleCnt="6"/>
      <dgm:spPr/>
    </dgm:pt>
    <dgm:pt modelId="{C2F6C1CC-4D8B-4C48-9DFD-5891744F60F4}" type="pres">
      <dgm:prSet presAssocID="{3E5373C2-84CB-4337-B5E4-EE9C090CFEFB}"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NA"/>
        </a:ext>
      </dgm:extLst>
    </dgm:pt>
    <dgm:pt modelId="{8E3DBC50-C670-4B8D-96B5-B432EE060B0D}" type="pres">
      <dgm:prSet presAssocID="{3E5373C2-84CB-4337-B5E4-EE9C090CFEFB}" presName="spaceRect" presStyleCnt="0"/>
      <dgm:spPr/>
    </dgm:pt>
    <dgm:pt modelId="{0483296A-7973-4943-AAC9-73411C2C3668}" type="pres">
      <dgm:prSet presAssocID="{3E5373C2-84CB-4337-B5E4-EE9C090CFEFB}" presName="parTx" presStyleLbl="revTx" presStyleIdx="0" presStyleCnt="6">
        <dgm:presLayoutVars>
          <dgm:chMax val="0"/>
          <dgm:chPref val="0"/>
        </dgm:presLayoutVars>
      </dgm:prSet>
      <dgm:spPr/>
    </dgm:pt>
    <dgm:pt modelId="{54A87B73-980A-4530-A464-B7EA154514B0}" type="pres">
      <dgm:prSet presAssocID="{9B6C4694-8954-4577-9257-3F41FF544AA6}" presName="sibTrans" presStyleCnt="0"/>
      <dgm:spPr/>
    </dgm:pt>
    <dgm:pt modelId="{ECEA92FB-5319-4F65-B6D1-1DCF79A69318}" type="pres">
      <dgm:prSet presAssocID="{4FFD446A-635A-4993-AB8A-364703E06E3E}" presName="compNode" presStyleCnt="0"/>
      <dgm:spPr/>
    </dgm:pt>
    <dgm:pt modelId="{4E814349-A0A0-49E5-B13B-F1A37D78BE42}" type="pres">
      <dgm:prSet presAssocID="{4FFD446A-635A-4993-AB8A-364703E06E3E}" presName="bgRect" presStyleLbl="bgShp" presStyleIdx="1" presStyleCnt="6"/>
      <dgm:spPr/>
    </dgm:pt>
    <dgm:pt modelId="{431F73EA-3F31-4227-B00A-B46805F256DE}" type="pres">
      <dgm:prSet presAssocID="{4FFD446A-635A-4993-AB8A-364703E06E3E}"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eds"/>
        </a:ext>
      </dgm:extLst>
    </dgm:pt>
    <dgm:pt modelId="{CC2BA3DB-83F3-4644-B4FD-DE704E7E003E}" type="pres">
      <dgm:prSet presAssocID="{4FFD446A-635A-4993-AB8A-364703E06E3E}" presName="spaceRect" presStyleCnt="0"/>
      <dgm:spPr/>
    </dgm:pt>
    <dgm:pt modelId="{757AF3F2-3611-4A9B-B895-A73480AD403D}" type="pres">
      <dgm:prSet presAssocID="{4FFD446A-635A-4993-AB8A-364703E06E3E}" presName="parTx" presStyleLbl="revTx" presStyleIdx="1" presStyleCnt="6">
        <dgm:presLayoutVars>
          <dgm:chMax val="0"/>
          <dgm:chPref val="0"/>
        </dgm:presLayoutVars>
      </dgm:prSet>
      <dgm:spPr/>
    </dgm:pt>
    <dgm:pt modelId="{48BB31BD-9586-41EF-AAF9-DCA3BCD8D6DE}" type="pres">
      <dgm:prSet presAssocID="{28D68DD0-231C-44AB-9D8F-3C350340FBF5}" presName="sibTrans" presStyleCnt="0"/>
      <dgm:spPr/>
    </dgm:pt>
    <dgm:pt modelId="{DE62F6C7-C941-4CA7-BC00-8305D184BE81}" type="pres">
      <dgm:prSet presAssocID="{F7529558-3974-4E0A-9EED-98B772C0A3B2}" presName="compNode" presStyleCnt="0"/>
      <dgm:spPr/>
    </dgm:pt>
    <dgm:pt modelId="{9667278C-8FFC-4D77-AC0F-94F79DBD99F6}" type="pres">
      <dgm:prSet presAssocID="{F7529558-3974-4E0A-9EED-98B772C0A3B2}" presName="bgRect" presStyleLbl="bgShp" presStyleIdx="2" presStyleCnt="6"/>
      <dgm:spPr/>
    </dgm:pt>
    <dgm:pt modelId="{B4D7E712-9ED6-4A28-AE26-3AD021395AE7}" type="pres">
      <dgm:prSet presAssocID="{F7529558-3974-4E0A-9EED-98B772C0A3B2}"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g under Magnifying Glass"/>
        </a:ext>
      </dgm:extLst>
    </dgm:pt>
    <dgm:pt modelId="{9FC68519-CDC5-4B9A-B366-06C3A3B2476C}" type="pres">
      <dgm:prSet presAssocID="{F7529558-3974-4E0A-9EED-98B772C0A3B2}" presName="spaceRect" presStyleCnt="0"/>
      <dgm:spPr/>
    </dgm:pt>
    <dgm:pt modelId="{AC759F6D-99D3-4BAE-87EB-98264BD96270}" type="pres">
      <dgm:prSet presAssocID="{F7529558-3974-4E0A-9EED-98B772C0A3B2}" presName="parTx" presStyleLbl="revTx" presStyleIdx="2" presStyleCnt="6">
        <dgm:presLayoutVars>
          <dgm:chMax val="0"/>
          <dgm:chPref val="0"/>
        </dgm:presLayoutVars>
      </dgm:prSet>
      <dgm:spPr/>
    </dgm:pt>
    <dgm:pt modelId="{6B28A376-2863-4E73-9F4F-8DB6E6CE2F62}" type="pres">
      <dgm:prSet presAssocID="{E0B6998C-5C59-4BA8-8C72-0C47C5A1FBDE}" presName="sibTrans" presStyleCnt="0"/>
      <dgm:spPr/>
    </dgm:pt>
    <dgm:pt modelId="{4CE6D15B-0939-485A-81A1-ABEA90100387}" type="pres">
      <dgm:prSet presAssocID="{8C4FD769-69FB-48F3-BB99-C32E0D80D7DD}" presName="compNode" presStyleCnt="0"/>
      <dgm:spPr/>
    </dgm:pt>
    <dgm:pt modelId="{134B2308-18E3-4632-BF69-272C10E47190}" type="pres">
      <dgm:prSet presAssocID="{8C4FD769-69FB-48F3-BB99-C32E0D80D7DD}" presName="bgRect" presStyleLbl="bgShp" presStyleIdx="3" presStyleCnt="6"/>
      <dgm:spPr/>
    </dgm:pt>
    <dgm:pt modelId="{EE449935-508C-4F63-8728-F0C8E3462386}" type="pres">
      <dgm:prSet presAssocID="{8C4FD769-69FB-48F3-BB99-C32E0D80D7DD}"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E6D5E663-16D0-4573-9EC3-5AEE7F21812E}" type="pres">
      <dgm:prSet presAssocID="{8C4FD769-69FB-48F3-BB99-C32E0D80D7DD}" presName="spaceRect" presStyleCnt="0"/>
      <dgm:spPr/>
    </dgm:pt>
    <dgm:pt modelId="{A0557018-8E59-49B1-B30B-5C30C840FC59}" type="pres">
      <dgm:prSet presAssocID="{8C4FD769-69FB-48F3-BB99-C32E0D80D7DD}" presName="parTx" presStyleLbl="revTx" presStyleIdx="3" presStyleCnt="6">
        <dgm:presLayoutVars>
          <dgm:chMax val="0"/>
          <dgm:chPref val="0"/>
        </dgm:presLayoutVars>
      </dgm:prSet>
      <dgm:spPr/>
    </dgm:pt>
    <dgm:pt modelId="{B69FD1ED-EFE9-4525-B61C-59235FBCC68D}" type="pres">
      <dgm:prSet presAssocID="{33F828EF-D933-4505-9AB3-C533EBF0C265}" presName="sibTrans" presStyleCnt="0"/>
      <dgm:spPr/>
    </dgm:pt>
    <dgm:pt modelId="{3D4B6D30-C961-4739-A3CC-E1BDF5315881}" type="pres">
      <dgm:prSet presAssocID="{B1D6862D-7190-4A7B-A4C9-6726039979E4}" presName="compNode" presStyleCnt="0"/>
      <dgm:spPr/>
    </dgm:pt>
    <dgm:pt modelId="{28B2FBAD-14CC-4516-B866-7D19B44CAFCB}" type="pres">
      <dgm:prSet presAssocID="{B1D6862D-7190-4A7B-A4C9-6726039979E4}" presName="bgRect" presStyleLbl="bgShp" presStyleIdx="4" presStyleCnt="6"/>
      <dgm:spPr/>
    </dgm:pt>
    <dgm:pt modelId="{3016EDDA-1890-4E4E-BDB3-C088150E5A83}" type="pres">
      <dgm:prSet presAssocID="{B1D6862D-7190-4A7B-A4C9-6726039979E4}"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Ribbon"/>
        </a:ext>
      </dgm:extLst>
    </dgm:pt>
    <dgm:pt modelId="{75179979-096F-48EE-A000-8DA96BB2C2E0}" type="pres">
      <dgm:prSet presAssocID="{B1D6862D-7190-4A7B-A4C9-6726039979E4}" presName="spaceRect" presStyleCnt="0"/>
      <dgm:spPr/>
    </dgm:pt>
    <dgm:pt modelId="{1E437189-44F4-4DF5-9B53-24BFBCA38379}" type="pres">
      <dgm:prSet presAssocID="{B1D6862D-7190-4A7B-A4C9-6726039979E4}" presName="parTx" presStyleLbl="revTx" presStyleIdx="4" presStyleCnt="6">
        <dgm:presLayoutVars>
          <dgm:chMax val="0"/>
          <dgm:chPref val="0"/>
        </dgm:presLayoutVars>
      </dgm:prSet>
      <dgm:spPr/>
    </dgm:pt>
    <dgm:pt modelId="{98FA670E-8F0A-459C-AF65-7D510B50C52D}" type="pres">
      <dgm:prSet presAssocID="{ED0933AC-1EF1-4811-B271-B142AD4AE75B}" presName="sibTrans" presStyleCnt="0"/>
      <dgm:spPr/>
    </dgm:pt>
    <dgm:pt modelId="{06F30964-6E7B-4A77-BD15-B8A643CBA8CB}" type="pres">
      <dgm:prSet presAssocID="{0797BF37-907D-4D2B-B8D7-82F7108963B4}" presName="compNode" presStyleCnt="0"/>
      <dgm:spPr/>
    </dgm:pt>
    <dgm:pt modelId="{87528156-6CA7-4F6D-9F7C-C89EF080D751}" type="pres">
      <dgm:prSet presAssocID="{0797BF37-907D-4D2B-B8D7-82F7108963B4}" presName="bgRect" presStyleLbl="bgShp" presStyleIdx="5" presStyleCnt="6"/>
      <dgm:spPr/>
    </dgm:pt>
    <dgm:pt modelId="{2CD9F43D-2FA4-4E8A-92A7-CD763DA345F6}" type="pres">
      <dgm:prSet presAssocID="{0797BF37-907D-4D2B-B8D7-82F7108963B4}"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actory"/>
        </a:ext>
      </dgm:extLst>
    </dgm:pt>
    <dgm:pt modelId="{551F0814-5DA7-43E0-8BBE-532BD49E6399}" type="pres">
      <dgm:prSet presAssocID="{0797BF37-907D-4D2B-B8D7-82F7108963B4}" presName="spaceRect" presStyleCnt="0"/>
      <dgm:spPr/>
    </dgm:pt>
    <dgm:pt modelId="{D1A7721E-626B-4241-867E-332398BA510B}" type="pres">
      <dgm:prSet presAssocID="{0797BF37-907D-4D2B-B8D7-82F7108963B4}" presName="parTx" presStyleLbl="revTx" presStyleIdx="5" presStyleCnt="6">
        <dgm:presLayoutVars>
          <dgm:chMax val="0"/>
          <dgm:chPref val="0"/>
        </dgm:presLayoutVars>
      </dgm:prSet>
      <dgm:spPr/>
    </dgm:pt>
  </dgm:ptLst>
  <dgm:cxnLst>
    <dgm:cxn modelId="{60D61934-CF31-4B51-85B0-F14BAC04307A}" srcId="{0AE5582C-5C2E-4B93-8A4D-8404DFDC31C3}" destId="{4FFD446A-635A-4993-AB8A-364703E06E3E}" srcOrd="1" destOrd="0" parTransId="{0D6A56A0-5E83-40C1-8465-E401425AE46E}" sibTransId="{28D68DD0-231C-44AB-9D8F-3C350340FBF5}"/>
    <dgm:cxn modelId="{0ED1C54D-D742-4F04-BB83-B6E4A4F41ACD}" srcId="{0AE5582C-5C2E-4B93-8A4D-8404DFDC31C3}" destId="{0797BF37-907D-4D2B-B8D7-82F7108963B4}" srcOrd="5" destOrd="0" parTransId="{B7D6F5FE-C107-45AC-8867-33A610840141}" sibTransId="{B8EE94F1-B8EB-4368-8B78-A9186E092BBA}"/>
    <dgm:cxn modelId="{CBD25A78-3A49-4427-BEF6-A82F2B802B1E}" srcId="{0AE5582C-5C2E-4B93-8A4D-8404DFDC31C3}" destId="{B1D6862D-7190-4A7B-A4C9-6726039979E4}" srcOrd="4" destOrd="0" parTransId="{BFF9DFC1-A7B9-44B8-B3C4-0988B4862C46}" sibTransId="{ED0933AC-1EF1-4811-B271-B142AD4AE75B}"/>
    <dgm:cxn modelId="{0CBDFC7B-E05D-4576-9ECA-9CBE91DB2D38}" srcId="{0AE5582C-5C2E-4B93-8A4D-8404DFDC31C3}" destId="{8C4FD769-69FB-48F3-BB99-C32E0D80D7DD}" srcOrd="3" destOrd="0" parTransId="{DC676A52-5427-44B6-AC69-A4D05CBC466E}" sibTransId="{33F828EF-D933-4505-9AB3-C533EBF0C265}"/>
    <dgm:cxn modelId="{3BF6C681-6D74-4DAC-BBCD-0F97249803CB}" type="presOf" srcId="{3E5373C2-84CB-4337-B5E4-EE9C090CFEFB}" destId="{0483296A-7973-4943-AAC9-73411C2C3668}" srcOrd="0" destOrd="0" presId="urn:microsoft.com/office/officeart/2018/2/layout/IconVerticalSolidList"/>
    <dgm:cxn modelId="{9E1F51B1-ABDB-4408-8D3A-135905D8223C}" type="presOf" srcId="{0AE5582C-5C2E-4B93-8A4D-8404DFDC31C3}" destId="{356C7B9A-2031-46BA-9729-B7F72077516E}" srcOrd="0" destOrd="0" presId="urn:microsoft.com/office/officeart/2018/2/layout/IconVerticalSolidList"/>
    <dgm:cxn modelId="{4CA03AC8-B239-4742-9621-D380AD9C6500}" type="presOf" srcId="{4FFD446A-635A-4993-AB8A-364703E06E3E}" destId="{757AF3F2-3611-4A9B-B895-A73480AD403D}" srcOrd="0" destOrd="0" presId="urn:microsoft.com/office/officeart/2018/2/layout/IconVerticalSolidList"/>
    <dgm:cxn modelId="{3DA39EC8-D19D-4D11-A12C-7773813BE5AA}" type="presOf" srcId="{8C4FD769-69FB-48F3-BB99-C32E0D80D7DD}" destId="{A0557018-8E59-49B1-B30B-5C30C840FC59}" srcOrd="0" destOrd="0" presId="urn:microsoft.com/office/officeart/2018/2/layout/IconVerticalSolidList"/>
    <dgm:cxn modelId="{BD67EACE-E60C-413A-A8F4-C1A3F1C917A5}" type="presOf" srcId="{0797BF37-907D-4D2B-B8D7-82F7108963B4}" destId="{D1A7721E-626B-4241-867E-332398BA510B}" srcOrd="0" destOrd="0" presId="urn:microsoft.com/office/officeart/2018/2/layout/IconVerticalSolidList"/>
    <dgm:cxn modelId="{9ED042EE-B19E-411B-B401-08DA5A47E79D}" srcId="{0AE5582C-5C2E-4B93-8A4D-8404DFDC31C3}" destId="{F7529558-3974-4E0A-9EED-98B772C0A3B2}" srcOrd="2" destOrd="0" parTransId="{52D24BE9-E733-4D52-A04A-2E8BDA99EA62}" sibTransId="{E0B6998C-5C59-4BA8-8C72-0C47C5A1FBDE}"/>
    <dgm:cxn modelId="{24D69BF4-AC19-48DF-A874-3BE97F97CB31}" type="presOf" srcId="{B1D6862D-7190-4A7B-A4C9-6726039979E4}" destId="{1E437189-44F4-4DF5-9B53-24BFBCA38379}" srcOrd="0" destOrd="0" presId="urn:microsoft.com/office/officeart/2018/2/layout/IconVerticalSolidList"/>
    <dgm:cxn modelId="{AB9882F8-D7AC-4E00-BC19-1DA23DC589AE}" srcId="{0AE5582C-5C2E-4B93-8A4D-8404DFDC31C3}" destId="{3E5373C2-84CB-4337-B5E4-EE9C090CFEFB}" srcOrd="0" destOrd="0" parTransId="{724206CA-81E4-4834-BBE9-D65333A9610F}" sibTransId="{9B6C4694-8954-4577-9257-3F41FF544AA6}"/>
    <dgm:cxn modelId="{CD61F5F9-20F9-4A97-8DC0-DA92EB8450DE}" type="presOf" srcId="{F7529558-3974-4E0A-9EED-98B772C0A3B2}" destId="{AC759F6D-99D3-4BAE-87EB-98264BD96270}" srcOrd="0" destOrd="0" presId="urn:microsoft.com/office/officeart/2018/2/layout/IconVerticalSolidList"/>
    <dgm:cxn modelId="{5D444AA6-2D98-4643-B3ED-FB66B8DF1B6A}" type="presParOf" srcId="{356C7B9A-2031-46BA-9729-B7F72077516E}" destId="{9FAAD7AC-8848-4DCC-B496-472E8E3752A3}" srcOrd="0" destOrd="0" presId="urn:microsoft.com/office/officeart/2018/2/layout/IconVerticalSolidList"/>
    <dgm:cxn modelId="{CF220018-D435-4D5E-9C21-B59E4D7E2081}" type="presParOf" srcId="{9FAAD7AC-8848-4DCC-B496-472E8E3752A3}" destId="{7BC6416C-53E6-4526-B142-37BFE37E4A14}" srcOrd="0" destOrd="0" presId="urn:microsoft.com/office/officeart/2018/2/layout/IconVerticalSolidList"/>
    <dgm:cxn modelId="{A93C4978-743B-4EDF-BDF1-9B15448506A7}" type="presParOf" srcId="{9FAAD7AC-8848-4DCC-B496-472E8E3752A3}" destId="{C2F6C1CC-4D8B-4C48-9DFD-5891744F60F4}" srcOrd="1" destOrd="0" presId="urn:microsoft.com/office/officeart/2018/2/layout/IconVerticalSolidList"/>
    <dgm:cxn modelId="{BD9F3090-9ADE-44C5-8B92-24ECFB82448F}" type="presParOf" srcId="{9FAAD7AC-8848-4DCC-B496-472E8E3752A3}" destId="{8E3DBC50-C670-4B8D-96B5-B432EE060B0D}" srcOrd="2" destOrd="0" presId="urn:microsoft.com/office/officeart/2018/2/layout/IconVerticalSolidList"/>
    <dgm:cxn modelId="{0AA18E25-88B5-43B2-A9BE-D7028C88A34B}" type="presParOf" srcId="{9FAAD7AC-8848-4DCC-B496-472E8E3752A3}" destId="{0483296A-7973-4943-AAC9-73411C2C3668}" srcOrd="3" destOrd="0" presId="urn:microsoft.com/office/officeart/2018/2/layout/IconVerticalSolidList"/>
    <dgm:cxn modelId="{54EFF513-EA83-4C40-900B-4D1FC71C6E5C}" type="presParOf" srcId="{356C7B9A-2031-46BA-9729-B7F72077516E}" destId="{54A87B73-980A-4530-A464-B7EA154514B0}" srcOrd="1" destOrd="0" presId="urn:microsoft.com/office/officeart/2018/2/layout/IconVerticalSolidList"/>
    <dgm:cxn modelId="{E03EEFFC-CC6B-4C89-BC76-18C428DFDF27}" type="presParOf" srcId="{356C7B9A-2031-46BA-9729-B7F72077516E}" destId="{ECEA92FB-5319-4F65-B6D1-1DCF79A69318}" srcOrd="2" destOrd="0" presId="urn:microsoft.com/office/officeart/2018/2/layout/IconVerticalSolidList"/>
    <dgm:cxn modelId="{370F124F-5D59-4AC6-977C-F76898496909}" type="presParOf" srcId="{ECEA92FB-5319-4F65-B6D1-1DCF79A69318}" destId="{4E814349-A0A0-49E5-B13B-F1A37D78BE42}" srcOrd="0" destOrd="0" presId="urn:microsoft.com/office/officeart/2018/2/layout/IconVerticalSolidList"/>
    <dgm:cxn modelId="{E9050F31-1098-481E-94D5-58C2AA130E5E}" type="presParOf" srcId="{ECEA92FB-5319-4F65-B6D1-1DCF79A69318}" destId="{431F73EA-3F31-4227-B00A-B46805F256DE}" srcOrd="1" destOrd="0" presId="urn:microsoft.com/office/officeart/2018/2/layout/IconVerticalSolidList"/>
    <dgm:cxn modelId="{2F72032A-8A09-4FCC-B985-F51526126DEE}" type="presParOf" srcId="{ECEA92FB-5319-4F65-B6D1-1DCF79A69318}" destId="{CC2BA3DB-83F3-4644-B4FD-DE704E7E003E}" srcOrd="2" destOrd="0" presId="urn:microsoft.com/office/officeart/2018/2/layout/IconVerticalSolidList"/>
    <dgm:cxn modelId="{DD66E9C5-91E3-41AB-A18E-8B5AC5AFBBE5}" type="presParOf" srcId="{ECEA92FB-5319-4F65-B6D1-1DCF79A69318}" destId="{757AF3F2-3611-4A9B-B895-A73480AD403D}" srcOrd="3" destOrd="0" presId="urn:microsoft.com/office/officeart/2018/2/layout/IconVerticalSolidList"/>
    <dgm:cxn modelId="{5511056E-A33D-476F-B70B-983F7C8F0A79}" type="presParOf" srcId="{356C7B9A-2031-46BA-9729-B7F72077516E}" destId="{48BB31BD-9586-41EF-AAF9-DCA3BCD8D6DE}" srcOrd="3" destOrd="0" presId="urn:microsoft.com/office/officeart/2018/2/layout/IconVerticalSolidList"/>
    <dgm:cxn modelId="{2F629F18-BAEE-4508-926E-206F3227E91C}" type="presParOf" srcId="{356C7B9A-2031-46BA-9729-B7F72077516E}" destId="{DE62F6C7-C941-4CA7-BC00-8305D184BE81}" srcOrd="4" destOrd="0" presId="urn:microsoft.com/office/officeart/2018/2/layout/IconVerticalSolidList"/>
    <dgm:cxn modelId="{300B6EE9-F5B9-402F-9DCC-1B4FB8D4EF7D}" type="presParOf" srcId="{DE62F6C7-C941-4CA7-BC00-8305D184BE81}" destId="{9667278C-8FFC-4D77-AC0F-94F79DBD99F6}" srcOrd="0" destOrd="0" presId="urn:microsoft.com/office/officeart/2018/2/layout/IconVerticalSolidList"/>
    <dgm:cxn modelId="{C2E30B59-2964-4AA2-9469-E8DB4A26EFB0}" type="presParOf" srcId="{DE62F6C7-C941-4CA7-BC00-8305D184BE81}" destId="{B4D7E712-9ED6-4A28-AE26-3AD021395AE7}" srcOrd="1" destOrd="0" presId="urn:microsoft.com/office/officeart/2018/2/layout/IconVerticalSolidList"/>
    <dgm:cxn modelId="{40E0A7A0-D797-4B54-BE5C-CBDFE08EB4FC}" type="presParOf" srcId="{DE62F6C7-C941-4CA7-BC00-8305D184BE81}" destId="{9FC68519-CDC5-4B9A-B366-06C3A3B2476C}" srcOrd="2" destOrd="0" presId="urn:microsoft.com/office/officeart/2018/2/layout/IconVerticalSolidList"/>
    <dgm:cxn modelId="{0F64073E-F663-40E4-9CD0-035D0A3B203C}" type="presParOf" srcId="{DE62F6C7-C941-4CA7-BC00-8305D184BE81}" destId="{AC759F6D-99D3-4BAE-87EB-98264BD96270}" srcOrd="3" destOrd="0" presId="urn:microsoft.com/office/officeart/2018/2/layout/IconVerticalSolidList"/>
    <dgm:cxn modelId="{59FFB33E-FE89-4119-AF47-0D548FDDA1EC}" type="presParOf" srcId="{356C7B9A-2031-46BA-9729-B7F72077516E}" destId="{6B28A376-2863-4E73-9F4F-8DB6E6CE2F62}" srcOrd="5" destOrd="0" presId="urn:microsoft.com/office/officeart/2018/2/layout/IconVerticalSolidList"/>
    <dgm:cxn modelId="{E11EC2CD-4AA6-48F2-8E44-872F63F0DD52}" type="presParOf" srcId="{356C7B9A-2031-46BA-9729-B7F72077516E}" destId="{4CE6D15B-0939-485A-81A1-ABEA90100387}" srcOrd="6" destOrd="0" presId="urn:microsoft.com/office/officeart/2018/2/layout/IconVerticalSolidList"/>
    <dgm:cxn modelId="{5C8F4E4A-45A5-49F0-8229-AEDD0E734F33}" type="presParOf" srcId="{4CE6D15B-0939-485A-81A1-ABEA90100387}" destId="{134B2308-18E3-4632-BF69-272C10E47190}" srcOrd="0" destOrd="0" presId="urn:microsoft.com/office/officeart/2018/2/layout/IconVerticalSolidList"/>
    <dgm:cxn modelId="{FBD6F207-1FEF-4A85-AF00-C796D4743773}" type="presParOf" srcId="{4CE6D15B-0939-485A-81A1-ABEA90100387}" destId="{EE449935-508C-4F63-8728-F0C8E3462386}" srcOrd="1" destOrd="0" presId="urn:microsoft.com/office/officeart/2018/2/layout/IconVerticalSolidList"/>
    <dgm:cxn modelId="{5AF03398-D0BF-4B2F-A274-CD07B5124001}" type="presParOf" srcId="{4CE6D15B-0939-485A-81A1-ABEA90100387}" destId="{E6D5E663-16D0-4573-9EC3-5AEE7F21812E}" srcOrd="2" destOrd="0" presId="urn:microsoft.com/office/officeart/2018/2/layout/IconVerticalSolidList"/>
    <dgm:cxn modelId="{C85B996B-772E-4BAD-9A51-93226E6939AB}" type="presParOf" srcId="{4CE6D15B-0939-485A-81A1-ABEA90100387}" destId="{A0557018-8E59-49B1-B30B-5C30C840FC59}" srcOrd="3" destOrd="0" presId="urn:microsoft.com/office/officeart/2018/2/layout/IconVerticalSolidList"/>
    <dgm:cxn modelId="{285637BA-8D62-4E43-A8EF-E4EE5E9601A7}" type="presParOf" srcId="{356C7B9A-2031-46BA-9729-B7F72077516E}" destId="{B69FD1ED-EFE9-4525-B61C-59235FBCC68D}" srcOrd="7" destOrd="0" presId="urn:microsoft.com/office/officeart/2018/2/layout/IconVerticalSolidList"/>
    <dgm:cxn modelId="{87B5E1BA-B4DB-4F1C-B788-D382097A1478}" type="presParOf" srcId="{356C7B9A-2031-46BA-9729-B7F72077516E}" destId="{3D4B6D30-C961-4739-A3CC-E1BDF5315881}" srcOrd="8" destOrd="0" presId="urn:microsoft.com/office/officeart/2018/2/layout/IconVerticalSolidList"/>
    <dgm:cxn modelId="{4C1DD7D9-2D9E-4D0B-B090-F61504FCD72F}" type="presParOf" srcId="{3D4B6D30-C961-4739-A3CC-E1BDF5315881}" destId="{28B2FBAD-14CC-4516-B866-7D19B44CAFCB}" srcOrd="0" destOrd="0" presId="urn:microsoft.com/office/officeart/2018/2/layout/IconVerticalSolidList"/>
    <dgm:cxn modelId="{0BE8D7E7-68F2-4C2D-8FE0-D66E599CBBEB}" type="presParOf" srcId="{3D4B6D30-C961-4739-A3CC-E1BDF5315881}" destId="{3016EDDA-1890-4E4E-BDB3-C088150E5A83}" srcOrd="1" destOrd="0" presId="urn:microsoft.com/office/officeart/2018/2/layout/IconVerticalSolidList"/>
    <dgm:cxn modelId="{8C8A66B8-10E8-48B4-A7EF-C5FE904AED02}" type="presParOf" srcId="{3D4B6D30-C961-4739-A3CC-E1BDF5315881}" destId="{75179979-096F-48EE-A000-8DA96BB2C2E0}" srcOrd="2" destOrd="0" presId="urn:microsoft.com/office/officeart/2018/2/layout/IconVerticalSolidList"/>
    <dgm:cxn modelId="{EE3AE2D2-93B2-49F6-B7E8-2AA9FFEAA381}" type="presParOf" srcId="{3D4B6D30-C961-4739-A3CC-E1BDF5315881}" destId="{1E437189-44F4-4DF5-9B53-24BFBCA38379}" srcOrd="3" destOrd="0" presId="urn:microsoft.com/office/officeart/2018/2/layout/IconVerticalSolidList"/>
    <dgm:cxn modelId="{AD551772-BC23-4AF1-9479-2E4F4B1DFF46}" type="presParOf" srcId="{356C7B9A-2031-46BA-9729-B7F72077516E}" destId="{98FA670E-8F0A-459C-AF65-7D510B50C52D}" srcOrd="9" destOrd="0" presId="urn:microsoft.com/office/officeart/2018/2/layout/IconVerticalSolidList"/>
    <dgm:cxn modelId="{8F66203B-0EED-43D2-9BEC-83FB1F0A43D6}" type="presParOf" srcId="{356C7B9A-2031-46BA-9729-B7F72077516E}" destId="{06F30964-6E7B-4A77-BD15-B8A643CBA8CB}" srcOrd="10" destOrd="0" presId="urn:microsoft.com/office/officeart/2018/2/layout/IconVerticalSolidList"/>
    <dgm:cxn modelId="{75B4A374-7CCF-40B5-9D46-CB845006039A}" type="presParOf" srcId="{06F30964-6E7B-4A77-BD15-B8A643CBA8CB}" destId="{87528156-6CA7-4F6D-9F7C-C89EF080D751}" srcOrd="0" destOrd="0" presId="urn:microsoft.com/office/officeart/2018/2/layout/IconVerticalSolidList"/>
    <dgm:cxn modelId="{B949C325-3C5A-49EB-827B-E4F8A3018894}" type="presParOf" srcId="{06F30964-6E7B-4A77-BD15-B8A643CBA8CB}" destId="{2CD9F43D-2FA4-4E8A-92A7-CD763DA345F6}" srcOrd="1" destOrd="0" presId="urn:microsoft.com/office/officeart/2018/2/layout/IconVerticalSolidList"/>
    <dgm:cxn modelId="{45663392-58D1-47FD-8CE7-619F7CBF1F8B}" type="presParOf" srcId="{06F30964-6E7B-4A77-BD15-B8A643CBA8CB}" destId="{551F0814-5DA7-43E0-8BBE-532BD49E6399}" srcOrd="2" destOrd="0" presId="urn:microsoft.com/office/officeart/2018/2/layout/IconVerticalSolidList"/>
    <dgm:cxn modelId="{0A5B6724-6B83-496A-A0BB-5D304194B53A}" type="presParOf" srcId="{06F30964-6E7B-4A77-BD15-B8A643CBA8CB}" destId="{D1A7721E-626B-4241-867E-332398BA510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9ACE33-1ABD-4172-A8E9-940098ED50A8}"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4C083C33-C239-443B-95A3-8F403DF34222}">
      <dgm:prSet/>
      <dgm:spPr/>
      <dgm:t>
        <a:bodyPr/>
        <a:lstStyle/>
        <a:p>
          <a:r>
            <a:rPr lang="en-US" dirty="0">
              <a:solidFill>
                <a:schemeClr val="tx1"/>
              </a:solidFill>
            </a:rPr>
            <a:t>SCA = Performance of a specific cross A×B</a:t>
          </a:r>
        </a:p>
      </dgm:t>
    </dgm:pt>
    <dgm:pt modelId="{E7406F58-1B8D-486F-BF9E-DE7C8AE77223}" type="parTrans" cxnId="{5DB7B038-AAA0-44E7-BED8-794B09D17486}">
      <dgm:prSet/>
      <dgm:spPr/>
      <dgm:t>
        <a:bodyPr/>
        <a:lstStyle/>
        <a:p>
          <a:endParaRPr lang="en-US"/>
        </a:p>
      </dgm:t>
    </dgm:pt>
    <dgm:pt modelId="{078830EB-EE30-46A4-AAB9-75D561B72D87}" type="sibTrans" cxnId="{5DB7B038-AAA0-44E7-BED8-794B09D17486}">
      <dgm:prSet/>
      <dgm:spPr/>
      <dgm:t>
        <a:bodyPr/>
        <a:lstStyle/>
        <a:p>
          <a:endParaRPr lang="en-US"/>
        </a:p>
      </dgm:t>
    </dgm:pt>
    <dgm:pt modelId="{49E6862D-C98A-4B3E-B3C2-8F591D7CB604}">
      <dgm:prSet/>
      <dgm:spPr/>
      <dgm:t>
        <a:bodyPr/>
        <a:lstStyle/>
        <a:p>
          <a:r>
            <a:rPr lang="en-US" dirty="0">
              <a:solidFill>
                <a:schemeClr val="tx1"/>
              </a:solidFill>
            </a:rPr>
            <a:t>Good parent A + Good parent B = ???</a:t>
          </a:r>
        </a:p>
      </dgm:t>
    </dgm:pt>
    <dgm:pt modelId="{1E0C4E3E-73C0-4533-9F18-FFF155E02A9D}" type="parTrans" cxnId="{89283666-E697-430F-AE15-36188BD4ABDF}">
      <dgm:prSet/>
      <dgm:spPr/>
      <dgm:t>
        <a:bodyPr/>
        <a:lstStyle/>
        <a:p>
          <a:endParaRPr lang="en-US"/>
        </a:p>
      </dgm:t>
    </dgm:pt>
    <dgm:pt modelId="{60C37EF3-EB89-4B50-A6A8-3A4509F7D0E6}" type="sibTrans" cxnId="{89283666-E697-430F-AE15-36188BD4ABDF}">
      <dgm:prSet/>
      <dgm:spPr/>
      <dgm:t>
        <a:bodyPr/>
        <a:lstStyle/>
        <a:p>
          <a:endParaRPr lang="en-US"/>
        </a:p>
      </dgm:t>
    </dgm:pt>
    <dgm:pt modelId="{7FBB6D4E-E9D4-4577-97BC-CF6567F77DED}">
      <dgm:prSet/>
      <dgm:spPr/>
      <dgm:t>
        <a:bodyPr/>
        <a:lstStyle/>
        <a:p>
          <a:r>
            <a:rPr lang="en-US"/>
            <a:t>• Could be: Amazing hybrid (+SCA)</a:t>
          </a:r>
        </a:p>
      </dgm:t>
    </dgm:pt>
    <dgm:pt modelId="{A184C873-4956-464D-9FE9-C71110E66E68}" type="parTrans" cxnId="{02FBEA11-9018-416A-86A4-743D839F3BFC}">
      <dgm:prSet/>
      <dgm:spPr/>
      <dgm:t>
        <a:bodyPr/>
        <a:lstStyle/>
        <a:p>
          <a:endParaRPr lang="en-US"/>
        </a:p>
      </dgm:t>
    </dgm:pt>
    <dgm:pt modelId="{DF78BDAE-63DB-476C-8ADA-6A9EA25CFC9F}" type="sibTrans" cxnId="{02FBEA11-9018-416A-86A4-743D839F3BFC}">
      <dgm:prSet/>
      <dgm:spPr/>
      <dgm:t>
        <a:bodyPr/>
        <a:lstStyle/>
        <a:p>
          <a:endParaRPr lang="en-US"/>
        </a:p>
      </dgm:t>
    </dgm:pt>
    <dgm:pt modelId="{88156873-EAA1-4390-8BD3-F6BEBC2DC936}">
      <dgm:prSet/>
      <dgm:spPr/>
      <dgm:t>
        <a:bodyPr/>
        <a:lstStyle/>
        <a:p>
          <a:r>
            <a:rPr lang="en-US"/>
            <a:t>• Could be: Disappointing hybrid (-SCA)</a:t>
          </a:r>
        </a:p>
      </dgm:t>
    </dgm:pt>
    <dgm:pt modelId="{EDE2042D-9072-4A5A-BE3F-FFF75B1C8800}" type="parTrans" cxnId="{E442AFF3-7C2F-4DD9-A032-783E05EDCE59}">
      <dgm:prSet/>
      <dgm:spPr/>
      <dgm:t>
        <a:bodyPr/>
        <a:lstStyle/>
        <a:p>
          <a:endParaRPr lang="en-US"/>
        </a:p>
      </dgm:t>
    </dgm:pt>
    <dgm:pt modelId="{A0AE6E42-746F-4084-81AB-7C03FAC4E531}" type="sibTrans" cxnId="{E442AFF3-7C2F-4DD9-A032-783E05EDCE59}">
      <dgm:prSet/>
      <dgm:spPr/>
      <dgm:t>
        <a:bodyPr/>
        <a:lstStyle/>
        <a:p>
          <a:endParaRPr lang="en-US"/>
        </a:p>
      </dgm:t>
    </dgm:pt>
    <dgm:pt modelId="{49A1C3EC-702A-5945-B3A2-5F953C247C08}" type="pres">
      <dgm:prSet presAssocID="{5C9ACE33-1ABD-4172-A8E9-940098ED50A8}" presName="Name0" presStyleCnt="0">
        <dgm:presLayoutVars>
          <dgm:dir/>
          <dgm:animLvl val="lvl"/>
          <dgm:resizeHandles val="exact"/>
        </dgm:presLayoutVars>
      </dgm:prSet>
      <dgm:spPr/>
    </dgm:pt>
    <dgm:pt modelId="{3B67F646-008B-4B4C-A044-A95947BA1E00}" type="pres">
      <dgm:prSet presAssocID="{49E6862D-C98A-4B3E-B3C2-8F591D7CB604}" presName="boxAndChildren" presStyleCnt="0"/>
      <dgm:spPr/>
    </dgm:pt>
    <dgm:pt modelId="{AF017165-1DD9-FF44-8C8E-4F732691D78B}" type="pres">
      <dgm:prSet presAssocID="{49E6862D-C98A-4B3E-B3C2-8F591D7CB604}" presName="parentTextBox" presStyleLbl="node1" presStyleIdx="0" presStyleCnt="2"/>
      <dgm:spPr/>
    </dgm:pt>
    <dgm:pt modelId="{FCE9FAFD-3E40-FB45-A485-EA9A354DF90C}" type="pres">
      <dgm:prSet presAssocID="{49E6862D-C98A-4B3E-B3C2-8F591D7CB604}" presName="entireBox" presStyleLbl="node1" presStyleIdx="0" presStyleCnt="2"/>
      <dgm:spPr/>
    </dgm:pt>
    <dgm:pt modelId="{3C90852D-39BD-1E44-BEA8-6062F83FB05F}" type="pres">
      <dgm:prSet presAssocID="{49E6862D-C98A-4B3E-B3C2-8F591D7CB604}" presName="descendantBox" presStyleCnt="0"/>
      <dgm:spPr/>
    </dgm:pt>
    <dgm:pt modelId="{5E79560E-3012-7E40-B34D-39691214C988}" type="pres">
      <dgm:prSet presAssocID="{7FBB6D4E-E9D4-4577-97BC-CF6567F77DED}" presName="childTextBox" presStyleLbl="fgAccFollowNode1" presStyleIdx="0" presStyleCnt="2">
        <dgm:presLayoutVars>
          <dgm:bulletEnabled val="1"/>
        </dgm:presLayoutVars>
      </dgm:prSet>
      <dgm:spPr/>
    </dgm:pt>
    <dgm:pt modelId="{E415B191-9D42-2E41-8133-A3D430C2B182}" type="pres">
      <dgm:prSet presAssocID="{88156873-EAA1-4390-8BD3-F6BEBC2DC936}" presName="childTextBox" presStyleLbl="fgAccFollowNode1" presStyleIdx="1" presStyleCnt="2">
        <dgm:presLayoutVars>
          <dgm:bulletEnabled val="1"/>
        </dgm:presLayoutVars>
      </dgm:prSet>
      <dgm:spPr/>
    </dgm:pt>
    <dgm:pt modelId="{78271516-27E9-8C4E-ADAB-7C41BC47A5EA}" type="pres">
      <dgm:prSet presAssocID="{078830EB-EE30-46A4-AAB9-75D561B72D87}" presName="sp" presStyleCnt="0"/>
      <dgm:spPr/>
    </dgm:pt>
    <dgm:pt modelId="{35A0F9B4-99D3-1545-8E7C-D229A38B08FD}" type="pres">
      <dgm:prSet presAssocID="{4C083C33-C239-443B-95A3-8F403DF34222}" presName="arrowAndChildren" presStyleCnt="0"/>
      <dgm:spPr/>
    </dgm:pt>
    <dgm:pt modelId="{91B6623A-09B7-FB45-A10A-25441DB3DD66}" type="pres">
      <dgm:prSet presAssocID="{4C083C33-C239-443B-95A3-8F403DF34222}" presName="parentTextArrow" presStyleLbl="node1" presStyleIdx="1" presStyleCnt="2"/>
      <dgm:spPr/>
    </dgm:pt>
  </dgm:ptLst>
  <dgm:cxnLst>
    <dgm:cxn modelId="{02FBEA11-9018-416A-86A4-743D839F3BFC}" srcId="{49E6862D-C98A-4B3E-B3C2-8F591D7CB604}" destId="{7FBB6D4E-E9D4-4577-97BC-CF6567F77DED}" srcOrd="0" destOrd="0" parTransId="{A184C873-4956-464D-9FE9-C71110E66E68}" sibTransId="{DF78BDAE-63DB-476C-8ADA-6A9EA25CFC9F}"/>
    <dgm:cxn modelId="{9A81251A-8AF6-3740-A879-A50D0539585D}" type="presOf" srcId="{7FBB6D4E-E9D4-4577-97BC-CF6567F77DED}" destId="{5E79560E-3012-7E40-B34D-39691214C988}" srcOrd="0" destOrd="0" presId="urn:microsoft.com/office/officeart/2005/8/layout/process4"/>
    <dgm:cxn modelId="{5DB7B038-AAA0-44E7-BED8-794B09D17486}" srcId="{5C9ACE33-1ABD-4172-A8E9-940098ED50A8}" destId="{4C083C33-C239-443B-95A3-8F403DF34222}" srcOrd="0" destOrd="0" parTransId="{E7406F58-1B8D-486F-BF9E-DE7C8AE77223}" sibTransId="{078830EB-EE30-46A4-AAB9-75D561B72D87}"/>
    <dgm:cxn modelId="{0328B363-5616-AF4D-9C5E-FDB0269BBB40}" type="presOf" srcId="{4C083C33-C239-443B-95A3-8F403DF34222}" destId="{91B6623A-09B7-FB45-A10A-25441DB3DD66}" srcOrd="0" destOrd="0" presId="urn:microsoft.com/office/officeart/2005/8/layout/process4"/>
    <dgm:cxn modelId="{89283666-E697-430F-AE15-36188BD4ABDF}" srcId="{5C9ACE33-1ABD-4172-A8E9-940098ED50A8}" destId="{49E6862D-C98A-4B3E-B3C2-8F591D7CB604}" srcOrd="1" destOrd="0" parTransId="{1E0C4E3E-73C0-4533-9F18-FFF155E02A9D}" sibTransId="{60C37EF3-EB89-4B50-A6A8-3A4509F7D0E6}"/>
    <dgm:cxn modelId="{CC78F28B-F14B-0F47-BB53-D6CB0F83D9B2}" type="presOf" srcId="{88156873-EAA1-4390-8BD3-F6BEBC2DC936}" destId="{E415B191-9D42-2E41-8133-A3D430C2B182}" srcOrd="0" destOrd="0" presId="urn:microsoft.com/office/officeart/2005/8/layout/process4"/>
    <dgm:cxn modelId="{2BEE00B8-3176-8E4B-86B8-168188C4DB56}" type="presOf" srcId="{49E6862D-C98A-4B3E-B3C2-8F591D7CB604}" destId="{FCE9FAFD-3E40-FB45-A485-EA9A354DF90C}" srcOrd="1" destOrd="0" presId="urn:microsoft.com/office/officeart/2005/8/layout/process4"/>
    <dgm:cxn modelId="{6A85C5D5-2DC7-2342-B0A7-C253A91F9B5B}" type="presOf" srcId="{49E6862D-C98A-4B3E-B3C2-8F591D7CB604}" destId="{AF017165-1DD9-FF44-8C8E-4F732691D78B}" srcOrd="0" destOrd="0" presId="urn:microsoft.com/office/officeart/2005/8/layout/process4"/>
    <dgm:cxn modelId="{E442AFF3-7C2F-4DD9-A032-783E05EDCE59}" srcId="{49E6862D-C98A-4B3E-B3C2-8F591D7CB604}" destId="{88156873-EAA1-4390-8BD3-F6BEBC2DC936}" srcOrd="1" destOrd="0" parTransId="{EDE2042D-9072-4A5A-BE3F-FFF75B1C8800}" sibTransId="{A0AE6E42-746F-4084-81AB-7C03FAC4E531}"/>
    <dgm:cxn modelId="{A077F4F6-D5DF-A046-AD46-A37ED9070E2B}" type="presOf" srcId="{5C9ACE33-1ABD-4172-A8E9-940098ED50A8}" destId="{49A1C3EC-702A-5945-B3A2-5F953C247C08}" srcOrd="0" destOrd="0" presId="urn:microsoft.com/office/officeart/2005/8/layout/process4"/>
    <dgm:cxn modelId="{F4E19BE5-A002-AB45-B819-36268B23F348}" type="presParOf" srcId="{49A1C3EC-702A-5945-B3A2-5F953C247C08}" destId="{3B67F646-008B-4B4C-A044-A95947BA1E00}" srcOrd="0" destOrd="0" presId="urn:microsoft.com/office/officeart/2005/8/layout/process4"/>
    <dgm:cxn modelId="{B4A8E5AF-ADF7-B644-9972-18E3C0C90C55}" type="presParOf" srcId="{3B67F646-008B-4B4C-A044-A95947BA1E00}" destId="{AF017165-1DD9-FF44-8C8E-4F732691D78B}" srcOrd="0" destOrd="0" presId="urn:microsoft.com/office/officeart/2005/8/layout/process4"/>
    <dgm:cxn modelId="{DDC7C77D-8574-6D4E-AAA1-C2C48B8CB4AD}" type="presParOf" srcId="{3B67F646-008B-4B4C-A044-A95947BA1E00}" destId="{FCE9FAFD-3E40-FB45-A485-EA9A354DF90C}" srcOrd="1" destOrd="0" presId="urn:microsoft.com/office/officeart/2005/8/layout/process4"/>
    <dgm:cxn modelId="{7F0B5F24-3B4B-0F42-920D-66182310866C}" type="presParOf" srcId="{3B67F646-008B-4B4C-A044-A95947BA1E00}" destId="{3C90852D-39BD-1E44-BEA8-6062F83FB05F}" srcOrd="2" destOrd="0" presId="urn:microsoft.com/office/officeart/2005/8/layout/process4"/>
    <dgm:cxn modelId="{8240DD18-0986-FC49-812F-D6921C5487DA}" type="presParOf" srcId="{3C90852D-39BD-1E44-BEA8-6062F83FB05F}" destId="{5E79560E-3012-7E40-B34D-39691214C988}" srcOrd="0" destOrd="0" presId="urn:microsoft.com/office/officeart/2005/8/layout/process4"/>
    <dgm:cxn modelId="{BDA125AE-799F-5A4D-A16E-A7646FCC935E}" type="presParOf" srcId="{3C90852D-39BD-1E44-BEA8-6062F83FB05F}" destId="{E415B191-9D42-2E41-8133-A3D430C2B182}" srcOrd="1" destOrd="0" presId="urn:microsoft.com/office/officeart/2005/8/layout/process4"/>
    <dgm:cxn modelId="{00EE7160-AC74-1943-B02F-C4C9B7369645}" type="presParOf" srcId="{49A1C3EC-702A-5945-B3A2-5F953C247C08}" destId="{78271516-27E9-8C4E-ADAB-7C41BC47A5EA}" srcOrd="1" destOrd="0" presId="urn:microsoft.com/office/officeart/2005/8/layout/process4"/>
    <dgm:cxn modelId="{64C991D5-B778-924F-A410-6BAD09E2D4B7}" type="presParOf" srcId="{49A1C3EC-702A-5945-B3A2-5F953C247C08}" destId="{35A0F9B4-99D3-1545-8E7C-D229A38B08FD}" srcOrd="2" destOrd="0" presId="urn:microsoft.com/office/officeart/2005/8/layout/process4"/>
    <dgm:cxn modelId="{10114E81-3432-AF4F-9324-81C89F347D38}" type="presParOf" srcId="{35A0F9B4-99D3-1545-8E7C-D229A38B08FD}" destId="{91B6623A-09B7-FB45-A10A-25441DB3DD6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8D0C32-A6AA-45C3-AB78-2A3365A98DD6}"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6F9C4CC7-79EA-4472-A490-FFFEEF3B63F7}">
      <dgm:prSet/>
      <dgm:spPr/>
      <dgm:t>
        <a:bodyPr/>
        <a:lstStyle/>
        <a:p>
          <a:r>
            <a:rPr lang="en-US" dirty="0"/>
            <a:t>• 70% accuracy: Will you capture most top performers?</a:t>
          </a:r>
        </a:p>
      </dgm:t>
    </dgm:pt>
    <dgm:pt modelId="{71355C9D-D93C-4C8D-875A-446D239253E4}" type="parTrans" cxnId="{AE300A44-5C78-4D2B-B8DB-0AB842DBBA80}">
      <dgm:prSet/>
      <dgm:spPr/>
      <dgm:t>
        <a:bodyPr/>
        <a:lstStyle/>
        <a:p>
          <a:endParaRPr lang="en-US"/>
        </a:p>
      </dgm:t>
    </dgm:pt>
    <dgm:pt modelId="{81B4C589-401F-4395-A31B-C0A026B2D64B}" type="sibTrans" cxnId="{AE300A44-5C78-4D2B-B8DB-0AB842DBBA80}">
      <dgm:prSet/>
      <dgm:spPr/>
      <dgm:t>
        <a:bodyPr/>
        <a:lstStyle/>
        <a:p>
          <a:endParaRPr lang="en-US"/>
        </a:p>
      </dgm:t>
    </dgm:pt>
    <dgm:pt modelId="{55179CA9-196F-4F7C-BD3C-B27B2E794F04}">
      <dgm:prSet/>
      <dgm:spPr/>
      <dgm:t>
        <a:bodyPr/>
        <a:lstStyle/>
        <a:p>
          <a:r>
            <a:rPr lang="en-US" dirty="0"/>
            <a:t>• Cost of false negatives: Miss a commercial-quality hybrid</a:t>
          </a:r>
        </a:p>
      </dgm:t>
    </dgm:pt>
    <dgm:pt modelId="{6833E0ED-82C3-4E3C-BB21-BF3DBC8031B3}" type="parTrans" cxnId="{016467F6-13B4-4471-BB22-29AD28FEAB63}">
      <dgm:prSet/>
      <dgm:spPr/>
      <dgm:t>
        <a:bodyPr/>
        <a:lstStyle/>
        <a:p>
          <a:endParaRPr lang="en-US"/>
        </a:p>
      </dgm:t>
    </dgm:pt>
    <dgm:pt modelId="{1183B1F0-442A-44DA-BDDC-EE1FC29E1CF7}" type="sibTrans" cxnId="{016467F6-13B4-4471-BB22-29AD28FEAB63}">
      <dgm:prSet/>
      <dgm:spPr/>
      <dgm:t>
        <a:bodyPr/>
        <a:lstStyle/>
        <a:p>
          <a:endParaRPr lang="en-US"/>
        </a:p>
      </dgm:t>
    </dgm:pt>
    <dgm:pt modelId="{7EBCE814-23DE-4529-A726-8A456E6CDA99}">
      <dgm:prSet/>
      <dgm:spPr/>
      <dgm:t>
        <a:bodyPr/>
        <a:lstStyle/>
        <a:p>
          <a:r>
            <a:rPr lang="en-US"/>
            <a:t>• Cost of false positives: Waste AYT resources on poor hybrids</a:t>
          </a:r>
        </a:p>
      </dgm:t>
    </dgm:pt>
    <dgm:pt modelId="{46046778-7AB5-4B8A-8FFB-51E8C0000657}" type="parTrans" cxnId="{648B5AFC-BD92-43C0-AFF4-307B6AC897B0}">
      <dgm:prSet/>
      <dgm:spPr/>
      <dgm:t>
        <a:bodyPr/>
        <a:lstStyle/>
        <a:p>
          <a:endParaRPr lang="en-US"/>
        </a:p>
      </dgm:t>
    </dgm:pt>
    <dgm:pt modelId="{8CC75430-EA8B-40E8-A6DE-3D201679175C}" type="sibTrans" cxnId="{648B5AFC-BD92-43C0-AFF4-307B6AC897B0}">
      <dgm:prSet/>
      <dgm:spPr/>
      <dgm:t>
        <a:bodyPr/>
        <a:lstStyle/>
        <a:p>
          <a:endParaRPr lang="en-US"/>
        </a:p>
      </dgm:t>
    </dgm:pt>
    <dgm:pt modelId="{4B6B6AA8-FC0E-4C5A-9A8E-7FFCA9B675D6}">
      <dgm:prSet/>
      <dgm:spPr/>
      <dgm:t>
        <a:bodyPr/>
        <a:lstStyle/>
        <a:p>
          <a:r>
            <a:rPr lang="en-US"/>
            <a:t>• Net savings: ~$435K but did you miss the best hybrid?</a:t>
          </a:r>
        </a:p>
      </dgm:t>
    </dgm:pt>
    <dgm:pt modelId="{B3AE98DD-5CAF-4BB1-AC67-AE1E71AA32FC}" type="parTrans" cxnId="{40231835-421C-4625-9591-32567B0AA1A7}">
      <dgm:prSet/>
      <dgm:spPr/>
      <dgm:t>
        <a:bodyPr/>
        <a:lstStyle/>
        <a:p>
          <a:endParaRPr lang="en-US"/>
        </a:p>
      </dgm:t>
    </dgm:pt>
    <dgm:pt modelId="{5C7BA89B-723E-4CEA-8C4E-9F80750C369F}" type="sibTrans" cxnId="{40231835-421C-4625-9591-32567B0AA1A7}">
      <dgm:prSet/>
      <dgm:spPr/>
      <dgm:t>
        <a:bodyPr/>
        <a:lstStyle/>
        <a:p>
          <a:endParaRPr lang="en-US"/>
        </a:p>
      </dgm:t>
    </dgm:pt>
    <dgm:pt modelId="{79623974-3FC0-2442-AF70-0A63FFD5E8D5}" type="pres">
      <dgm:prSet presAssocID="{778D0C32-A6AA-45C3-AB78-2A3365A98DD6}" presName="outerComposite" presStyleCnt="0">
        <dgm:presLayoutVars>
          <dgm:chMax val="5"/>
          <dgm:dir/>
          <dgm:resizeHandles val="exact"/>
        </dgm:presLayoutVars>
      </dgm:prSet>
      <dgm:spPr/>
    </dgm:pt>
    <dgm:pt modelId="{F276D29D-9E65-BD47-9850-A8C9D7BEB205}" type="pres">
      <dgm:prSet presAssocID="{778D0C32-A6AA-45C3-AB78-2A3365A98DD6}" presName="dummyMaxCanvas" presStyleCnt="0">
        <dgm:presLayoutVars/>
      </dgm:prSet>
      <dgm:spPr/>
    </dgm:pt>
    <dgm:pt modelId="{FBDF58B5-42B4-F543-9F4F-ED6BAA183075}" type="pres">
      <dgm:prSet presAssocID="{778D0C32-A6AA-45C3-AB78-2A3365A98DD6}" presName="FourNodes_1" presStyleLbl="node1" presStyleIdx="0" presStyleCnt="4">
        <dgm:presLayoutVars>
          <dgm:bulletEnabled val="1"/>
        </dgm:presLayoutVars>
      </dgm:prSet>
      <dgm:spPr/>
    </dgm:pt>
    <dgm:pt modelId="{B779CB4A-412C-9A40-8BFA-D88AFF1D4DB5}" type="pres">
      <dgm:prSet presAssocID="{778D0C32-A6AA-45C3-AB78-2A3365A98DD6}" presName="FourNodes_2" presStyleLbl="node1" presStyleIdx="1" presStyleCnt="4">
        <dgm:presLayoutVars>
          <dgm:bulletEnabled val="1"/>
        </dgm:presLayoutVars>
      </dgm:prSet>
      <dgm:spPr/>
    </dgm:pt>
    <dgm:pt modelId="{38D90526-303D-224C-A52D-0D353D6EE802}" type="pres">
      <dgm:prSet presAssocID="{778D0C32-A6AA-45C3-AB78-2A3365A98DD6}" presName="FourNodes_3" presStyleLbl="node1" presStyleIdx="2" presStyleCnt="4">
        <dgm:presLayoutVars>
          <dgm:bulletEnabled val="1"/>
        </dgm:presLayoutVars>
      </dgm:prSet>
      <dgm:spPr/>
    </dgm:pt>
    <dgm:pt modelId="{74BAF526-4119-FA48-895F-A1B616D5A502}" type="pres">
      <dgm:prSet presAssocID="{778D0C32-A6AA-45C3-AB78-2A3365A98DD6}" presName="FourNodes_4" presStyleLbl="node1" presStyleIdx="3" presStyleCnt="4">
        <dgm:presLayoutVars>
          <dgm:bulletEnabled val="1"/>
        </dgm:presLayoutVars>
      </dgm:prSet>
      <dgm:spPr/>
    </dgm:pt>
    <dgm:pt modelId="{7A78DFC7-E8F3-9E46-A4CA-D2BEC97A410D}" type="pres">
      <dgm:prSet presAssocID="{778D0C32-A6AA-45C3-AB78-2A3365A98DD6}" presName="FourConn_1-2" presStyleLbl="fgAccFollowNode1" presStyleIdx="0" presStyleCnt="3">
        <dgm:presLayoutVars>
          <dgm:bulletEnabled val="1"/>
        </dgm:presLayoutVars>
      </dgm:prSet>
      <dgm:spPr/>
    </dgm:pt>
    <dgm:pt modelId="{AA24693B-078D-184A-9992-3794DA94B001}" type="pres">
      <dgm:prSet presAssocID="{778D0C32-A6AA-45C3-AB78-2A3365A98DD6}" presName="FourConn_2-3" presStyleLbl="fgAccFollowNode1" presStyleIdx="1" presStyleCnt="3">
        <dgm:presLayoutVars>
          <dgm:bulletEnabled val="1"/>
        </dgm:presLayoutVars>
      </dgm:prSet>
      <dgm:spPr/>
    </dgm:pt>
    <dgm:pt modelId="{C0B661F0-4BC8-9B4D-B627-472628916992}" type="pres">
      <dgm:prSet presAssocID="{778D0C32-A6AA-45C3-AB78-2A3365A98DD6}" presName="FourConn_3-4" presStyleLbl="fgAccFollowNode1" presStyleIdx="2" presStyleCnt="3">
        <dgm:presLayoutVars>
          <dgm:bulletEnabled val="1"/>
        </dgm:presLayoutVars>
      </dgm:prSet>
      <dgm:spPr/>
    </dgm:pt>
    <dgm:pt modelId="{D3EBC181-6268-504B-8B0A-8ECF970F92BE}" type="pres">
      <dgm:prSet presAssocID="{778D0C32-A6AA-45C3-AB78-2A3365A98DD6}" presName="FourNodes_1_text" presStyleLbl="node1" presStyleIdx="3" presStyleCnt="4">
        <dgm:presLayoutVars>
          <dgm:bulletEnabled val="1"/>
        </dgm:presLayoutVars>
      </dgm:prSet>
      <dgm:spPr/>
    </dgm:pt>
    <dgm:pt modelId="{D65520CB-DA0D-3047-A2D2-88C24B4AC7A2}" type="pres">
      <dgm:prSet presAssocID="{778D0C32-A6AA-45C3-AB78-2A3365A98DD6}" presName="FourNodes_2_text" presStyleLbl="node1" presStyleIdx="3" presStyleCnt="4">
        <dgm:presLayoutVars>
          <dgm:bulletEnabled val="1"/>
        </dgm:presLayoutVars>
      </dgm:prSet>
      <dgm:spPr/>
    </dgm:pt>
    <dgm:pt modelId="{BAD0AF25-7015-F744-A5D3-F9B34F173C6F}" type="pres">
      <dgm:prSet presAssocID="{778D0C32-A6AA-45C3-AB78-2A3365A98DD6}" presName="FourNodes_3_text" presStyleLbl="node1" presStyleIdx="3" presStyleCnt="4">
        <dgm:presLayoutVars>
          <dgm:bulletEnabled val="1"/>
        </dgm:presLayoutVars>
      </dgm:prSet>
      <dgm:spPr/>
    </dgm:pt>
    <dgm:pt modelId="{7B8CB012-E26A-4743-AA4D-97AEF46F15C9}" type="pres">
      <dgm:prSet presAssocID="{778D0C32-A6AA-45C3-AB78-2A3365A98DD6}" presName="FourNodes_4_text" presStyleLbl="node1" presStyleIdx="3" presStyleCnt="4">
        <dgm:presLayoutVars>
          <dgm:bulletEnabled val="1"/>
        </dgm:presLayoutVars>
      </dgm:prSet>
      <dgm:spPr/>
    </dgm:pt>
  </dgm:ptLst>
  <dgm:cxnLst>
    <dgm:cxn modelId="{00BB5801-EEB9-BE42-9C5D-E0895EC75D80}" type="presOf" srcId="{4B6B6AA8-FC0E-4C5A-9A8E-7FFCA9B675D6}" destId="{74BAF526-4119-FA48-895F-A1B616D5A502}" srcOrd="0" destOrd="0" presId="urn:microsoft.com/office/officeart/2005/8/layout/vProcess5"/>
    <dgm:cxn modelId="{23896C0B-5ECB-6047-9EF6-7D98C9FC5236}" type="presOf" srcId="{6F9C4CC7-79EA-4472-A490-FFFEEF3B63F7}" destId="{FBDF58B5-42B4-F543-9F4F-ED6BAA183075}" srcOrd="0" destOrd="0" presId="urn:microsoft.com/office/officeart/2005/8/layout/vProcess5"/>
    <dgm:cxn modelId="{B82EDA20-F5F1-7447-A7D2-159A1EA37C2A}" type="presOf" srcId="{8CC75430-EA8B-40E8-A6DE-3D201679175C}" destId="{C0B661F0-4BC8-9B4D-B627-472628916992}" srcOrd="0" destOrd="0" presId="urn:microsoft.com/office/officeart/2005/8/layout/vProcess5"/>
    <dgm:cxn modelId="{C4115B2A-EFA2-4F47-8CDC-058FD1A2AA70}" type="presOf" srcId="{7EBCE814-23DE-4529-A726-8A456E6CDA99}" destId="{BAD0AF25-7015-F744-A5D3-F9B34F173C6F}" srcOrd="1" destOrd="0" presId="urn:microsoft.com/office/officeart/2005/8/layout/vProcess5"/>
    <dgm:cxn modelId="{EED45134-E8A4-114B-8221-32ABD85F0875}" type="presOf" srcId="{4B6B6AA8-FC0E-4C5A-9A8E-7FFCA9B675D6}" destId="{7B8CB012-E26A-4743-AA4D-97AEF46F15C9}" srcOrd="1" destOrd="0" presId="urn:microsoft.com/office/officeart/2005/8/layout/vProcess5"/>
    <dgm:cxn modelId="{40231835-421C-4625-9591-32567B0AA1A7}" srcId="{778D0C32-A6AA-45C3-AB78-2A3365A98DD6}" destId="{4B6B6AA8-FC0E-4C5A-9A8E-7FFCA9B675D6}" srcOrd="3" destOrd="0" parTransId="{B3AE98DD-5CAF-4BB1-AC67-AE1E71AA32FC}" sibTransId="{5C7BA89B-723E-4CEA-8C4E-9F80750C369F}"/>
    <dgm:cxn modelId="{AE300A44-5C78-4D2B-B8DB-0AB842DBBA80}" srcId="{778D0C32-A6AA-45C3-AB78-2A3365A98DD6}" destId="{6F9C4CC7-79EA-4472-A490-FFFEEF3B63F7}" srcOrd="0" destOrd="0" parTransId="{71355C9D-D93C-4C8D-875A-446D239253E4}" sibTransId="{81B4C589-401F-4395-A31B-C0A026B2D64B}"/>
    <dgm:cxn modelId="{77799552-9568-EC4B-AEE4-C2ADEE4280FC}" type="presOf" srcId="{1183B1F0-442A-44DA-BDDC-EE1FC29E1CF7}" destId="{AA24693B-078D-184A-9992-3794DA94B001}" srcOrd="0" destOrd="0" presId="urn:microsoft.com/office/officeart/2005/8/layout/vProcess5"/>
    <dgm:cxn modelId="{DEA03D5D-A8DB-1F49-A458-B9A947F550F1}" type="presOf" srcId="{778D0C32-A6AA-45C3-AB78-2A3365A98DD6}" destId="{79623974-3FC0-2442-AF70-0A63FFD5E8D5}" srcOrd="0" destOrd="0" presId="urn:microsoft.com/office/officeart/2005/8/layout/vProcess5"/>
    <dgm:cxn modelId="{553E477D-C599-EE45-AF13-DBCD8C4A670D}" type="presOf" srcId="{55179CA9-196F-4F7C-BD3C-B27B2E794F04}" destId="{B779CB4A-412C-9A40-8BFA-D88AFF1D4DB5}" srcOrd="0" destOrd="0" presId="urn:microsoft.com/office/officeart/2005/8/layout/vProcess5"/>
    <dgm:cxn modelId="{C5032692-62DF-CB4E-96FF-D107C1FA716F}" type="presOf" srcId="{7EBCE814-23DE-4529-A726-8A456E6CDA99}" destId="{38D90526-303D-224C-A52D-0D353D6EE802}" srcOrd="0" destOrd="0" presId="urn:microsoft.com/office/officeart/2005/8/layout/vProcess5"/>
    <dgm:cxn modelId="{EB645895-A156-FF45-BDA5-EB84D6816387}" type="presOf" srcId="{6F9C4CC7-79EA-4472-A490-FFFEEF3B63F7}" destId="{D3EBC181-6268-504B-8B0A-8ECF970F92BE}" srcOrd="1" destOrd="0" presId="urn:microsoft.com/office/officeart/2005/8/layout/vProcess5"/>
    <dgm:cxn modelId="{6659FAA7-0EE6-4744-B94B-83C56C5F274B}" type="presOf" srcId="{81B4C589-401F-4395-A31B-C0A026B2D64B}" destId="{7A78DFC7-E8F3-9E46-A4CA-D2BEC97A410D}" srcOrd="0" destOrd="0" presId="urn:microsoft.com/office/officeart/2005/8/layout/vProcess5"/>
    <dgm:cxn modelId="{6FED48AE-58BA-FC45-9782-8437C965E244}" type="presOf" srcId="{55179CA9-196F-4F7C-BD3C-B27B2E794F04}" destId="{D65520CB-DA0D-3047-A2D2-88C24B4AC7A2}" srcOrd="1" destOrd="0" presId="urn:microsoft.com/office/officeart/2005/8/layout/vProcess5"/>
    <dgm:cxn modelId="{016467F6-13B4-4471-BB22-29AD28FEAB63}" srcId="{778D0C32-A6AA-45C3-AB78-2A3365A98DD6}" destId="{55179CA9-196F-4F7C-BD3C-B27B2E794F04}" srcOrd="1" destOrd="0" parTransId="{6833E0ED-82C3-4E3C-BB21-BF3DBC8031B3}" sibTransId="{1183B1F0-442A-44DA-BDDC-EE1FC29E1CF7}"/>
    <dgm:cxn modelId="{648B5AFC-BD92-43C0-AFF4-307B6AC897B0}" srcId="{778D0C32-A6AA-45C3-AB78-2A3365A98DD6}" destId="{7EBCE814-23DE-4529-A726-8A456E6CDA99}" srcOrd="2" destOrd="0" parTransId="{46046778-7AB5-4B8A-8FFB-51E8C0000657}" sibTransId="{8CC75430-EA8B-40E8-A6DE-3D201679175C}"/>
    <dgm:cxn modelId="{F9C52A20-57EF-1544-88BA-3E8EEA352A41}" type="presParOf" srcId="{79623974-3FC0-2442-AF70-0A63FFD5E8D5}" destId="{F276D29D-9E65-BD47-9850-A8C9D7BEB205}" srcOrd="0" destOrd="0" presId="urn:microsoft.com/office/officeart/2005/8/layout/vProcess5"/>
    <dgm:cxn modelId="{E5382EA4-BAF5-F34C-A038-70425971EC37}" type="presParOf" srcId="{79623974-3FC0-2442-AF70-0A63FFD5E8D5}" destId="{FBDF58B5-42B4-F543-9F4F-ED6BAA183075}" srcOrd="1" destOrd="0" presId="urn:microsoft.com/office/officeart/2005/8/layout/vProcess5"/>
    <dgm:cxn modelId="{BD85D497-2C73-8044-BC0B-E6204DA35B43}" type="presParOf" srcId="{79623974-3FC0-2442-AF70-0A63FFD5E8D5}" destId="{B779CB4A-412C-9A40-8BFA-D88AFF1D4DB5}" srcOrd="2" destOrd="0" presId="urn:microsoft.com/office/officeart/2005/8/layout/vProcess5"/>
    <dgm:cxn modelId="{B5B3D555-D7CA-5F44-B8A7-B2C8C55E1A30}" type="presParOf" srcId="{79623974-3FC0-2442-AF70-0A63FFD5E8D5}" destId="{38D90526-303D-224C-A52D-0D353D6EE802}" srcOrd="3" destOrd="0" presId="urn:microsoft.com/office/officeart/2005/8/layout/vProcess5"/>
    <dgm:cxn modelId="{D3808A8E-C970-7544-889B-39CB99EA36E5}" type="presParOf" srcId="{79623974-3FC0-2442-AF70-0A63FFD5E8D5}" destId="{74BAF526-4119-FA48-895F-A1B616D5A502}" srcOrd="4" destOrd="0" presId="urn:microsoft.com/office/officeart/2005/8/layout/vProcess5"/>
    <dgm:cxn modelId="{1A07C878-E779-2441-BB51-BFFFCFD230F3}" type="presParOf" srcId="{79623974-3FC0-2442-AF70-0A63FFD5E8D5}" destId="{7A78DFC7-E8F3-9E46-A4CA-D2BEC97A410D}" srcOrd="5" destOrd="0" presId="urn:microsoft.com/office/officeart/2005/8/layout/vProcess5"/>
    <dgm:cxn modelId="{1E3AEE40-C6D3-754B-95D6-F42E55790F30}" type="presParOf" srcId="{79623974-3FC0-2442-AF70-0A63FFD5E8D5}" destId="{AA24693B-078D-184A-9992-3794DA94B001}" srcOrd="6" destOrd="0" presId="urn:microsoft.com/office/officeart/2005/8/layout/vProcess5"/>
    <dgm:cxn modelId="{273459E2-5834-A342-9C34-CDD8532268CB}" type="presParOf" srcId="{79623974-3FC0-2442-AF70-0A63FFD5E8D5}" destId="{C0B661F0-4BC8-9B4D-B627-472628916992}" srcOrd="7" destOrd="0" presId="urn:microsoft.com/office/officeart/2005/8/layout/vProcess5"/>
    <dgm:cxn modelId="{DA7089BF-1E82-9A4D-8024-7B28E5F473FA}" type="presParOf" srcId="{79623974-3FC0-2442-AF70-0A63FFD5E8D5}" destId="{D3EBC181-6268-504B-8B0A-8ECF970F92BE}" srcOrd="8" destOrd="0" presId="urn:microsoft.com/office/officeart/2005/8/layout/vProcess5"/>
    <dgm:cxn modelId="{2AE0ED1B-F82C-5042-B251-45423C090AA6}" type="presParOf" srcId="{79623974-3FC0-2442-AF70-0A63FFD5E8D5}" destId="{D65520CB-DA0D-3047-A2D2-88C24B4AC7A2}" srcOrd="9" destOrd="0" presId="urn:microsoft.com/office/officeart/2005/8/layout/vProcess5"/>
    <dgm:cxn modelId="{988BF0D4-176A-2243-8E74-0CCAF9C5458F}" type="presParOf" srcId="{79623974-3FC0-2442-AF70-0A63FFD5E8D5}" destId="{BAD0AF25-7015-F744-A5D3-F9B34F173C6F}" srcOrd="10" destOrd="0" presId="urn:microsoft.com/office/officeart/2005/8/layout/vProcess5"/>
    <dgm:cxn modelId="{62518233-F925-5146-80BD-4B4CF933D77C}" type="presParOf" srcId="{79623974-3FC0-2442-AF70-0A63FFD5E8D5}" destId="{7B8CB012-E26A-4743-AA4D-97AEF46F15C9}"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9FF7823-D3AD-4F7B-9F02-6A914F5C51A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88686D9-12D2-40D1-BE48-07C74D2FA07C}">
      <dgm:prSet/>
      <dgm:spPr/>
      <dgm:t>
        <a:bodyPr/>
        <a:lstStyle/>
        <a:p>
          <a:r>
            <a:rPr lang="en-US"/>
            <a:t>1000 inbreds per pool = 1,000,000 possible crosses!</a:t>
          </a:r>
        </a:p>
      </dgm:t>
    </dgm:pt>
    <dgm:pt modelId="{D12AA39A-2740-4CBD-B01F-5ABCB1BD6328}" type="parTrans" cxnId="{9C06ED7C-C855-40D7-AD23-C1EBE91E0233}">
      <dgm:prSet/>
      <dgm:spPr/>
      <dgm:t>
        <a:bodyPr/>
        <a:lstStyle/>
        <a:p>
          <a:endParaRPr lang="en-US"/>
        </a:p>
      </dgm:t>
    </dgm:pt>
    <dgm:pt modelId="{7E02366D-CBA4-4F64-9438-563E28DBF7D1}" type="sibTrans" cxnId="{9C06ED7C-C855-40D7-AD23-C1EBE91E0233}">
      <dgm:prSet/>
      <dgm:spPr/>
      <dgm:t>
        <a:bodyPr/>
        <a:lstStyle/>
        <a:p>
          <a:endParaRPr lang="en-US"/>
        </a:p>
      </dgm:t>
    </dgm:pt>
    <dgm:pt modelId="{F6F7F65A-43C2-4E4F-8A31-283237F33B2B}">
      <dgm:prSet/>
      <dgm:spPr/>
      <dgm:t>
        <a:bodyPr/>
        <a:lstStyle/>
        <a:p>
          <a:r>
            <a:rPr lang="en-US"/>
            <a:t>How do we choose which crosses to make?</a:t>
          </a:r>
        </a:p>
      </dgm:t>
    </dgm:pt>
    <dgm:pt modelId="{475860B7-291D-4C33-877A-C9ACE5C6CEC2}" type="parTrans" cxnId="{F219C3EA-E013-4E76-BC7F-65BE35E4F8E0}">
      <dgm:prSet/>
      <dgm:spPr/>
      <dgm:t>
        <a:bodyPr/>
        <a:lstStyle/>
        <a:p>
          <a:endParaRPr lang="en-US"/>
        </a:p>
      </dgm:t>
    </dgm:pt>
    <dgm:pt modelId="{3D93777B-EF7A-44C7-88D1-F7522AB23F88}" type="sibTrans" cxnId="{F219C3EA-E013-4E76-BC7F-65BE35E4F8E0}">
      <dgm:prSet/>
      <dgm:spPr/>
      <dgm:t>
        <a:bodyPr/>
        <a:lstStyle/>
        <a:p>
          <a:endParaRPr lang="en-US"/>
        </a:p>
      </dgm:t>
    </dgm:pt>
    <dgm:pt modelId="{673F38F9-C2A4-3747-BDE4-4E951E97F1D4}" type="pres">
      <dgm:prSet presAssocID="{29FF7823-D3AD-4F7B-9F02-6A914F5C51A5}" presName="linear" presStyleCnt="0">
        <dgm:presLayoutVars>
          <dgm:animLvl val="lvl"/>
          <dgm:resizeHandles val="exact"/>
        </dgm:presLayoutVars>
      </dgm:prSet>
      <dgm:spPr/>
    </dgm:pt>
    <dgm:pt modelId="{305A7641-7C42-8849-AC47-F3BA9A219274}" type="pres">
      <dgm:prSet presAssocID="{F88686D9-12D2-40D1-BE48-07C74D2FA07C}" presName="parentText" presStyleLbl="node1" presStyleIdx="0" presStyleCnt="2">
        <dgm:presLayoutVars>
          <dgm:chMax val="0"/>
          <dgm:bulletEnabled val="1"/>
        </dgm:presLayoutVars>
      </dgm:prSet>
      <dgm:spPr/>
    </dgm:pt>
    <dgm:pt modelId="{EFF5A89C-10F8-BE43-9F75-B370AB534C7D}" type="pres">
      <dgm:prSet presAssocID="{7E02366D-CBA4-4F64-9438-563E28DBF7D1}" presName="spacer" presStyleCnt="0"/>
      <dgm:spPr/>
    </dgm:pt>
    <dgm:pt modelId="{824396E7-4A5B-5847-910E-476AF49D438E}" type="pres">
      <dgm:prSet presAssocID="{F6F7F65A-43C2-4E4F-8A31-283237F33B2B}" presName="parentText" presStyleLbl="node1" presStyleIdx="1" presStyleCnt="2">
        <dgm:presLayoutVars>
          <dgm:chMax val="0"/>
          <dgm:bulletEnabled val="1"/>
        </dgm:presLayoutVars>
      </dgm:prSet>
      <dgm:spPr/>
    </dgm:pt>
  </dgm:ptLst>
  <dgm:cxnLst>
    <dgm:cxn modelId="{9C06ED7C-C855-40D7-AD23-C1EBE91E0233}" srcId="{29FF7823-D3AD-4F7B-9F02-6A914F5C51A5}" destId="{F88686D9-12D2-40D1-BE48-07C74D2FA07C}" srcOrd="0" destOrd="0" parTransId="{D12AA39A-2740-4CBD-B01F-5ABCB1BD6328}" sibTransId="{7E02366D-CBA4-4F64-9438-563E28DBF7D1}"/>
    <dgm:cxn modelId="{F55E55A5-DCDA-EF41-BED0-205588D34E26}" type="presOf" srcId="{29FF7823-D3AD-4F7B-9F02-6A914F5C51A5}" destId="{673F38F9-C2A4-3747-BDE4-4E951E97F1D4}" srcOrd="0" destOrd="0" presId="urn:microsoft.com/office/officeart/2005/8/layout/vList2"/>
    <dgm:cxn modelId="{79922EA6-24D9-1245-88C6-0EDFDA20ABD7}" type="presOf" srcId="{F88686D9-12D2-40D1-BE48-07C74D2FA07C}" destId="{305A7641-7C42-8849-AC47-F3BA9A219274}" srcOrd="0" destOrd="0" presId="urn:microsoft.com/office/officeart/2005/8/layout/vList2"/>
    <dgm:cxn modelId="{F219C3EA-E013-4E76-BC7F-65BE35E4F8E0}" srcId="{29FF7823-D3AD-4F7B-9F02-6A914F5C51A5}" destId="{F6F7F65A-43C2-4E4F-8A31-283237F33B2B}" srcOrd="1" destOrd="0" parTransId="{475860B7-291D-4C33-877A-C9ACE5C6CEC2}" sibTransId="{3D93777B-EF7A-44C7-88D1-F7522AB23F88}"/>
    <dgm:cxn modelId="{22F240FF-65DB-C44A-990A-D1BEBFD311AB}" type="presOf" srcId="{F6F7F65A-43C2-4E4F-8A31-283237F33B2B}" destId="{824396E7-4A5B-5847-910E-476AF49D438E}" srcOrd="0" destOrd="0" presId="urn:microsoft.com/office/officeart/2005/8/layout/vList2"/>
    <dgm:cxn modelId="{FE540299-B8E5-124D-B660-A93AEF59BFC9}" type="presParOf" srcId="{673F38F9-C2A4-3747-BDE4-4E951E97F1D4}" destId="{305A7641-7C42-8849-AC47-F3BA9A219274}" srcOrd="0" destOrd="0" presId="urn:microsoft.com/office/officeart/2005/8/layout/vList2"/>
    <dgm:cxn modelId="{83BFC79C-EF54-2942-A468-EA43788E057B}" type="presParOf" srcId="{673F38F9-C2A4-3747-BDE4-4E951E97F1D4}" destId="{EFF5A89C-10F8-BE43-9F75-B370AB534C7D}" srcOrd="1" destOrd="0" presId="urn:microsoft.com/office/officeart/2005/8/layout/vList2"/>
    <dgm:cxn modelId="{376FEBBC-3163-DC4E-992C-0A8838488B2B}" type="presParOf" srcId="{673F38F9-C2A4-3747-BDE4-4E951E97F1D4}" destId="{824396E7-4A5B-5847-910E-476AF49D438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39B83F-30AE-481E-95CD-A6EBAF5DD03F}">
      <dsp:nvSpPr>
        <dsp:cNvPr id="0" name=""/>
        <dsp:cNvSpPr/>
      </dsp:nvSpPr>
      <dsp:spPr>
        <a:xfrm>
          <a:off x="0" y="502"/>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13E052-03CF-4DAF-ABEA-6D44731FA984}">
      <dsp:nvSpPr>
        <dsp:cNvPr id="0" name=""/>
        <dsp:cNvSpPr/>
      </dsp:nvSpPr>
      <dsp:spPr>
        <a:xfrm>
          <a:off x="209180" y="156091"/>
          <a:ext cx="380328" cy="3803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FF4E0E-6667-4490-8521-C06ECC6C9F7F}">
      <dsp:nvSpPr>
        <dsp:cNvPr id="0" name=""/>
        <dsp:cNvSpPr/>
      </dsp:nvSpPr>
      <dsp:spPr>
        <a:xfrm>
          <a:off x="798689" y="502"/>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100000"/>
            </a:lnSpc>
            <a:spcBef>
              <a:spcPct val="0"/>
            </a:spcBef>
            <a:spcAft>
              <a:spcPct val="35000"/>
            </a:spcAft>
            <a:buNone/>
          </a:pPr>
          <a:r>
            <a:rPr lang="en-US" sz="1600" kern="1200" dirty="0"/>
            <a:t>Session 1: Commercial hybrid seed (10 min)</a:t>
          </a:r>
        </a:p>
      </dsp:txBody>
      <dsp:txXfrm>
        <a:off x="798689" y="502"/>
        <a:ext cx="3927511" cy="691506"/>
      </dsp:txXfrm>
    </dsp:sp>
    <dsp:sp modelId="{ABAB148E-DBAF-4B6E-A24C-9F5B2F1BDA93}">
      <dsp:nvSpPr>
        <dsp:cNvPr id="0" name=""/>
        <dsp:cNvSpPr/>
      </dsp:nvSpPr>
      <dsp:spPr>
        <a:xfrm>
          <a:off x="0" y="864885"/>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C92C44-627B-43FF-9741-57E280CC6448}">
      <dsp:nvSpPr>
        <dsp:cNvPr id="0" name=""/>
        <dsp:cNvSpPr/>
      </dsp:nvSpPr>
      <dsp:spPr>
        <a:xfrm>
          <a:off x="209180" y="1020474"/>
          <a:ext cx="380328" cy="3803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5EADB7-EF8B-444E-A06A-63139424D8CA}">
      <dsp:nvSpPr>
        <dsp:cNvPr id="0" name=""/>
        <dsp:cNvSpPr/>
      </dsp:nvSpPr>
      <dsp:spPr>
        <a:xfrm>
          <a:off x="798689" y="864885"/>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100000"/>
            </a:lnSpc>
            <a:spcBef>
              <a:spcPct val="0"/>
            </a:spcBef>
            <a:spcAft>
              <a:spcPct val="35000"/>
            </a:spcAft>
            <a:buNone/>
          </a:pPr>
          <a:r>
            <a:rPr lang="en-US" sz="1600" kern="1200" dirty="0"/>
            <a:t>Session 2: Biological Foundation (30 min)</a:t>
          </a:r>
        </a:p>
      </dsp:txBody>
      <dsp:txXfrm>
        <a:off x="798689" y="864885"/>
        <a:ext cx="3927511" cy="691506"/>
      </dsp:txXfrm>
    </dsp:sp>
    <dsp:sp modelId="{E8E1637D-3A60-4449-A989-522824CC0C94}">
      <dsp:nvSpPr>
        <dsp:cNvPr id="0" name=""/>
        <dsp:cNvSpPr/>
      </dsp:nvSpPr>
      <dsp:spPr>
        <a:xfrm>
          <a:off x="0" y="1729268"/>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138236-7BB2-4DE1-BEED-17E79EE1DA98}">
      <dsp:nvSpPr>
        <dsp:cNvPr id="0" name=""/>
        <dsp:cNvSpPr/>
      </dsp:nvSpPr>
      <dsp:spPr>
        <a:xfrm>
          <a:off x="209180" y="1884857"/>
          <a:ext cx="380328" cy="3803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621660-FCE5-4F63-92AB-2AD97382FF15}">
      <dsp:nvSpPr>
        <dsp:cNvPr id="0" name=""/>
        <dsp:cNvSpPr/>
      </dsp:nvSpPr>
      <dsp:spPr>
        <a:xfrm>
          <a:off x="798689" y="1729268"/>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100000"/>
            </a:lnSpc>
            <a:spcBef>
              <a:spcPct val="0"/>
            </a:spcBef>
            <a:spcAft>
              <a:spcPct val="35000"/>
            </a:spcAft>
            <a:buNone/>
          </a:pPr>
          <a:r>
            <a:rPr lang="en-US" sz="1600" kern="1200" dirty="0"/>
            <a:t>Session 3: Parent creation &amp; pools (30 min)</a:t>
          </a:r>
        </a:p>
      </dsp:txBody>
      <dsp:txXfrm>
        <a:off x="798689" y="1729268"/>
        <a:ext cx="3927511" cy="691506"/>
      </dsp:txXfrm>
    </dsp:sp>
    <dsp:sp modelId="{6A133550-779C-4936-B31E-23AA2F8C7885}">
      <dsp:nvSpPr>
        <dsp:cNvPr id="0" name=""/>
        <dsp:cNvSpPr/>
      </dsp:nvSpPr>
      <dsp:spPr>
        <a:xfrm>
          <a:off x="0" y="2593651"/>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F4C114-B82E-41BD-B16C-1C5969B90E00}">
      <dsp:nvSpPr>
        <dsp:cNvPr id="0" name=""/>
        <dsp:cNvSpPr/>
      </dsp:nvSpPr>
      <dsp:spPr>
        <a:xfrm>
          <a:off x="209180" y="2749240"/>
          <a:ext cx="380328" cy="3803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680D57-A307-400A-9685-20325BE48DD3}">
      <dsp:nvSpPr>
        <dsp:cNvPr id="0" name=""/>
        <dsp:cNvSpPr/>
      </dsp:nvSpPr>
      <dsp:spPr>
        <a:xfrm>
          <a:off x="798689" y="2593651"/>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100000"/>
            </a:lnSpc>
            <a:spcBef>
              <a:spcPct val="0"/>
            </a:spcBef>
            <a:spcAft>
              <a:spcPct val="35000"/>
            </a:spcAft>
            <a:buNone/>
          </a:pPr>
          <a:r>
            <a:rPr lang="en-US" sz="1600" kern="1200"/>
            <a:t>Break (10 min)</a:t>
          </a:r>
        </a:p>
      </dsp:txBody>
      <dsp:txXfrm>
        <a:off x="798689" y="2593651"/>
        <a:ext cx="3927511" cy="691506"/>
      </dsp:txXfrm>
    </dsp:sp>
    <dsp:sp modelId="{06EC12FF-3004-5344-8D41-D952DF77E0A1}">
      <dsp:nvSpPr>
        <dsp:cNvPr id="0" name=""/>
        <dsp:cNvSpPr/>
      </dsp:nvSpPr>
      <dsp:spPr>
        <a:xfrm>
          <a:off x="0" y="3458034"/>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B6459E-C4A6-6E45-8E68-D97BC92926D2}">
      <dsp:nvSpPr>
        <dsp:cNvPr id="0" name=""/>
        <dsp:cNvSpPr/>
      </dsp:nvSpPr>
      <dsp:spPr>
        <a:xfrm>
          <a:off x="209180" y="3613623"/>
          <a:ext cx="380328" cy="380328"/>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75BDCE-4857-9148-BDFA-BE5DEB5C1852}">
      <dsp:nvSpPr>
        <dsp:cNvPr id="0" name=""/>
        <dsp:cNvSpPr/>
      </dsp:nvSpPr>
      <dsp:spPr>
        <a:xfrm>
          <a:off x="798689" y="3458034"/>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100000"/>
            </a:lnSpc>
            <a:spcBef>
              <a:spcPct val="0"/>
            </a:spcBef>
            <a:spcAft>
              <a:spcPct val="35000"/>
            </a:spcAft>
            <a:buNone/>
          </a:pPr>
          <a:r>
            <a:rPr lang="en-US" sz="1600" kern="1200" dirty="0"/>
            <a:t>Session 4: How do we test? (20 min)</a:t>
          </a:r>
        </a:p>
      </dsp:txBody>
      <dsp:txXfrm>
        <a:off x="798689" y="3458034"/>
        <a:ext cx="3927511" cy="691506"/>
      </dsp:txXfrm>
    </dsp:sp>
    <dsp:sp modelId="{95D57702-7EAB-4655-8C54-F942FCDF38D0}">
      <dsp:nvSpPr>
        <dsp:cNvPr id="0" name=""/>
        <dsp:cNvSpPr/>
      </dsp:nvSpPr>
      <dsp:spPr>
        <a:xfrm>
          <a:off x="0" y="4322417"/>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77B4D2-DAC8-4DED-BC73-8807C331C906}">
      <dsp:nvSpPr>
        <dsp:cNvPr id="0" name=""/>
        <dsp:cNvSpPr/>
      </dsp:nvSpPr>
      <dsp:spPr>
        <a:xfrm>
          <a:off x="209180" y="4478006"/>
          <a:ext cx="380328" cy="3803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77C75F-FAC7-49FB-873D-80F9B3821CBA}">
      <dsp:nvSpPr>
        <dsp:cNvPr id="0" name=""/>
        <dsp:cNvSpPr/>
      </dsp:nvSpPr>
      <dsp:spPr>
        <a:xfrm>
          <a:off x="798689" y="4322417"/>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100000"/>
            </a:lnSpc>
            <a:spcBef>
              <a:spcPct val="0"/>
            </a:spcBef>
            <a:spcAft>
              <a:spcPct val="35000"/>
            </a:spcAft>
            <a:buNone/>
          </a:pPr>
          <a:r>
            <a:rPr lang="en-US" sz="1600" kern="1200" dirty="0"/>
            <a:t>Session 4: Production Realities (30 min)</a:t>
          </a:r>
        </a:p>
      </dsp:txBody>
      <dsp:txXfrm>
        <a:off x="798689" y="4322417"/>
        <a:ext cx="3927511" cy="691506"/>
      </dsp:txXfrm>
    </dsp:sp>
    <dsp:sp modelId="{2D7637B3-B392-4C60-A1D3-FCE2BC722A89}">
      <dsp:nvSpPr>
        <dsp:cNvPr id="0" name=""/>
        <dsp:cNvSpPr/>
      </dsp:nvSpPr>
      <dsp:spPr>
        <a:xfrm>
          <a:off x="0" y="5186800"/>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BBFFA8-15F6-4065-86E1-4BCD7945906C}">
      <dsp:nvSpPr>
        <dsp:cNvPr id="0" name=""/>
        <dsp:cNvSpPr/>
      </dsp:nvSpPr>
      <dsp:spPr>
        <a:xfrm>
          <a:off x="209180" y="5342389"/>
          <a:ext cx="380328" cy="3803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C8A294-3DE3-4D5F-AD3F-42B5FD020806}">
      <dsp:nvSpPr>
        <dsp:cNvPr id="0" name=""/>
        <dsp:cNvSpPr/>
      </dsp:nvSpPr>
      <dsp:spPr>
        <a:xfrm>
          <a:off x="798689" y="5186800"/>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100000"/>
            </a:lnSpc>
            <a:spcBef>
              <a:spcPct val="0"/>
            </a:spcBef>
            <a:spcAft>
              <a:spcPct val="35000"/>
            </a:spcAft>
            <a:buNone/>
          </a:pPr>
          <a:r>
            <a:rPr lang="en-US" sz="1600" kern="1200"/>
            <a:t>Learning Goal: Understand how each breeding decision connects to farmer ROI</a:t>
          </a:r>
        </a:p>
      </dsp:txBody>
      <dsp:txXfrm>
        <a:off x="798689" y="5186800"/>
        <a:ext cx="3927511" cy="6915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72DFE-A091-044E-B5BD-6C6951D47D03}">
      <dsp:nvSpPr>
        <dsp:cNvPr id="0" name=""/>
        <dsp:cNvSpPr/>
      </dsp:nvSpPr>
      <dsp:spPr>
        <a:xfrm>
          <a:off x="0" y="431616"/>
          <a:ext cx="2561209" cy="153672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Yield heterosis: 15-30% advantage over open-pollinated</a:t>
          </a:r>
        </a:p>
      </dsp:txBody>
      <dsp:txXfrm>
        <a:off x="0" y="431616"/>
        <a:ext cx="2561209" cy="1536725"/>
      </dsp:txXfrm>
    </dsp:sp>
    <dsp:sp modelId="{965F5066-C224-A34E-AD90-BBA739E9793E}">
      <dsp:nvSpPr>
        <dsp:cNvPr id="0" name=""/>
        <dsp:cNvSpPr/>
      </dsp:nvSpPr>
      <dsp:spPr>
        <a:xfrm>
          <a:off x="2817330" y="431616"/>
          <a:ext cx="2561209" cy="1536725"/>
        </a:xfrm>
        <a:prstGeom prst="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Uniformity: Easier management, predictable harvest</a:t>
          </a:r>
        </a:p>
      </dsp:txBody>
      <dsp:txXfrm>
        <a:off x="2817330" y="431616"/>
        <a:ext cx="2561209" cy="1536725"/>
      </dsp:txXfrm>
    </dsp:sp>
    <dsp:sp modelId="{B4B11F11-0120-6047-9DE8-736231984E22}">
      <dsp:nvSpPr>
        <dsp:cNvPr id="0" name=""/>
        <dsp:cNvSpPr/>
      </dsp:nvSpPr>
      <dsp:spPr>
        <a:xfrm>
          <a:off x="5634661" y="431616"/>
          <a:ext cx="2561209" cy="1536725"/>
        </a:xfrm>
        <a:prstGeom prst="rect">
          <a:avLst/>
        </a:prstGeom>
        <a:solidFill>
          <a:schemeClr val="accent2">
            <a:hueOff val="2340760"/>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Stress resilience: Better performance in variable conditions</a:t>
          </a:r>
        </a:p>
      </dsp:txBody>
      <dsp:txXfrm>
        <a:off x="5634661" y="431616"/>
        <a:ext cx="2561209" cy="1536725"/>
      </dsp:txXfrm>
    </dsp:sp>
    <dsp:sp modelId="{A0581145-9A82-6D47-B1DE-FA918A24E23A}">
      <dsp:nvSpPr>
        <dsp:cNvPr id="0" name=""/>
        <dsp:cNvSpPr/>
      </dsp:nvSpPr>
      <dsp:spPr>
        <a:xfrm>
          <a:off x="1408665" y="2224462"/>
          <a:ext cx="2561209" cy="1536725"/>
        </a:xfrm>
        <a:prstGeom prst="rect">
          <a:avLst/>
        </a:prstGeom>
        <a:solidFill>
          <a:schemeClr val="accent2">
            <a:hueOff val="3511140"/>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Quality traits: Grain quality, silage digestibility</a:t>
          </a:r>
        </a:p>
      </dsp:txBody>
      <dsp:txXfrm>
        <a:off x="1408665" y="2224462"/>
        <a:ext cx="2561209" cy="1536725"/>
      </dsp:txXfrm>
    </dsp:sp>
    <dsp:sp modelId="{10FD38F1-2B95-DD42-AD39-F8F41EA69558}">
      <dsp:nvSpPr>
        <dsp:cNvPr id="0" name=""/>
        <dsp:cNvSpPr/>
      </dsp:nvSpPr>
      <dsp:spPr>
        <a:xfrm>
          <a:off x="4225995" y="2224462"/>
          <a:ext cx="2561209" cy="1536725"/>
        </a:xfrm>
        <a:prstGeom prst="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Trade-off: Cannot save seed (F2 loses vigor and uniformity)</a:t>
          </a:r>
        </a:p>
      </dsp:txBody>
      <dsp:txXfrm>
        <a:off x="4225995" y="2224462"/>
        <a:ext cx="2561209" cy="15367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C6416C-53E6-4526-B142-37BFE37E4A14}">
      <dsp:nvSpPr>
        <dsp:cNvPr id="0" name=""/>
        <dsp:cNvSpPr/>
      </dsp:nvSpPr>
      <dsp:spPr>
        <a:xfrm>
          <a:off x="0" y="1901"/>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F6C1CC-4D8B-4C48-9DFD-5891744F60F4}">
      <dsp:nvSpPr>
        <dsp:cNvPr id="0" name=""/>
        <dsp:cNvSpPr/>
      </dsp:nvSpPr>
      <dsp:spPr>
        <a:xfrm>
          <a:off x="245129" y="184229"/>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83296A-7973-4943-AAC9-73411C2C3668}">
      <dsp:nvSpPr>
        <dsp:cNvPr id="0" name=""/>
        <dsp:cNvSpPr/>
      </dsp:nvSpPr>
      <dsp:spPr>
        <a:xfrm>
          <a:off x="935949" y="1901"/>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Market differentiation: Unique genetics, trait packages</a:t>
          </a:r>
        </a:p>
      </dsp:txBody>
      <dsp:txXfrm>
        <a:off x="935949" y="1901"/>
        <a:ext cx="3790251" cy="810345"/>
      </dsp:txXfrm>
    </dsp:sp>
    <dsp:sp modelId="{4E814349-A0A0-49E5-B13B-F1A37D78BE42}">
      <dsp:nvSpPr>
        <dsp:cNvPr id="0" name=""/>
        <dsp:cNvSpPr/>
      </dsp:nvSpPr>
      <dsp:spPr>
        <a:xfrm>
          <a:off x="0" y="1014833"/>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1F73EA-3F31-4227-B00A-B46805F256DE}">
      <dsp:nvSpPr>
        <dsp:cNvPr id="0" name=""/>
        <dsp:cNvSpPr/>
      </dsp:nvSpPr>
      <dsp:spPr>
        <a:xfrm>
          <a:off x="245129" y="1197161"/>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7AF3F2-3611-4A9B-B895-A73480AD403D}">
      <dsp:nvSpPr>
        <dsp:cNvPr id="0" name=""/>
        <dsp:cNvSpPr/>
      </dsp:nvSpPr>
      <dsp:spPr>
        <a:xfrm>
          <a:off x="935949" y="1014833"/>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Production efficiency: Seed yield in production fields</a:t>
          </a:r>
        </a:p>
      </dsp:txBody>
      <dsp:txXfrm>
        <a:off x="935949" y="1014833"/>
        <a:ext cx="3790251" cy="810345"/>
      </dsp:txXfrm>
    </dsp:sp>
    <dsp:sp modelId="{9667278C-8FFC-4D77-AC0F-94F79DBD99F6}">
      <dsp:nvSpPr>
        <dsp:cNvPr id="0" name=""/>
        <dsp:cNvSpPr/>
      </dsp:nvSpPr>
      <dsp:spPr>
        <a:xfrm>
          <a:off x="0" y="2027765"/>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D7E712-9ED6-4A28-AE26-3AD021395AE7}">
      <dsp:nvSpPr>
        <dsp:cNvPr id="0" name=""/>
        <dsp:cNvSpPr/>
      </dsp:nvSpPr>
      <dsp:spPr>
        <a:xfrm>
          <a:off x="245129" y="2210093"/>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759F6D-99D3-4BAE-87EB-98264BD96270}">
      <dsp:nvSpPr>
        <dsp:cNvPr id="0" name=""/>
        <dsp:cNvSpPr/>
      </dsp:nvSpPr>
      <dsp:spPr>
        <a:xfrm>
          <a:off x="935949" y="2027765"/>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Built-in IP protection: F1 hybrid biology prevents seed saving</a:t>
          </a:r>
        </a:p>
      </dsp:txBody>
      <dsp:txXfrm>
        <a:off x="935949" y="2027765"/>
        <a:ext cx="3790251" cy="810345"/>
      </dsp:txXfrm>
    </dsp:sp>
    <dsp:sp modelId="{134B2308-18E3-4632-BF69-272C10E47190}">
      <dsp:nvSpPr>
        <dsp:cNvPr id="0" name=""/>
        <dsp:cNvSpPr/>
      </dsp:nvSpPr>
      <dsp:spPr>
        <a:xfrm>
          <a:off x="0" y="3040697"/>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449935-508C-4F63-8728-F0C8E3462386}">
      <dsp:nvSpPr>
        <dsp:cNvPr id="0" name=""/>
        <dsp:cNvSpPr/>
      </dsp:nvSpPr>
      <dsp:spPr>
        <a:xfrm>
          <a:off x="245129" y="3223025"/>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557018-8E59-49B1-B30B-5C30C840FC59}">
      <dsp:nvSpPr>
        <dsp:cNvPr id="0" name=""/>
        <dsp:cNvSpPr/>
      </dsp:nvSpPr>
      <dsp:spPr>
        <a:xfrm>
          <a:off x="935949" y="3040697"/>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Margins justify R&amp;D: Premium pricing for performance</a:t>
          </a:r>
        </a:p>
      </dsp:txBody>
      <dsp:txXfrm>
        <a:off x="935949" y="3040697"/>
        <a:ext cx="3790251" cy="810345"/>
      </dsp:txXfrm>
    </dsp:sp>
    <dsp:sp modelId="{28B2FBAD-14CC-4516-B866-7D19B44CAFCB}">
      <dsp:nvSpPr>
        <dsp:cNvPr id="0" name=""/>
        <dsp:cNvSpPr/>
      </dsp:nvSpPr>
      <dsp:spPr>
        <a:xfrm>
          <a:off x="0" y="4053629"/>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16EDDA-1890-4E4E-BDB3-C088150E5A83}">
      <dsp:nvSpPr>
        <dsp:cNvPr id="0" name=""/>
        <dsp:cNvSpPr/>
      </dsp:nvSpPr>
      <dsp:spPr>
        <a:xfrm>
          <a:off x="245129" y="4235957"/>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E437189-44F4-4DF5-9B53-24BFBCA38379}">
      <dsp:nvSpPr>
        <dsp:cNvPr id="0" name=""/>
        <dsp:cNvSpPr/>
      </dsp:nvSpPr>
      <dsp:spPr>
        <a:xfrm>
          <a:off x="935949" y="4053629"/>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Brand loyalty: Consistent winners build farmer trust</a:t>
          </a:r>
        </a:p>
      </dsp:txBody>
      <dsp:txXfrm>
        <a:off x="935949" y="4053629"/>
        <a:ext cx="3790251" cy="810345"/>
      </dsp:txXfrm>
    </dsp:sp>
    <dsp:sp modelId="{87528156-6CA7-4F6D-9F7C-C89EF080D751}">
      <dsp:nvSpPr>
        <dsp:cNvPr id="0" name=""/>
        <dsp:cNvSpPr/>
      </dsp:nvSpPr>
      <dsp:spPr>
        <a:xfrm>
          <a:off x="0" y="5066561"/>
          <a:ext cx="4726201" cy="8103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D9F43D-2FA4-4E8A-92A7-CD763DA345F6}">
      <dsp:nvSpPr>
        <dsp:cNvPr id="0" name=""/>
        <dsp:cNvSpPr/>
      </dsp:nvSpPr>
      <dsp:spPr>
        <a:xfrm>
          <a:off x="245129" y="5248889"/>
          <a:ext cx="445690" cy="4456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A7721E-626B-4241-867E-332398BA510B}">
      <dsp:nvSpPr>
        <dsp:cNvPr id="0" name=""/>
        <dsp:cNvSpPr/>
      </dsp:nvSpPr>
      <dsp:spPr>
        <a:xfrm>
          <a:off x="935949" y="5066561"/>
          <a:ext cx="3790251" cy="810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2" tIns="85762" rIns="85762" bIns="85762" numCol="1" spcCol="1270" anchor="ctr" anchorCtr="0">
          <a:noAutofit/>
        </a:bodyPr>
        <a:lstStyle/>
        <a:p>
          <a:pPr marL="0" lvl="0" indent="0" algn="l" defTabSz="844550">
            <a:lnSpc>
              <a:spcPct val="90000"/>
            </a:lnSpc>
            <a:spcBef>
              <a:spcPct val="0"/>
            </a:spcBef>
            <a:spcAft>
              <a:spcPct val="35000"/>
            </a:spcAft>
            <a:buNone/>
          </a:pPr>
          <a:r>
            <a:rPr lang="en-US" sz="1900" kern="1200"/>
            <a:t>Long-term investment: 10-15 years to first commercial product</a:t>
          </a:r>
        </a:p>
      </dsp:txBody>
      <dsp:txXfrm>
        <a:off x="935949" y="5066561"/>
        <a:ext cx="3790251" cy="8103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E9FAFD-3E40-FB45-A485-EA9A354DF90C}">
      <dsp:nvSpPr>
        <dsp:cNvPr id="0" name=""/>
        <dsp:cNvSpPr/>
      </dsp:nvSpPr>
      <dsp:spPr>
        <a:xfrm>
          <a:off x="0" y="3291729"/>
          <a:ext cx="5000124" cy="2159731"/>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tx1"/>
              </a:solidFill>
            </a:rPr>
            <a:t>Good parent A + Good parent B = ???</a:t>
          </a:r>
        </a:p>
      </dsp:txBody>
      <dsp:txXfrm>
        <a:off x="0" y="3291729"/>
        <a:ext cx="5000124" cy="1166254"/>
      </dsp:txXfrm>
    </dsp:sp>
    <dsp:sp modelId="{5E79560E-3012-7E40-B34D-39691214C988}">
      <dsp:nvSpPr>
        <dsp:cNvPr id="0" name=""/>
        <dsp:cNvSpPr/>
      </dsp:nvSpPr>
      <dsp:spPr>
        <a:xfrm>
          <a:off x="0" y="4414789"/>
          <a:ext cx="2500062" cy="993476"/>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 Could be: Amazing hybrid (+SCA)</a:t>
          </a:r>
        </a:p>
      </dsp:txBody>
      <dsp:txXfrm>
        <a:off x="0" y="4414789"/>
        <a:ext cx="2500062" cy="993476"/>
      </dsp:txXfrm>
    </dsp:sp>
    <dsp:sp modelId="{E415B191-9D42-2E41-8133-A3D430C2B182}">
      <dsp:nvSpPr>
        <dsp:cNvPr id="0" name=""/>
        <dsp:cNvSpPr/>
      </dsp:nvSpPr>
      <dsp:spPr>
        <a:xfrm>
          <a:off x="2500062" y="4414789"/>
          <a:ext cx="2500062" cy="993476"/>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 Could be: Disappointing hybrid (-SCA)</a:t>
          </a:r>
        </a:p>
      </dsp:txBody>
      <dsp:txXfrm>
        <a:off x="2500062" y="4414789"/>
        <a:ext cx="2500062" cy="993476"/>
      </dsp:txXfrm>
    </dsp:sp>
    <dsp:sp modelId="{91B6623A-09B7-FB45-A10A-25441DB3DD66}">
      <dsp:nvSpPr>
        <dsp:cNvPr id="0" name=""/>
        <dsp:cNvSpPr/>
      </dsp:nvSpPr>
      <dsp:spPr>
        <a:xfrm rot="10800000">
          <a:off x="0" y="2459"/>
          <a:ext cx="5000124" cy="3321666"/>
        </a:xfrm>
        <a:prstGeom prst="upArrowCallout">
          <a:avLst/>
        </a:prstGeom>
        <a:gradFill rotWithShape="0">
          <a:gsLst>
            <a:gs pos="0">
              <a:schemeClr val="accent2">
                <a:hueOff val="4681520"/>
                <a:satOff val="-5839"/>
                <a:lumOff val="1373"/>
                <a:alphaOff val="0"/>
                <a:tint val="100000"/>
                <a:shade val="100000"/>
                <a:satMod val="130000"/>
              </a:schemeClr>
            </a:gs>
            <a:gs pos="100000">
              <a:schemeClr val="accent2">
                <a:hueOff val="4681520"/>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tx1"/>
              </a:solidFill>
            </a:rPr>
            <a:t>SCA = Performance of a specific cross A×B</a:t>
          </a:r>
        </a:p>
      </dsp:txBody>
      <dsp:txXfrm rot="10800000">
        <a:off x="0" y="2459"/>
        <a:ext cx="5000124" cy="21583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F58B5-42B4-F543-9F4F-ED6BAA183075}">
      <dsp:nvSpPr>
        <dsp:cNvPr id="0" name=""/>
        <dsp:cNvSpPr/>
      </dsp:nvSpPr>
      <dsp:spPr>
        <a:xfrm>
          <a:off x="0" y="0"/>
          <a:ext cx="6556696" cy="81166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 70% accuracy: Will you capture most top performers?</a:t>
          </a:r>
        </a:p>
      </dsp:txBody>
      <dsp:txXfrm>
        <a:off x="23773" y="23773"/>
        <a:ext cx="5612256" cy="764123"/>
      </dsp:txXfrm>
    </dsp:sp>
    <dsp:sp modelId="{B779CB4A-412C-9A40-8BFA-D88AFF1D4DB5}">
      <dsp:nvSpPr>
        <dsp:cNvPr id="0" name=""/>
        <dsp:cNvSpPr/>
      </dsp:nvSpPr>
      <dsp:spPr>
        <a:xfrm>
          <a:off x="549123" y="959245"/>
          <a:ext cx="6556696" cy="811669"/>
        </a:xfrm>
        <a:prstGeom prst="roundRect">
          <a:avLst>
            <a:gd name="adj" fmla="val 10000"/>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 Cost of false negatives: Miss a commercial-quality hybrid</a:t>
          </a:r>
        </a:p>
      </dsp:txBody>
      <dsp:txXfrm>
        <a:off x="572896" y="983018"/>
        <a:ext cx="5432442" cy="764123"/>
      </dsp:txXfrm>
    </dsp:sp>
    <dsp:sp modelId="{38D90526-303D-224C-A52D-0D353D6EE802}">
      <dsp:nvSpPr>
        <dsp:cNvPr id="0" name=""/>
        <dsp:cNvSpPr/>
      </dsp:nvSpPr>
      <dsp:spPr>
        <a:xfrm>
          <a:off x="1090050" y="1918490"/>
          <a:ext cx="6556696" cy="811669"/>
        </a:xfrm>
        <a:prstGeom prst="roundRect">
          <a:avLst>
            <a:gd name="adj" fmla="val 10000"/>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Cost of false positives: Waste AYT resources on poor hybrids</a:t>
          </a:r>
        </a:p>
      </dsp:txBody>
      <dsp:txXfrm>
        <a:off x="1113823" y="1942263"/>
        <a:ext cx="5440638" cy="764123"/>
      </dsp:txXfrm>
    </dsp:sp>
    <dsp:sp modelId="{74BAF526-4119-FA48-895F-A1B616D5A502}">
      <dsp:nvSpPr>
        <dsp:cNvPr id="0" name=""/>
        <dsp:cNvSpPr/>
      </dsp:nvSpPr>
      <dsp:spPr>
        <a:xfrm>
          <a:off x="1639174" y="2877735"/>
          <a:ext cx="6556696" cy="811669"/>
        </a:xfrm>
        <a:prstGeom prst="roundRect">
          <a:avLst>
            <a:gd name="adj" fmla="val 10000"/>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Net savings: ~$435K but did you miss the best hybrid?</a:t>
          </a:r>
        </a:p>
      </dsp:txBody>
      <dsp:txXfrm>
        <a:off x="1662947" y="2901508"/>
        <a:ext cx="5432442" cy="764123"/>
      </dsp:txXfrm>
    </dsp:sp>
    <dsp:sp modelId="{7A78DFC7-E8F3-9E46-A4CA-D2BEC97A410D}">
      <dsp:nvSpPr>
        <dsp:cNvPr id="0" name=""/>
        <dsp:cNvSpPr/>
      </dsp:nvSpPr>
      <dsp:spPr>
        <a:xfrm>
          <a:off x="6029111" y="621664"/>
          <a:ext cx="527584" cy="527584"/>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6147817" y="621664"/>
        <a:ext cx="290172" cy="397007"/>
      </dsp:txXfrm>
    </dsp:sp>
    <dsp:sp modelId="{AA24693B-078D-184A-9992-3794DA94B001}">
      <dsp:nvSpPr>
        <dsp:cNvPr id="0" name=""/>
        <dsp:cNvSpPr/>
      </dsp:nvSpPr>
      <dsp:spPr>
        <a:xfrm>
          <a:off x="6578235" y="1580910"/>
          <a:ext cx="527584" cy="527584"/>
        </a:xfrm>
        <a:prstGeom prst="downArrow">
          <a:avLst>
            <a:gd name="adj1" fmla="val 55000"/>
            <a:gd name="adj2" fmla="val 45000"/>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6696941" y="1580910"/>
        <a:ext cx="290172" cy="397007"/>
      </dsp:txXfrm>
    </dsp:sp>
    <dsp:sp modelId="{C0B661F0-4BC8-9B4D-B627-472628916992}">
      <dsp:nvSpPr>
        <dsp:cNvPr id="0" name=""/>
        <dsp:cNvSpPr/>
      </dsp:nvSpPr>
      <dsp:spPr>
        <a:xfrm>
          <a:off x="7119162" y="2540155"/>
          <a:ext cx="527584" cy="527584"/>
        </a:xfrm>
        <a:prstGeom prst="downArrow">
          <a:avLst>
            <a:gd name="adj1" fmla="val 55000"/>
            <a:gd name="adj2" fmla="val 45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7237868" y="2540155"/>
        <a:ext cx="290172" cy="3970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A7641-7C42-8849-AC47-F3BA9A219274}">
      <dsp:nvSpPr>
        <dsp:cNvPr id="0" name=""/>
        <dsp:cNvSpPr/>
      </dsp:nvSpPr>
      <dsp:spPr>
        <a:xfrm>
          <a:off x="0" y="31022"/>
          <a:ext cx="8195871" cy="17503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1000 inbreds per pool = 1,000,000 possible crosses!</a:t>
          </a:r>
        </a:p>
      </dsp:txBody>
      <dsp:txXfrm>
        <a:off x="85444" y="116466"/>
        <a:ext cx="8024983" cy="1579432"/>
      </dsp:txXfrm>
    </dsp:sp>
    <dsp:sp modelId="{824396E7-4A5B-5847-910E-476AF49D438E}">
      <dsp:nvSpPr>
        <dsp:cNvPr id="0" name=""/>
        <dsp:cNvSpPr/>
      </dsp:nvSpPr>
      <dsp:spPr>
        <a:xfrm>
          <a:off x="0" y="1908062"/>
          <a:ext cx="8195871" cy="1750320"/>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How do we choose which crosses to make?</a:t>
          </a:r>
        </a:p>
      </dsp:txBody>
      <dsp:txXfrm>
        <a:off x="85444" y="1993506"/>
        <a:ext cx="8024983" cy="15794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82B0C7-ED5E-7A43-AF39-A5DE59BEBEE9}" type="datetimeFigureOut">
              <a:rPr lang="en-US" smtClean="0"/>
              <a:t>5/13/26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3F2F4D-B340-AB4B-84BA-2CD86E3D7B98}" type="slidenum">
              <a:rPr lang="en-US" smtClean="0"/>
              <a:t>‹#›</a:t>
            </a:fld>
            <a:endParaRPr lang="en-US"/>
          </a:p>
        </p:txBody>
      </p:sp>
    </p:spTree>
    <p:extLst>
      <p:ext uri="{BB962C8B-B14F-4D97-AF65-F5344CB8AC3E}">
        <p14:creationId xmlns:p14="http://schemas.microsoft.com/office/powerpoint/2010/main" val="740850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F3F2F4D-B340-AB4B-84BA-2CD86E3D7B98}" type="slidenum">
              <a:rPr lang="en-US" smtClean="0"/>
              <a:t>10</a:t>
            </a:fld>
            <a:endParaRPr lang="en-US"/>
          </a:p>
        </p:txBody>
      </p:sp>
    </p:spTree>
    <p:extLst>
      <p:ext uri="{BB962C8B-B14F-4D97-AF65-F5344CB8AC3E}">
        <p14:creationId xmlns:p14="http://schemas.microsoft.com/office/powerpoint/2010/main" val="3704294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0106E5BE-E8AE-6A29-D528-E23F7B88B0C0}"/>
              </a:ext>
            </a:extLst>
          </p:cNvPr>
          <p:cNvSpPr txBox="1"/>
          <p:nvPr userDrawn="1">
            <p:extLst>
              <p:ext uri="{1162E1C5-73C7-4A58-AE30-91384D911F3F}">
                <p184:classification xmlns:p184="http://schemas.microsoft.com/office/powerpoint/2018/4/main" val="ftr"/>
              </p:ext>
            </p:extLst>
          </p:nvPr>
        </p:nvSpPr>
        <p:spPr>
          <a:xfrm>
            <a:off x="7545388" y="6459220"/>
            <a:ext cx="1592262" cy="335280"/>
          </a:xfrm>
          <a:prstGeom prst="rect">
            <a:avLst/>
          </a:prstGeom>
        </p:spPr>
        <p:txBody>
          <a:bodyPr horzOverflow="overflow" lIns="0" tIns="0" rIns="0" bIns="0">
            <a:spAutoFit/>
          </a:bodyPr>
          <a:lstStyle/>
          <a:p>
            <a:pPr algn="l"/>
            <a:r>
              <a:rPr lang="en-US" sz="2200">
                <a:solidFill>
                  <a:srgbClr val="FF8939">
                    <a:alpha val="50000"/>
                  </a:srgbClr>
                </a:solidFill>
                <a:latin typeface="Aptos" panose="020B0004020202020204" pitchFamily="34" charset="0"/>
              </a:rPr>
              <a:t>RESTRICTED</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640080"/>
            <a:ext cx="4688333" cy="3566160"/>
          </a:xfrm>
        </p:spPr>
        <p:txBody>
          <a:bodyPr anchor="b">
            <a:normAutofit/>
          </a:bodyPr>
          <a:lstStyle/>
          <a:p>
            <a:pPr algn="l"/>
            <a:r>
              <a:rPr lang="en-US" sz="4700" dirty="0"/>
              <a:t>Hybrid Breeding in Maize</a:t>
            </a:r>
          </a:p>
        </p:txBody>
      </p:sp>
      <p:sp>
        <p:nvSpPr>
          <p:cNvPr id="3" name="Subtitle 2"/>
          <p:cNvSpPr>
            <a:spLocks noGrp="1"/>
          </p:cNvSpPr>
          <p:nvPr>
            <p:ph type="subTitle" idx="1"/>
          </p:nvPr>
        </p:nvSpPr>
        <p:spPr>
          <a:xfrm>
            <a:off x="3973320" y="4636008"/>
            <a:ext cx="4688333" cy="1572768"/>
          </a:xfrm>
        </p:spPr>
        <p:txBody>
          <a:bodyPr>
            <a:normAutofit/>
          </a:bodyPr>
          <a:lstStyle/>
          <a:p>
            <a:pPr algn="l">
              <a:lnSpc>
                <a:spcPct val="90000"/>
              </a:lnSpc>
            </a:pPr>
            <a:r>
              <a:t>From Commercial Seed to Biological Foundation</a:t>
            </a:r>
            <a:endParaRPr lang="en-US"/>
          </a:p>
          <a:p>
            <a:pPr algn="l">
              <a:lnSpc>
                <a:spcPct val="90000"/>
              </a:lnSpc>
            </a:pPr>
            <a:r>
              <a:t>2 Hours</a:t>
            </a:r>
            <a:endParaRPr lang="en-US"/>
          </a:p>
        </p:txBody>
      </p:sp>
      <p:pic>
        <p:nvPicPr>
          <p:cNvPr id="5" name="Picture 4" descr="Close-up of an ear of fresh corn">
            <a:extLst>
              <a:ext uri="{FF2B5EF4-FFF2-40B4-BE49-F238E27FC236}">
                <a16:creationId xmlns:a16="http://schemas.microsoft.com/office/drawing/2014/main" id="{4D2C7A8E-3A99-25B4-DD99-158A9E74CC7B}"/>
              </a:ext>
            </a:extLst>
          </p:cNvPr>
          <p:cNvPicPr>
            <a:picLocks noChangeAspect="1"/>
          </p:cNvPicPr>
          <p:nvPr/>
        </p:nvPicPr>
        <p:blipFill>
          <a:blip r:embed="rId2"/>
          <a:srcRect l="5846" r="60156" b="-1"/>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sX0" fmla="*/ 0 w 3182692"/>
              <a:gd name="csY0" fmla="*/ 0 h 18288"/>
              <a:gd name="csX1" fmla="*/ 604711 w 3182692"/>
              <a:gd name="csY1" fmla="*/ 0 h 18288"/>
              <a:gd name="csX2" fmla="*/ 1241250 w 3182692"/>
              <a:gd name="csY2" fmla="*/ 0 h 18288"/>
              <a:gd name="csX3" fmla="*/ 1909615 w 3182692"/>
              <a:gd name="csY3" fmla="*/ 0 h 18288"/>
              <a:gd name="csX4" fmla="*/ 2577981 w 3182692"/>
              <a:gd name="csY4" fmla="*/ 0 h 18288"/>
              <a:gd name="csX5" fmla="*/ 3182692 w 3182692"/>
              <a:gd name="csY5" fmla="*/ 0 h 18288"/>
              <a:gd name="csX6" fmla="*/ 3182692 w 3182692"/>
              <a:gd name="csY6" fmla="*/ 18288 h 18288"/>
              <a:gd name="csX7" fmla="*/ 2482500 w 3182692"/>
              <a:gd name="csY7" fmla="*/ 18288 h 18288"/>
              <a:gd name="csX8" fmla="*/ 1782308 w 3182692"/>
              <a:gd name="csY8" fmla="*/ 18288 h 18288"/>
              <a:gd name="csX9" fmla="*/ 1145769 w 3182692"/>
              <a:gd name="csY9" fmla="*/ 18288 h 18288"/>
              <a:gd name="csX10" fmla="*/ 0 w 3182692"/>
              <a:gd name="csY10" fmla="*/ 18288 h 18288"/>
              <a:gd name="csX11" fmla="*/ 0 w 3182692"/>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sz="3700" dirty="0">
                <a:solidFill>
                  <a:schemeClr val="bg1"/>
                </a:solidFill>
              </a:rPr>
              <a:t>Course Overview</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41BBECDC-3932-BC15-2D5B-FCD22DBC92FB}"/>
              </a:ext>
            </a:extLst>
          </p:cNvPr>
          <p:cNvGraphicFramePr>
            <a:graphicFrameLocks noGrp="1"/>
          </p:cNvGraphicFramePr>
          <p:nvPr>
            <p:ph idx="1"/>
            <p:extLst>
              <p:ext uri="{D42A27DB-BD31-4B8C-83A1-F6EECF244321}">
                <p14:modId xmlns:p14="http://schemas.microsoft.com/office/powerpoint/2010/main" val="4172557693"/>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451381"/>
            <a:ext cx="7884414" cy="4066540"/>
          </a:xfrm>
        </p:spPr>
        <p:txBody>
          <a:bodyPr vert="horz" lIns="91440" tIns="45720" rIns="91440" bIns="45720" rtlCol="0" anchor="b">
            <a:normAutofit/>
          </a:bodyPr>
          <a:lstStyle/>
          <a:p>
            <a:pPr algn="l" defTabSz="914400">
              <a:lnSpc>
                <a:spcPct val="90000"/>
              </a:lnSpc>
            </a:pPr>
            <a:r>
              <a:rPr lang="en-US" sz="5700" kern="1200">
                <a:solidFill>
                  <a:schemeClr val="tx1"/>
                </a:solidFill>
                <a:latin typeface="+mj-lt"/>
                <a:ea typeface="+mj-ea"/>
                <a:cs typeface="+mj-cs"/>
              </a:rPr>
              <a:t>Why do farmers buy hybrid seed every year?</a:t>
            </a:r>
            <a:br>
              <a:rPr lang="en-US" sz="5700" kern="1200">
                <a:solidFill>
                  <a:schemeClr val="tx1"/>
                </a:solidFill>
                <a:latin typeface="+mj-lt"/>
                <a:ea typeface="+mj-ea"/>
                <a:cs typeface="+mj-cs"/>
              </a:rPr>
            </a:br>
            <a:endParaRPr lang="en-US" sz="5700" kern="1200">
              <a:solidFill>
                <a:schemeClr val="tx1"/>
              </a:solidFill>
              <a:latin typeface="+mj-lt"/>
              <a:ea typeface="+mj-ea"/>
              <a:cs typeface="+mj-cs"/>
            </a:endParaRPr>
          </a:p>
        </p:txBody>
      </p:sp>
      <p:sp>
        <p:nvSpPr>
          <p:cNvPr id="3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sX0" fmla="*/ 0 w 4057650"/>
              <a:gd name="csY0" fmla="*/ 0 h 18288"/>
              <a:gd name="csX1" fmla="*/ 757428 w 4057650"/>
              <a:gd name="csY1" fmla="*/ 0 h 18288"/>
              <a:gd name="csX2" fmla="*/ 1474279 w 4057650"/>
              <a:gd name="csY2" fmla="*/ 0 h 18288"/>
              <a:gd name="csX3" fmla="*/ 2191131 w 4057650"/>
              <a:gd name="csY3" fmla="*/ 0 h 18288"/>
              <a:gd name="csX4" fmla="*/ 2745676 w 4057650"/>
              <a:gd name="csY4" fmla="*/ 0 h 18288"/>
              <a:gd name="csX5" fmla="*/ 3340798 w 4057650"/>
              <a:gd name="csY5" fmla="*/ 0 h 18288"/>
              <a:gd name="csX6" fmla="*/ 4057650 w 4057650"/>
              <a:gd name="csY6" fmla="*/ 0 h 18288"/>
              <a:gd name="csX7" fmla="*/ 4057650 w 4057650"/>
              <a:gd name="csY7" fmla="*/ 18288 h 18288"/>
              <a:gd name="csX8" fmla="*/ 3381375 w 4057650"/>
              <a:gd name="csY8" fmla="*/ 18288 h 18288"/>
              <a:gd name="csX9" fmla="*/ 2826830 w 4057650"/>
              <a:gd name="csY9" fmla="*/ 18288 h 18288"/>
              <a:gd name="csX10" fmla="*/ 2272284 w 4057650"/>
              <a:gd name="csY10" fmla="*/ 18288 h 18288"/>
              <a:gd name="csX11" fmla="*/ 1555432 w 4057650"/>
              <a:gd name="csY11" fmla="*/ 18288 h 18288"/>
              <a:gd name="csX12" fmla="*/ 960310 w 4057650"/>
              <a:gd name="csY12" fmla="*/ 18288 h 18288"/>
              <a:gd name="csX13" fmla="*/ 0 w 4057650"/>
              <a:gd name="csY13" fmla="*/ 18288 h 18288"/>
              <a:gd name="csX14" fmla="*/ 0 w 405765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vert="horz" lIns="91440" tIns="45720" rIns="91440" bIns="45720" rtlCol="0" anchor="ctr">
            <a:normAutofit/>
          </a:bodyPr>
          <a:lstStyle/>
          <a:p>
            <a:pPr algn="l" defTabSz="914400">
              <a:lnSpc>
                <a:spcPct val="90000"/>
              </a:lnSpc>
              <a:defRPr sz="4400" b="1">
                <a:solidFill>
                  <a:srgbClr val="003366"/>
                </a:solidFill>
              </a:defRPr>
            </a:pPr>
            <a:r>
              <a:rPr lang="en-US" sz="4200" kern="1200">
                <a:solidFill>
                  <a:schemeClr val="tx1"/>
                </a:solidFill>
                <a:latin typeface="+mj-lt"/>
                <a:ea typeface="+mj-ea"/>
                <a:cs typeface="+mj-cs"/>
              </a:rPr>
              <a:t>Session 1: The End Goal</a:t>
            </a:r>
          </a:p>
        </p:txBody>
      </p:sp>
      <p:sp>
        <p:nvSpPr>
          <p:cNvPr id="4" name="TextBox 3"/>
          <p:cNvSpPr txBox="1"/>
          <p:nvPr/>
        </p:nvSpPr>
        <p:spPr>
          <a:xfrm>
            <a:off x="783771" y="3017522"/>
            <a:ext cx="7455989" cy="3124658"/>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defRPr sz="2400"/>
            </a:pPr>
            <a:r>
              <a:rPr lang="en-US" sz="2100" dirty="0"/>
              <a:t>Commercial Hybrid Seed (10 min)</a:t>
            </a:r>
          </a:p>
          <a:p>
            <a:pPr lvl="1" indent="-228600" defTabSz="914400">
              <a:lnSpc>
                <a:spcPct val="90000"/>
              </a:lnSpc>
              <a:spcAft>
                <a:spcPts val="600"/>
              </a:spcAft>
              <a:buFont typeface="Arial" panose="020B0604020202020204" pitchFamily="34" charset="0"/>
              <a:buChar char="•"/>
              <a:defRPr sz="2400"/>
            </a:pPr>
            <a:r>
              <a:rPr lang="en-US" sz="2100" dirty="0"/>
              <a:t>What is the market for hybrids?</a:t>
            </a:r>
          </a:p>
          <a:p>
            <a:pPr lvl="1" indent="-228600" defTabSz="914400">
              <a:lnSpc>
                <a:spcPct val="90000"/>
              </a:lnSpc>
              <a:spcAft>
                <a:spcPts val="600"/>
              </a:spcAft>
              <a:buFont typeface="Arial" panose="020B0604020202020204" pitchFamily="34" charset="0"/>
              <a:buChar char="•"/>
              <a:defRPr sz="2400"/>
            </a:pPr>
            <a:r>
              <a:rPr lang="en-US" sz="2100" dirty="0"/>
              <a:t>Considerations, Pros/Cons</a:t>
            </a:r>
          </a:p>
          <a:p>
            <a:pPr lvl="1" indent="-228600" defTabSz="914400">
              <a:lnSpc>
                <a:spcPct val="90000"/>
              </a:lnSpc>
              <a:spcAft>
                <a:spcPts val="600"/>
              </a:spcAft>
              <a:buFont typeface="Arial" panose="020B0604020202020204" pitchFamily="34" charset="0"/>
              <a:buChar char="•"/>
              <a:defRPr sz="2400"/>
            </a:pPr>
            <a:r>
              <a:rPr lang="en-US" sz="2100" dirty="0"/>
              <a:t>Production specifications</a:t>
            </a:r>
          </a:p>
          <a:p>
            <a:pPr lvl="1" indent="-228600" defTabSz="914400">
              <a:lnSpc>
                <a:spcPct val="90000"/>
              </a:lnSpc>
              <a:spcAft>
                <a:spcPts val="600"/>
              </a:spcAft>
              <a:buFont typeface="Arial" panose="020B0604020202020204" pitchFamily="34" charset="0"/>
              <a:buChar char="•"/>
              <a:defRPr sz="2400"/>
            </a:pPr>
            <a:r>
              <a:rPr lang="en-US" sz="2100" dirty="0"/>
              <a:t>Cost of Goods, Legal Protections</a:t>
            </a:r>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2170" y="856180"/>
            <a:ext cx="3420438" cy="1128068"/>
          </a:xfrm>
        </p:spPr>
        <p:txBody>
          <a:bodyPr vert="horz" lIns="91440" tIns="45720" rIns="91440" bIns="45720" rtlCol="0" anchor="ctr">
            <a:normAutofit/>
          </a:bodyPr>
          <a:lstStyle/>
          <a:p>
            <a:pPr algn="l" defTabSz="914400">
              <a:lnSpc>
                <a:spcPct val="90000"/>
              </a:lnSpc>
              <a:defRPr sz="3200" b="1"/>
            </a:pPr>
            <a:r>
              <a:rPr lang="en-US" sz="3500"/>
              <a:t>What Success Looks Like</a:t>
            </a:r>
          </a:p>
        </p:txBody>
      </p:sp>
      <p:grpSp>
        <p:nvGrpSpPr>
          <p:cNvPr id="1033" name="Group 103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266396" cy="673460"/>
            <a:chOff x="0" y="823811"/>
            <a:chExt cx="355196" cy="673460"/>
          </a:xfrm>
        </p:grpSpPr>
        <p:sp>
          <p:nvSpPr>
            <p:cNvPr id="1034" name="Rectangle 103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98813" y="2090569"/>
            <a:ext cx="32232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2618" y="2079063"/>
            <a:ext cx="3419569" cy="3979585"/>
          </a:xfrm>
          <a:prstGeom prst="rect">
            <a:avLst/>
          </a:prstGeom>
        </p:spPr>
        <p:txBody>
          <a:bodyPr vert="horz" lIns="91440" tIns="45720" rIns="91440" bIns="45720" rtlCol="0" anchor="ctr">
            <a:noAutofit/>
          </a:bodyPr>
          <a:lstStyle/>
          <a:p>
            <a:pPr marL="285750" indent="-285750" defTabSz="914400">
              <a:lnSpc>
                <a:spcPct val="300000"/>
              </a:lnSpc>
              <a:buFont typeface="Arial" panose="020B0604020202020204" pitchFamily="34" charset="0"/>
              <a:buChar char="•"/>
            </a:pPr>
            <a:r>
              <a:rPr lang="en-US" sz="2400" b="1" dirty="0"/>
              <a:t>Uniform</a:t>
            </a:r>
          </a:p>
          <a:p>
            <a:pPr marL="285750" indent="-285750" defTabSz="914400">
              <a:lnSpc>
                <a:spcPct val="300000"/>
              </a:lnSpc>
              <a:spcAft>
                <a:spcPts val="600"/>
              </a:spcAft>
              <a:buFont typeface="Arial" panose="020B0604020202020204" pitchFamily="34" charset="0"/>
              <a:buChar char="•"/>
            </a:pPr>
            <a:r>
              <a:rPr lang="en-US" sz="2400" b="1" dirty="0"/>
              <a:t>High-performing</a:t>
            </a:r>
          </a:p>
          <a:p>
            <a:pPr marL="285750" indent="-285750" defTabSz="914400">
              <a:lnSpc>
                <a:spcPct val="300000"/>
              </a:lnSpc>
              <a:spcAft>
                <a:spcPts val="600"/>
              </a:spcAft>
              <a:buFont typeface="Arial" panose="020B0604020202020204" pitchFamily="34" charset="0"/>
              <a:buChar char="•"/>
            </a:pPr>
            <a:r>
              <a:rPr lang="en-US" sz="2400" b="1" dirty="0"/>
              <a:t>Consistent </a:t>
            </a:r>
          </a:p>
          <a:p>
            <a:pPr marL="285750" indent="-285750" defTabSz="914400">
              <a:lnSpc>
                <a:spcPct val="300000"/>
              </a:lnSpc>
              <a:spcAft>
                <a:spcPts val="600"/>
              </a:spcAft>
              <a:buFont typeface="Arial" panose="020B0604020202020204" pitchFamily="34" charset="0"/>
              <a:buChar char="•"/>
            </a:pPr>
            <a:r>
              <a:rPr lang="en-US" sz="2400" b="1" dirty="0"/>
              <a:t>Worth the premium?</a:t>
            </a:r>
          </a:p>
        </p:txBody>
      </p:sp>
      <p:sp>
        <p:nvSpPr>
          <p:cNvPr id="1039" name="Rectangle 103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23252" y="0"/>
            <a:ext cx="112074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4357" y="513853"/>
            <a:ext cx="4507025"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KC 68-95 Corn Seed | Kelly Seed Company">
            <a:extLst>
              <a:ext uri="{FF2B5EF4-FFF2-40B4-BE49-F238E27FC236}">
                <a16:creationId xmlns:a16="http://schemas.microsoft.com/office/drawing/2014/main" id="{73992227-9EA4-FF3E-F1B7-98540CC36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121" r="11508" b="-2"/>
          <a:stretch>
            <a:fillRect/>
          </a:stretch>
        </p:blipFill>
        <p:spPr bwMode="auto">
          <a:xfrm>
            <a:off x="4483341" y="799352"/>
            <a:ext cx="4069057" cy="52592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0"/>
            <a:ext cx="1182334" cy="6858000"/>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Farmer ROI: Why Buy Hybrids?</a:t>
            </a:r>
          </a:p>
        </p:txBody>
      </p:sp>
      <p:graphicFrame>
        <p:nvGraphicFramePr>
          <p:cNvPr id="5" name="Content Placeholder 2">
            <a:extLst>
              <a:ext uri="{FF2B5EF4-FFF2-40B4-BE49-F238E27FC236}">
                <a16:creationId xmlns:a16="http://schemas.microsoft.com/office/drawing/2014/main" id="{3E382D69-B92C-B497-41E9-E1B558F850F4}"/>
              </a:ext>
            </a:extLst>
          </p:cNvPr>
          <p:cNvGraphicFramePr>
            <a:graphicFrameLocks noGrp="1"/>
          </p:cNvGraphicFramePr>
          <p:nvPr>
            <p:ph idx="1"/>
            <p:extLst>
              <p:ext uri="{D42A27DB-BD31-4B8C-83A1-F6EECF244321}">
                <p14:modId xmlns:p14="http://schemas.microsoft.com/office/powerpoint/2010/main" val="3830829473"/>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3667947"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309941"/>
            <a:ext cx="3039297" cy="4238118"/>
          </a:xfrm>
          <a:noFill/>
        </p:spPr>
        <p:txBody>
          <a:bodyPr>
            <a:normAutofit/>
          </a:bodyPr>
          <a:lstStyle/>
          <a:p>
            <a:r>
              <a:rPr lang="en-US" sz="5400" dirty="0"/>
              <a:t>Seed Company ROI</a:t>
            </a:r>
          </a:p>
        </p:txBody>
      </p:sp>
      <p:graphicFrame>
        <p:nvGraphicFramePr>
          <p:cNvPr id="5" name="Content Placeholder 2">
            <a:extLst>
              <a:ext uri="{FF2B5EF4-FFF2-40B4-BE49-F238E27FC236}">
                <a16:creationId xmlns:a16="http://schemas.microsoft.com/office/drawing/2014/main" id="{B28467F0-5916-BE4E-9574-FB93B5AFCE39}"/>
              </a:ext>
            </a:extLst>
          </p:cNvPr>
          <p:cNvGraphicFramePr>
            <a:graphicFrameLocks noGrp="1"/>
          </p:cNvGraphicFramePr>
          <p:nvPr>
            <p:ph idx="1"/>
            <p:extLst>
              <p:ext uri="{D42A27DB-BD31-4B8C-83A1-F6EECF244321}">
                <p14:modId xmlns:p14="http://schemas.microsoft.com/office/powerpoint/2010/main" val="2752063085"/>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9144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0040" y="0"/>
            <a:ext cx="5154557" cy="6858000"/>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1072" y="0"/>
            <a:ext cx="4572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18641" cy="6858000"/>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784" y="4049"/>
            <a:ext cx="7662432"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520019" y="1030406"/>
            <a:ext cx="6110785" cy="3081242"/>
          </a:xfrm>
        </p:spPr>
        <p:txBody>
          <a:bodyPr vert="horz" lIns="91440" tIns="45720" rIns="91440" bIns="45720" rtlCol="0" anchor="ctr">
            <a:normAutofit/>
          </a:bodyPr>
          <a:lstStyle/>
          <a:p>
            <a:pPr defTabSz="914400">
              <a:lnSpc>
                <a:spcPct val="90000"/>
              </a:lnSpc>
            </a:pPr>
            <a:r>
              <a:rPr lang="en-US" sz="4200" kern="1200" dirty="0">
                <a:solidFill>
                  <a:srgbClr val="FFFFFF"/>
                </a:solidFill>
                <a:latin typeface="+mj-lt"/>
                <a:ea typeface="+mj-ea"/>
                <a:cs typeface="+mj-cs"/>
              </a:rPr>
              <a:t>Session 2: Biological Foundation</a:t>
            </a:r>
          </a:p>
        </p:txBody>
      </p:sp>
      <p:sp>
        <p:nvSpPr>
          <p:cNvPr id="4" name="TextBox 3"/>
          <p:cNvSpPr txBox="1"/>
          <p:nvPr/>
        </p:nvSpPr>
        <p:spPr>
          <a:xfrm>
            <a:off x="1169957" y="5171093"/>
            <a:ext cx="6808971" cy="860620"/>
          </a:xfrm>
          <a:prstGeom prst="rect">
            <a:avLst/>
          </a:prstGeom>
        </p:spPr>
        <p:txBody>
          <a:bodyPr vert="horz" lIns="91440" tIns="45720" rIns="91440" bIns="45720" rtlCol="0" anchor="ctr">
            <a:normAutofit/>
          </a:bodyPr>
          <a:lstStyle/>
          <a:p>
            <a:pPr algn="ctr" defTabSz="914400">
              <a:lnSpc>
                <a:spcPct val="90000"/>
              </a:lnSpc>
              <a:spcBef>
                <a:spcPts val="1000"/>
              </a:spcBef>
              <a:defRPr sz="2400"/>
            </a:pPr>
            <a:r>
              <a:rPr lang="en-US" sz="2400" kern="1200">
                <a:solidFill>
                  <a:srgbClr val="FFFFFF"/>
                </a:solidFill>
                <a:latin typeface="+mn-lt"/>
                <a:ea typeface="+mn-ea"/>
                <a:cs typeface="+mn-cs"/>
              </a:rPr>
              <a:t>Why Hybrids Work (20 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lstStyle/>
          <a:p>
            <a:pPr algn="l"/>
            <a:r>
              <a:rPr lang="en-US" sz="3200" b="1" dirty="0">
                <a:solidFill>
                  <a:srgbClr val="1F497D"/>
                </a:solidFill>
              </a:rPr>
              <a:t>Heterosis: F1 Outperforms Parents</a:t>
            </a:r>
          </a:p>
        </p:txBody>
      </p:sp>
      <p:sp>
        <p:nvSpPr>
          <p:cNvPr id="100" name="DefCard"/>
          <p:cNvSpPr/>
          <p:nvPr/>
        </p:nvSpPr>
        <p:spPr>
          <a:xfrm>
            <a:off x="457200" y="1066800"/>
            <a:ext cx="8229600" cy="2438400"/>
          </a:xfrm>
          <a:prstGeom prst="roundRect">
            <a:avLst>
              <a:gd name="adj" fmla="val 3000"/>
            </a:avLst>
          </a:prstGeom>
          <a:solidFill>
            <a:srgbClr val="EDEAF3"/>
          </a:solidFill>
          <a:ln w="0">
            <a:noFill/>
          </a:ln>
        </p:spPr>
        <p:txBody>
          <a:bodyPr/>
          <a:lstStyle/>
          <a:p>
            <a:endParaRPr/>
          </a:p>
        </p:txBody>
      </p:sp>
      <p:sp>
        <p:nvSpPr>
          <p:cNvPr id="101" name="DefLabel"/>
          <p:cNvSpPr/>
          <p:nvPr/>
        </p:nvSpPr>
        <p:spPr>
          <a:xfrm>
            <a:off x="609600" y="1143000"/>
            <a:ext cx="2286000" cy="342900"/>
          </a:xfrm>
          <a:prstGeom prst="rect">
            <a:avLst/>
          </a:prstGeom>
          <a:noFill/>
          <a:ln w="0">
            <a:noFill/>
          </a:ln>
        </p:spPr>
        <p:txBody>
          <a:bodyPr lIns="0" tIns="0" rIns="0" bIns="0" anchor="t"/>
          <a:lstStyle/>
          <a:p>
            <a:pPr algn="l"/>
            <a:r>
              <a:rPr lang="en-US" sz="1600" b="1" dirty="0">
                <a:solidFill>
                  <a:srgbClr val="8064A2"/>
                </a:solidFill>
              </a:rPr>
              <a:t>DEFINITIONS</a:t>
            </a:r>
          </a:p>
        </p:txBody>
      </p:sp>
      <p:sp>
        <p:nvSpPr>
          <p:cNvPr id="102" name="MidParent"/>
          <p:cNvSpPr/>
          <p:nvPr/>
        </p:nvSpPr>
        <p:spPr>
          <a:xfrm>
            <a:off x="609600" y="1485900"/>
            <a:ext cx="7924800" cy="342900"/>
          </a:xfrm>
          <a:prstGeom prst="rect">
            <a:avLst/>
          </a:prstGeom>
          <a:noFill/>
          <a:ln w="0">
            <a:noFill/>
          </a:ln>
        </p:spPr>
        <p:txBody>
          <a:bodyPr lIns="0" tIns="0" rIns="0" bIns="0" anchor="ctr"/>
          <a:lstStyle/>
          <a:p>
            <a:pPr algn="l"/>
            <a:r>
              <a:rPr lang="en-US" sz="1400" b="1" dirty="0">
                <a:solidFill>
                  <a:srgbClr val="1F497D"/>
                </a:solidFill>
              </a:rPr>
              <a:t>Mid-parent heterosis: </a:t>
            </a:r>
            <a:r>
              <a:rPr lang="en-US" sz="1400" dirty="0">
                <a:solidFill>
                  <a:srgbClr val="333333"/>
                </a:solidFill>
              </a:rPr>
              <a:t>F1 &gt; average of parents</a:t>
            </a:r>
          </a:p>
        </p:txBody>
      </p:sp>
      <p:sp>
        <p:nvSpPr>
          <p:cNvPr id="103" name="MPHFormula"/>
          <p:cNvSpPr/>
          <p:nvPr/>
        </p:nvSpPr>
        <p:spPr>
          <a:xfrm>
            <a:off x="609600" y="1828800"/>
            <a:ext cx="7924800" cy="342900"/>
          </a:xfrm>
          <a:prstGeom prst="roundRect">
            <a:avLst>
              <a:gd name="adj" fmla="val 8000"/>
            </a:avLst>
          </a:prstGeom>
          <a:solidFill>
            <a:srgbClr val="D8D0E8"/>
          </a:solidFill>
          <a:ln w="0">
            <a:noFill/>
          </a:ln>
        </p:spPr>
        <p:txBody>
          <a:bodyPr lIns="182880" tIns="36576" rIns="182880" bIns="36576" anchor="ctr"/>
          <a:lstStyle/>
          <a:p>
            <a:pPr algn="l"/>
            <a:r>
              <a:rPr lang="en-US" sz="1300" b="1" dirty="0">
                <a:solidFill>
                  <a:srgbClr val="1F497D"/>
                </a:solidFill>
                <a:latin typeface="Consolas"/>
              </a:rPr>
              <a:t>MPH% = [(F1 − midparent) / midparent] × 100%</a:t>
            </a:r>
          </a:p>
        </p:txBody>
      </p:sp>
      <p:sp>
        <p:nvSpPr>
          <p:cNvPr id="104" name="BetterParent"/>
          <p:cNvSpPr/>
          <p:nvPr/>
        </p:nvSpPr>
        <p:spPr>
          <a:xfrm>
            <a:off x="609600" y="2286000"/>
            <a:ext cx="7924800" cy="342900"/>
          </a:xfrm>
          <a:prstGeom prst="rect">
            <a:avLst/>
          </a:prstGeom>
          <a:noFill/>
          <a:ln w="0">
            <a:noFill/>
          </a:ln>
        </p:spPr>
        <p:txBody>
          <a:bodyPr lIns="0" tIns="0" rIns="0" bIns="0" anchor="ctr"/>
          <a:lstStyle/>
          <a:p>
            <a:pPr algn="l"/>
            <a:r>
              <a:rPr lang="en-US" sz="1400" b="1" dirty="0">
                <a:solidFill>
                  <a:srgbClr val="1F497D"/>
                </a:solidFill>
              </a:rPr>
              <a:t>Better-parent heterosis: </a:t>
            </a:r>
            <a:r>
              <a:rPr lang="en-US" sz="1400" dirty="0">
                <a:solidFill>
                  <a:srgbClr val="333333"/>
                </a:solidFill>
              </a:rPr>
              <a:t>F1 &gt; better parent</a:t>
            </a:r>
          </a:p>
        </p:txBody>
      </p:sp>
      <p:sp>
        <p:nvSpPr>
          <p:cNvPr id="105" name="BPHFormula"/>
          <p:cNvSpPr/>
          <p:nvPr/>
        </p:nvSpPr>
        <p:spPr>
          <a:xfrm>
            <a:off x="609600" y="2628900"/>
            <a:ext cx="7924800" cy="342900"/>
          </a:xfrm>
          <a:prstGeom prst="roundRect">
            <a:avLst>
              <a:gd name="adj" fmla="val 8000"/>
            </a:avLst>
          </a:prstGeom>
          <a:solidFill>
            <a:srgbClr val="D8D0E8"/>
          </a:solidFill>
          <a:ln w="0">
            <a:noFill/>
          </a:ln>
        </p:spPr>
        <p:txBody>
          <a:bodyPr lIns="182880" tIns="36576" rIns="182880" bIns="36576" anchor="ctr"/>
          <a:lstStyle/>
          <a:p>
            <a:pPr algn="l"/>
            <a:r>
              <a:rPr lang="en-US" sz="1300" b="1" dirty="0">
                <a:solidFill>
                  <a:srgbClr val="1F497D"/>
                </a:solidFill>
                <a:latin typeface="Consolas"/>
              </a:rPr>
              <a:t>BPH% = [(F1 − better parent) / better parent] × 100%</a:t>
            </a:r>
          </a:p>
        </p:txBody>
      </p:sp>
      <p:sp>
        <p:nvSpPr>
          <p:cNvPr id="110" name="ExCard"/>
          <p:cNvSpPr/>
          <p:nvPr/>
        </p:nvSpPr>
        <p:spPr>
          <a:xfrm>
            <a:off x="457200" y="3733800"/>
            <a:ext cx="3657600" cy="2743200"/>
          </a:xfrm>
          <a:prstGeom prst="roundRect">
            <a:avLst>
              <a:gd name="adj" fmla="val 3000"/>
            </a:avLst>
          </a:prstGeom>
          <a:solidFill>
            <a:srgbClr val="FDF2E9"/>
          </a:solidFill>
          <a:ln w="0">
            <a:noFill/>
          </a:ln>
        </p:spPr>
        <p:txBody>
          <a:bodyPr/>
          <a:lstStyle/>
          <a:p>
            <a:endParaRPr/>
          </a:p>
        </p:txBody>
      </p:sp>
      <p:sp>
        <p:nvSpPr>
          <p:cNvPr id="111" name="ExLabel"/>
          <p:cNvSpPr/>
          <p:nvPr/>
        </p:nvSpPr>
        <p:spPr>
          <a:xfrm>
            <a:off x="609600" y="3810000"/>
            <a:ext cx="2286000" cy="342900"/>
          </a:xfrm>
          <a:prstGeom prst="rect">
            <a:avLst/>
          </a:prstGeom>
          <a:noFill/>
          <a:ln w="0">
            <a:noFill/>
          </a:ln>
        </p:spPr>
        <p:txBody>
          <a:bodyPr lIns="0" tIns="0" rIns="0" bIns="0" anchor="t"/>
          <a:lstStyle/>
          <a:p>
            <a:pPr algn="l"/>
            <a:r>
              <a:rPr lang="en-US" sz="1600" b="1" dirty="0">
                <a:solidFill>
                  <a:srgbClr val="F79646"/>
                </a:solidFill>
              </a:rPr>
              <a:t>EXAMPLE</a:t>
            </a:r>
          </a:p>
        </p:txBody>
      </p:sp>
      <p:sp>
        <p:nvSpPr>
          <p:cNvPr id="112" name="ExInputs"/>
          <p:cNvSpPr/>
          <p:nvPr/>
        </p:nvSpPr>
        <p:spPr>
          <a:xfrm>
            <a:off x="609600" y="4191000"/>
            <a:ext cx="3200000" cy="1143000"/>
          </a:xfrm>
          <a:prstGeom prst="rect">
            <a:avLst/>
          </a:prstGeom>
          <a:noFill/>
          <a:ln w="0">
            <a:noFill/>
          </a:ln>
        </p:spPr>
        <p:txBody>
          <a:bodyPr lIns="0" tIns="0" rIns="0" bIns="0" anchor="t"/>
          <a:lstStyle/>
          <a:p>
            <a:pPr algn="l">
              <a:lnSpc>
                <a:spcPts val="2600"/>
              </a:lnSpc>
            </a:pPr>
            <a:r>
              <a:rPr lang="en-US" sz="1400" b="1" dirty="0">
                <a:solidFill>
                  <a:srgbClr val="555555"/>
                </a:solidFill>
              </a:rPr>
              <a:t>Parents: </a:t>
            </a:r>
            <a:r>
              <a:rPr lang="en-US" sz="1400" dirty="0">
                <a:solidFill>
                  <a:srgbClr val="333333"/>
                </a:solidFill>
              </a:rPr>
              <a:t>85 and 95 bu/ac</a:t>
            </a:r>
          </a:p>
          <a:p>
            <a:pPr algn="l">
              <a:lnSpc>
                <a:spcPts val="2600"/>
              </a:lnSpc>
            </a:pPr>
            <a:r>
              <a:rPr lang="en-US" sz="1400" b="1" dirty="0">
                <a:solidFill>
                  <a:srgbClr val="555555"/>
                </a:solidFill>
              </a:rPr>
              <a:t>F1 hybrid: </a:t>
            </a:r>
            <a:r>
              <a:rPr lang="en-US" sz="1400" dirty="0">
                <a:solidFill>
                  <a:srgbClr val="333333"/>
                </a:solidFill>
              </a:rPr>
              <a:t>130 bu/ac</a:t>
            </a:r>
          </a:p>
          <a:p>
            <a:pPr algn="l">
              <a:lnSpc>
                <a:spcPts val="2600"/>
              </a:lnSpc>
            </a:pPr>
            <a:endParaRPr lang="en-US" sz="800" dirty="0"/>
          </a:p>
          <a:p>
            <a:pPr algn="l">
              <a:lnSpc>
                <a:spcPts val="2600"/>
              </a:lnSpc>
            </a:pPr>
            <a:r>
              <a:rPr lang="en-US" sz="2000" b="1" dirty="0">
                <a:solidFill>
                  <a:srgbClr val="8064A2"/>
                </a:solidFill>
              </a:rPr>
              <a:t>MPH = 44%    BPH = 37%</a:t>
            </a:r>
          </a:p>
        </p:txBody>
      </p:sp>
      <p:sp>
        <p:nvSpPr>
          <p:cNvPr id="120" name="ChartBg"/>
          <p:cNvSpPr/>
          <p:nvPr/>
        </p:nvSpPr>
        <p:spPr>
          <a:xfrm>
            <a:off x="4343400" y="3733800"/>
            <a:ext cx="4343400" cy="2743200"/>
          </a:xfrm>
          <a:prstGeom prst="roundRect">
            <a:avLst>
              <a:gd name="adj" fmla="val 3000"/>
            </a:avLst>
          </a:prstGeom>
          <a:solidFill>
            <a:srgbClr val="F5F5F5"/>
          </a:solidFill>
          <a:ln w="0">
            <a:noFill/>
          </a:ln>
        </p:spPr>
        <p:txBody>
          <a:bodyPr/>
          <a:lstStyle/>
          <a:p>
            <a:endParaRPr/>
          </a:p>
        </p:txBody>
      </p:sp>
      <p:sp>
        <p:nvSpPr>
          <p:cNvPr id="121" name="ChartTitle"/>
          <p:cNvSpPr/>
          <p:nvPr/>
        </p:nvSpPr>
        <p:spPr>
          <a:xfrm>
            <a:off x="4495800" y="3810000"/>
            <a:ext cx="4000000" cy="342900"/>
          </a:xfrm>
          <a:prstGeom prst="rect">
            <a:avLst/>
          </a:prstGeom>
          <a:noFill/>
          <a:ln w="0">
            <a:noFill/>
          </a:ln>
        </p:spPr>
        <p:txBody>
          <a:bodyPr lIns="0" tIns="0" rIns="0" bIns="0" anchor="t"/>
          <a:lstStyle/>
          <a:p>
            <a:pPr algn="ctr"/>
            <a:r>
              <a:rPr lang="en-US" sz="1200" b="1" dirty="0">
                <a:solidFill>
                  <a:srgbClr val="666666"/>
                </a:solidFill>
              </a:rPr>
              <a:t>Yield Comparison (bu/ac)</a:t>
            </a:r>
          </a:p>
        </p:txBody>
      </p:sp>
      <p:sp>
        <p:nvSpPr>
          <p:cNvPr id="130" name="BarA"/>
          <p:cNvSpPr/>
          <p:nvPr/>
        </p:nvSpPr>
        <p:spPr>
          <a:xfrm>
            <a:off x="4800000" y="5100000"/>
            <a:ext cx="900000" cy="1046154"/>
          </a:xfrm>
          <a:prstGeom prst="roundRect">
            <a:avLst>
              <a:gd name="adj" fmla="val 5000"/>
            </a:avLst>
          </a:prstGeom>
          <a:solidFill>
            <a:srgbClr val="C0504D"/>
          </a:solidFill>
          <a:ln w="0">
            <a:noFill/>
          </a:ln>
        </p:spPr>
        <p:txBody>
          <a:bodyPr/>
          <a:lstStyle/>
          <a:p>
            <a:endParaRPr/>
          </a:p>
        </p:txBody>
      </p:sp>
      <p:sp>
        <p:nvSpPr>
          <p:cNvPr id="131" name="ValA"/>
          <p:cNvSpPr/>
          <p:nvPr/>
        </p:nvSpPr>
        <p:spPr>
          <a:xfrm>
            <a:off x="4800000" y="4800000"/>
            <a:ext cx="900000" cy="300000"/>
          </a:xfrm>
          <a:prstGeom prst="rect">
            <a:avLst/>
          </a:prstGeom>
          <a:noFill/>
          <a:ln w="0">
            <a:noFill/>
          </a:ln>
        </p:spPr>
        <p:txBody>
          <a:bodyPr lIns="0" tIns="0" rIns="0" bIns="0" anchor="b"/>
          <a:lstStyle/>
          <a:p>
            <a:pPr algn="ctr"/>
            <a:r>
              <a:rPr lang="en-US" sz="1200" b="1" dirty="0">
                <a:solidFill>
                  <a:srgbClr val="C0504D"/>
                </a:solidFill>
              </a:rPr>
              <a:t>85</a:t>
            </a:r>
          </a:p>
        </p:txBody>
      </p:sp>
      <p:sp>
        <p:nvSpPr>
          <p:cNvPr id="132" name="LblA"/>
          <p:cNvSpPr/>
          <p:nvPr/>
        </p:nvSpPr>
        <p:spPr>
          <a:xfrm>
            <a:off x="4800000" y="6200000"/>
            <a:ext cx="900000" cy="250000"/>
          </a:xfrm>
          <a:prstGeom prst="rect">
            <a:avLst/>
          </a:prstGeom>
          <a:noFill/>
          <a:ln w="0">
            <a:noFill/>
          </a:ln>
        </p:spPr>
        <p:txBody>
          <a:bodyPr lIns="0" tIns="0" rIns="0" bIns="0" anchor="t"/>
          <a:lstStyle/>
          <a:p>
            <a:pPr algn="ctr"/>
            <a:r>
              <a:rPr lang="en-US" sz="1000" dirty="0">
                <a:solidFill>
                  <a:srgbClr val="555555"/>
                </a:solidFill>
              </a:rPr>
              <a:t>Parent A</a:t>
            </a:r>
          </a:p>
        </p:txBody>
      </p:sp>
      <p:sp>
        <p:nvSpPr>
          <p:cNvPr id="140" name="BarB"/>
          <p:cNvSpPr/>
          <p:nvPr/>
        </p:nvSpPr>
        <p:spPr>
          <a:xfrm>
            <a:off x="5950000" y="4938000"/>
            <a:ext cx="900000" cy="1208154"/>
          </a:xfrm>
          <a:prstGeom prst="roundRect">
            <a:avLst>
              <a:gd name="adj" fmla="val 5000"/>
            </a:avLst>
          </a:prstGeom>
          <a:solidFill>
            <a:srgbClr val="4BACC6"/>
          </a:solidFill>
          <a:ln w="0">
            <a:noFill/>
          </a:ln>
        </p:spPr>
        <p:txBody>
          <a:bodyPr/>
          <a:lstStyle/>
          <a:p>
            <a:endParaRPr/>
          </a:p>
        </p:txBody>
      </p:sp>
      <p:sp>
        <p:nvSpPr>
          <p:cNvPr id="141" name="ValB"/>
          <p:cNvSpPr/>
          <p:nvPr/>
        </p:nvSpPr>
        <p:spPr>
          <a:xfrm>
            <a:off x="5950000" y="4638000"/>
            <a:ext cx="900000" cy="300000"/>
          </a:xfrm>
          <a:prstGeom prst="rect">
            <a:avLst/>
          </a:prstGeom>
          <a:noFill/>
          <a:ln w="0">
            <a:noFill/>
          </a:ln>
        </p:spPr>
        <p:txBody>
          <a:bodyPr lIns="0" tIns="0" rIns="0" bIns="0" anchor="b"/>
          <a:lstStyle/>
          <a:p>
            <a:pPr algn="ctr"/>
            <a:r>
              <a:rPr lang="en-US" sz="1200" b="1" dirty="0">
                <a:solidFill>
                  <a:srgbClr val="4BACC6"/>
                </a:solidFill>
              </a:rPr>
              <a:t>95</a:t>
            </a:r>
          </a:p>
        </p:txBody>
      </p:sp>
      <p:sp>
        <p:nvSpPr>
          <p:cNvPr id="142" name="LblB"/>
          <p:cNvSpPr/>
          <p:nvPr/>
        </p:nvSpPr>
        <p:spPr>
          <a:xfrm>
            <a:off x="5950000" y="6200000"/>
            <a:ext cx="900000" cy="250000"/>
          </a:xfrm>
          <a:prstGeom prst="rect">
            <a:avLst/>
          </a:prstGeom>
          <a:noFill/>
          <a:ln w="0">
            <a:noFill/>
          </a:ln>
        </p:spPr>
        <p:txBody>
          <a:bodyPr lIns="0" tIns="0" rIns="0" bIns="0" anchor="t"/>
          <a:lstStyle/>
          <a:p>
            <a:pPr algn="ctr"/>
            <a:r>
              <a:rPr lang="en-US" sz="1000" dirty="0">
                <a:solidFill>
                  <a:srgbClr val="555555"/>
                </a:solidFill>
              </a:rPr>
              <a:t>Parent B</a:t>
            </a:r>
          </a:p>
        </p:txBody>
      </p:sp>
      <p:sp>
        <p:nvSpPr>
          <p:cNvPr id="150" name="BarF1"/>
          <p:cNvSpPr/>
          <p:nvPr/>
        </p:nvSpPr>
        <p:spPr>
          <a:xfrm>
            <a:off x="7100000" y="4346154"/>
            <a:ext cx="900000" cy="1800000"/>
          </a:xfrm>
          <a:prstGeom prst="roundRect">
            <a:avLst>
              <a:gd name="adj" fmla="val 5000"/>
            </a:avLst>
          </a:prstGeom>
          <a:solidFill>
            <a:srgbClr val="F79646"/>
          </a:solidFill>
          <a:ln w="0">
            <a:noFill/>
          </a:ln>
        </p:spPr>
        <p:txBody>
          <a:bodyPr/>
          <a:lstStyle/>
          <a:p>
            <a:endParaRPr/>
          </a:p>
        </p:txBody>
      </p:sp>
      <p:sp>
        <p:nvSpPr>
          <p:cNvPr id="151" name="ValF1"/>
          <p:cNvSpPr/>
          <p:nvPr/>
        </p:nvSpPr>
        <p:spPr>
          <a:xfrm>
            <a:off x="7100000" y="4046154"/>
            <a:ext cx="900000" cy="300000"/>
          </a:xfrm>
          <a:prstGeom prst="rect">
            <a:avLst/>
          </a:prstGeom>
          <a:noFill/>
          <a:ln w="0">
            <a:noFill/>
          </a:ln>
        </p:spPr>
        <p:txBody>
          <a:bodyPr lIns="0" tIns="0" rIns="0" bIns="0" anchor="b"/>
          <a:lstStyle/>
          <a:p>
            <a:pPr algn="ctr"/>
            <a:r>
              <a:rPr lang="en-US" sz="1400" b="1" dirty="0">
                <a:solidFill>
                  <a:srgbClr val="F79646"/>
                </a:solidFill>
              </a:rPr>
              <a:t>130</a:t>
            </a:r>
          </a:p>
        </p:txBody>
      </p:sp>
      <p:sp>
        <p:nvSpPr>
          <p:cNvPr id="152" name="LblF1"/>
          <p:cNvSpPr/>
          <p:nvPr/>
        </p:nvSpPr>
        <p:spPr>
          <a:xfrm>
            <a:off x="7100000" y="6200000"/>
            <a:ext cx="900000" cy="250000"/>
          </a:xfrm>
          <a:prstGeom prst="rect">
            <a:avLst/>
          </a:prstGeom>
          <a:noFill/>
          <a:ln w="0">
            <a:noFill/>
          </a:ln>
        </p:spPr>
        <p:txBody>
          <a:bodyPr lIns="0" tIns="0" rIns="0" bIns="0" anchor="t"/>
          <a:lstStyle/>
          <a:p>
            <a:pPr algn="ctr"/>
            <a:r>
              <a:rPr lang="en-US" sz="1100" b="1" dirty="0">
                <a:solidFill>
                  <a:srgbClr val="F79646"/>
                </a:solidFill>
              </a:rPr>
              <a:t>F1 Hybrid</a:t>
            </a:r>
          </a:p>
        </p:txBody>
      </p:sp>
      <p:cxnSp>
        <p:nvCxnSpPr>
          <p:cNvPr id="160" name="MidLine"/>
          <p:cNvCxnSpPr/>
          <p:nvPr/>
        </p:nvCxnSpPr>
        <p:spPr>
          <a:xfrm>
            <a:off x="4650000" y="5060000"/>
            <a:ext cx="3500000" cy="0"/>
          </a:xfrm>
          <a:prstGeom prst="line">
            <a:avLst/>
          </a:prstGeom>
          <a:ln w="12700">
            <a:solidFill>
              <a:srgbClr val="8064A2"/>
            </a:solidFill>
            <a:prstDash val="dash"/>
          </a:ln>
        </p:spPr>
      </p:cxnSp>
      <p:sp>
        <p:nvSpPr>
          <p:cNvPr id="161" name="MidLineLabel"/>
          <p:cNvSpPr/>
          <p:nvPr/>
        </p:nvSpPr>
        <p:spPr>
          <a:xfrm>
            <a:off x="4350000" y="4760000"/>
            <a:ext cx="450000" cy="300000"/>
          </a:xfrm>
          <a:prstGeom prst="rect">
            <a:avLst/>
          </a:prstGeom>
          <a:noFill/>
          <a:ln w="0">
            <a:noFill/>
          </a:ln>
        </p:spPr>
        <p:txBody>
          <a:bodyPr lIns="0" tIns="0" rIns="0" bIns="0" anchor="b"/>
          <a:lstStyle/>
          <a:p>
            <a:pPr algn="r"/>
            <a:r>
              <a:rPr lang="en-US" sz="800" i="1" dirty="0">
                <a:solidFill>
                  <a:srgbClr val="8064A2"/>
                </a:solidFill>
              </a:rPr>
              <a:t>90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9706" y="679731"/>
            <a:ext cx="3128996" cy="3736540"/>
          </a:xfrm>
        </p:spPr>
        <p:txBody>
          <a:bodyPr vert="horz" lIns="91440" tIns="45720" rIns="91440" bIns="45720" rtlCol="0" anchor="b">
            <a:normAutofit/>
          </a:bodyPr>
          <a:lstStyle/>
          <a:p>
            <a:pPr algn="l" defTabSz="914400">
              <a:lnSpc>
                <a:spcPct val="90000"/>
              </a:lnSpc>
              <a:defRPr sz="3200" b="1"/>
            </a:pPr>
            <a:r>
              <a:rPr lang="en-US" sz="5100" kern="1200" dirty="0">
                <a:solidFill>
                  <a:schemeClr val="tx1"/>
                </a:solidFill>
                <a:latin typeface="+mj-lt"/>
                <a:ea typeface="+mj-ea"/>
                <a:cs typeface="+mj-cs"/>
              </a:rPr>
              <a:t>Heterosis Magnitude in Maize</a:t>
            </a:r>
          </a:p>
        </p:txBody>
      </p:sp>
      <p:grpSp>
        <p:nvGrpSpPr>
          <p:cNvPr id="2057" name="Group 205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62324" y="1"/>
            <a:ext cx="1834788" cy="5777808"/>
            <a:chOff x="329184" y="1"/>
            <a:chExt cx="524256" cy="5777808"/>
          </a:xfrm>
        </p:grpSpPr>
        <p:cxnSp>
          <p:nvCxnSpPr>
            <p:cNvPr id="2058" name="Straight Connector 205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59" name="Rectangle 205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1" name="Rectangle 206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9948" y="269324"/>
            <a:ext cx="4587584"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0348E6DF-DF8D-A39A-5D5D-878BEC46D8D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362294" y="557360"/>
            <a:ext cx="3942892" cy="56327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noAutofit/>
          </a:bodyPr>
          <a:lstStyle/>
          <a:p>
            <a:pPr algn="l"/>
            <a:r>
              <a:rPr lang="en-US" sz="4000" b="1" dirty="0">
                <a:solidFill>
                  <a:srgbClr val="1F497D"/>
                </a:solidFill>
              </a:rPr>
              <a:t>Genetic Basis: Dominance Hypothesis</a:t>
            </a:r>
          </a:p>
        </p:txBody>
      </p:sp>
      <p:sp>
        <p:nvSpPr>
          <p:cNvPr id="100" name="MechCard"/>
          <p:cNvSpPr/>
          <p:nvPr/>
        </p:nvSpPr>
        <p:spPr>
          <a:xfrm>
            <a:off x="457200" y="1066800"/>
            <a:ext cx="8229600" cy="1600200"/>
          </a:xfrm>
          <a:prstGeom prst="roundRect">
            <a:avLst>
              <a:gd name="adj" fmla="val 3000"/>
            </a:avLst>
          </a:prstGeom>
          <a:solidFill>
            <a:srgbClr val="EDEAF3"/>
          </a:solidFill>
          <a:ln w="0">
            <a:noFill/>
          </a:ln>
        </p:spPr>
        <p:txBody>
          <a:bodyPr/>
          <a:lstStyle/>
          <a:p>
            <a:endParaRPr/>
          </a:p>
        </p:txBody>
      </p:sp>
      <p:sp>
        <p:nvSpPr>
          <p:cNvPr id="101" name="MechLabel"/>
          <p:cNvSpPr/>
          <p:nvPr/>
        </p:nvSpPr>
        <p:spPr>
          <a:xfrm>
            <a:off x="609600" y="1143000"/>
            <a:ext cx="7924800" cy="342900"/>
          </a:xfrm>
          <a:prstGeom prst="rect">
            <a:avLst/>
          </a:prstGeom>
          <a:noFill/>
          <a:ln w="0">
            <a:noFill/>
          </a:ln>
        </p:spPr>
        <p:txBody>
          <a:bodyPr lIns="0" tIns="0" rIns="0" bIns="0" anchor="t"/>
          <a:lstStyle/>
          <a:p>
            <a:pPr algn="l"/>
            <a:r>
              <a:rPr lang="en-US" sz="2000" b="1" dirty="0">
                <a:solidFill>
                  <a:srgbClr val="8064A2"/>
                </a:solidFill>
              </a:rPr>
              <a:t>MOST LIKELY PRIMARY MECHANISM</a:t>
            </a:r>
          </a:p>
        </p:txBody>
      </p:sp>
      <p:sp>
        <p:nvSpPr>
          <p:cNvPr id="102" name="MechContent"/>
          <p:cNvSpPr/>
          <p:nvPr/>
        </p:nvSpPr>
        <p:spPr>
          <a:xfrm>
            <a:off x="609600" y="1700400"/>
            <a:ext cx="7924800" cy="1000000"/>
          </a:xfrm>
          <a:prstGeom prst="rect">
            <a:avLst/>
          </a:prstGeom>
          <a:noFill/>
          <a:ln w="0">
            <a:noFill/>
          </a:ln>
        </p:spPr>
        <p:txBody>
          <a:bodyPr lIns="0" tIns="0" rIns="0" bIns="0" anchor="t"/>
          <a:lstStyle/>
          <a:p>
            <a:pPr algn="l">
              <a:lnSpc>
                <a:spcPts val="2400"/>
              </a:lnSpc>
              <a:buChar char="•"/>
            </a:pPr>
            <a:r>
              <a:rPr lang="en-US" sz="2000" dirty="0">
                <a:solidFill>
                  <a:srgbClr val="333333"/>
                </a:solidFill>
              </a:rPr>
              <a:t>Each parent has deleterious recessives at different loci</a:t>
            </a:r>
          </a:p>
          <a:p>
            <a:pPr algn="l">
              <a:lnSpc>
                <a:spcPts val="2400"/>
              </a:lnSpc>
              <a:buChar char="•"/>
            </a:pPr>
            <a:r>
              <a:rPr lang="en-US" sz="2000" dirty="0">
                <a:solidFill>
                  <a:srgbClr val="333333"/>
                </a:solidFill>
              </a:rPr>
              <a:t>F1 masks bad alleles with good dominant alleles</a:t>
            </a:r>
          </a:p>
        </p:txBody>
      </p:sp>
      <p:sp>
        <p:nvSpPr>
          <p:cNvPr id="110" name="CompCard"/>
          <p:cNvSpPr/>
          <p:nvPr/>
        </p:nvSpPr>
        <p:spPr>
          <a:xfrm>
            <a:off x="457200" y="2819400"/>
            <a:ext cx="8229600" cy="2743200"/>
          </a:xfrm>
          <a:prstGeom prst="roundRect">
            <a:avLst>
              <a:gd name="adj" fmla="val 3000"/>
            </a:avLst>
          </a:prstGeom>
          <a:solidFill>
            <a:srgbClr val="F5F5F5"/>
          </a:solidFill>
          <a:ln w="0">
            <a:noFill/>
          </a:ln>
        </p:spPr>
        <p:txBody>
          <a:bodyPr/>
          <a:lstStyle/>
          <a:p>
            <a:endParaRPr sz="2400"/>
          </a:p>
        </p:txBody>
      </p:sp>
      <p:sp>
        <p:nvSpPr>
          <p:cNvPr id="111" name="CompLabel"/>
          <p:cNvSpPr/>
          <p:nvPr/>
        </p:nvSpPr>
        <p:spPr>
          <a:xfrm>
            <a:off x="609600" y="2895600"/>
            <a:ext cx="7924800" cy="342900"/>
          </a:xfrm>
          <a:prstGeom prst="rect">
            <a:avLst/>
          </a:prstGeom>
          <a:noFill/>
          <a:ln w="0">
            <a:noFill/>
          </a:ln>
        </p:spPr>
        <p:txBody>
          <a:bodyPr lIns="0" tIns="0" rIns="0" bIns="0" anchor="t"/>
          <a:lstStyle/>
          <a:p>
            <a:pPr algn="l"/>
            <a:r>
              <a:rPr lang="en-US" sz="2000" b="1" dirty="0">
                <a:solidFill>
                  <a:srgbClr val="1F497D"/>
                </a:solidFill>
              </a:rPr>
              <a:t>COMPLEMENTATION EXAMPLE</a:t>
            </a:r>
          </a:p>
        </p:txBody>
      </p:sp>
      <p:sp>
        <p:nvSpPr>
          <p:cNvPr id="112" name="ParentABg"/>
          <p:cNvSpPr/>
          <p:nvPr/>
        </p:nvSpPr>
        <p:spPr>
          <a:xfrm>
            <a:off x="609600" y="3524250"/>
            <a:ext cx="7772400" cy="533400"/>
          </a:xfrm>
          <a:prstGeom prst="roundRect">
            <a:avLst>
              <a:gd name="adj" fmla="val 10000"/>
            </a:avLst>
          </a:prstGeom>
          <a:solidFill>
            <a:srgbClr val="F2DEDE"/>
          </a:solidFill>
          <a:ln w="0">
            <a:noFill/>
          </a:ln>
        </p:spPr>
        <p:txBody>
          <a:bodyPr lIns="182880" tIns="36576" rIns="182880" bIns="36576" anchor="ctr"/>
          <a:lstStyle/>
          <a:p>
            <a:pPr algn="l"/>
            <a:r>
              <a:rPr lang="en-US" sz="2000" b="1" dirty="0">
                <a:solidFill>
                  <a:srgbClr val="C0504D"/>
                </a:solidFill>
              </a:rPr>
              <a:t>Parent A: </a:t>
            </a:r>
            <a:r>
              <a:rPr lang="en-US" sz="2000" b="1" dirty="0">
                <a:solidFill>
                  <a:srgbClr val="1F497D"/>
                </a:solidFill>
                <a:latin typeface="Consolas"/>
              </a:rPr>
              <a:t>aa|BB</a:t>
            </a:r>
            <a:r>
              <a:rPr lang="en-US" sz="2000" dirty="0">
                <a:solidFill>
                  <a:srgbClr val="555555"/>
                </a:solidFill>
              </a:rPr>
              <a:t>  (bad at locus 1, good at locus 2)</a:t>
            </a:r>
          </a:p>
        </p:txBody>
      </p:sp>
      <p:sp>
        <p:nvSpPr>
          <p:cNvPr id="113" name="ParentBBg"/>
          <p:cNvSpPr/>
          <p:nvPr/>
        </p:nvSpPr>
        <p:spPr>
          <a:xfrm>
            <a:off x="609600" y="4133850"/>
            <a:ext cx="7772400" cy="533400"/>
          </a:xfrm>
          <a:prstGeom prst="roundRect">
            <a:avLst>
              <a:gd name="adj" fmla="val 10000"/>
            </a:avLst>
          </a:prstGeom>
          <a:solidFill>
            <a:srgbClr val="D9EDF7"/>
          </a:solidFill>
          <a:ln w="0">
            <a:noFill/>
          </a:ln>
        </p:spPr>
        <p:txBody>
          <a:bodyPr lIns="182880" tIns="36576" rIns="182880" bIns="36576" anchor="ctr"/>
          <a:lstStyle/>
          <a:p>
            <a:pPr algn="l"/>
            <a:r>
              <a:rPr lang="en-US" sz="2000" b="1" dirty="0">
                <a:solidFill>
                  <a:srgbClr val="4BACC6"/>
                </a:solidFill>
              </a:rPr>
              <a:t>Parent B: </a:t>
            </a:r>
            <a:r>
              <a:rPr lang="en-US" sz="2000" b="1" dirty="0">
                <a:solidFill>
                  <a:srgbClr val="1F497D"/>
                </a:solidFill>
                <a:latin typeface="Consolas"/>
              </a:rPr>
              <a:t>AA|bb</a:t>
            </a:r>
            <a:r>
              <a:rPr lang="en-US" sz="2000" dirty="0">
                <a:solidFill>
                  <a:srgbClr val="555555"/>
                </a:solidFill>
              </a:rPr>
              <a:t>  (good at locus 1, bad at locus 2)</a:t>
            </a:r>
          </a:p>
        </p:txBody>
      </p:sp>
      <p:sp>
        <p:nvSpPr>
          <p:cNvPr id="114" name="F1Bg"/>
          <p:cNvSpPr/>
          <p:nvPr/>
        </p:nvSpPr>
        <p:spPr>
          <a:xfrm>
            <a:off x="609600" y="4743450"/>
            <a:ext cx="7772400" cy="533400"/>
          </a:xfrm>
          <a:prstGeom prst="roundRect">
            <a:avLst>
              <a:gd name="adj" fmla="val 10000"/>
            </a:avLst>
          </a:prstGeom>
          <a:solidFill>
            <a:srgbClr val="FDE8D0"/>
          </a:solidFill>
          <a:ln w="0">
            <a:noFill/>
          </a:ln>
        </p:spPr>
        <p:txBody>
          <a:bodyPr lIns="182880" tIns="36576" rIns="182880" bIns="36576" anchor="ctr"/>
          <a:lstStyle/>
          <a:p>
            <a:pPr algn="l"/>
            <a:r>
              <a:rPr lang="en-US" sz="2000" b="1" dirty="0">
                <a:solidFill>
                  <a:srgbClr val="F79646"/>
                </a:solidFill>
              </a:rPr>
              <a:t>F1 hybrid: </a:t>
            </a:r>
            <a:r>
              <a:rPr lang="en-US" sz="2000" b="1" dirty="0">
                <a:solidFill>
                  <a:srgbClr val="1F497D"/>
                </a:solidFill>
                <a:latin typeface="Consolas"/>
              </a:rPr>
              <a:t>Aa|Bb</a:t>
            </a:r>
            <a:r>
              <a:rPr lang="en-US" sz="2000" dirty="0">
                <a:solidFill>
                  <a:srgbClr val="555555"/>
                </a:solidFill>
              </a:rPr>
              <a:t>  (good dominant alleles at both loci!)</a:t>
            </a:r>
          </a:p>
        </p:txBody>
      </p:sp>
      <p:sp>
        <p:nvSpPr>
          <p:cNvPr id="120" name="ResultCard"/>
          <p:cNvSpPr/>
          <p:nvPr/>
        </p:nvSpPr>
        <p:spPr>
          <a:xfrm>
            <a:off x="457200" y="5791200"/>
            <a:ext cx="8229600" cy="685800"/>
          </a:xfrm>
          <a:prstGeom prst="roundRect">
            <a:avLst>
              <a:gd name="adj" fmla="val 5000"/>
            </a:avLst>
          </a:prstGeom>
          <a:solidFill>
            <a:srgbClr val="FDF2E9"/>
          </a:solidFill>
          <a:ln w="0">
            <a:noFill/>
          </a:ln>
        </p:spPr>
        <p:txBody>
          <a:bodyPr lIns="274320" tIns="45720" rIns="274320" bIns="45720" anchor="ctr"/>
          <a:lstStyle/>
          <a:p>
            <a:pPr algn="l"/>
            <a:r>
              <a:rPr lang="en-US" sz="2000" b="1" dirty="0">
                <a:solidFill>
                  <a:srgbClr val="F79646"/>
                </a:solidFill>
              </a:rPr>
              <a:t>Result: </a:t>
            </a:r>
            <a:r>
              <a:rPr lang="en-US" sz="2000" dirty="0">
                <a:solidFill>
                  <a:srgbClr val="333333"/>
                </a:solidFill>
              </a:rPr>
              <a:t>F1 has fewer exposed deleterious alleles than either parent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lstStyle/>
          <a:p>
            <a:pPr algn="l"/>
            <a:r>
              <a:rPr lang="en-US" sz="3200" b="1" dirty="0">
                <a:solidFill>
                  <a:srgbClr val="1F497D"/>
                </a:solidFill>
              </a:rPr>
              <a:t>Genetic Basis (Cont)</a:t>
            </a:r>
          </a:p>
        </p:txBody>
      </p:sp>
      <p:sp>
        <p:nvSpPr>
          <p:cNvPr id="100" name="OverCard"/>
          <p:cNvSpPr/>
          <p:nvPr/>
        </p:nvSpPr>
        <p:spPr>
          <a:xfrm>
            <a:off x="457200" y="1066800"/>
            <a:ext cx="8229600" cy="1752600"/>
          </a:xfrm>
          <a:prstGeom prst="roundRect">
            <a:avLst>
              <a:gd name="adj" fmla="val 3000"/>
            </a:avLst>
          </a:prstGeom>
          <a:solidFill>
            <a:srgbClr val="EDEAF3"/>
          </a:solidFill>
          <a:ln w="0">
            <a:noFill/>
          </a:ln>
        </p:spPr>
        <p:txBody>
          <a:bodyPr/>
          <a:lstStyle/>
          <a:p>
            <a:endParaRPr sz="2400"/>
          </a:p>
        </p:txBody>
      </p:sp>
      <p:sp>
        <p:nvSpPr>
          <p:cNvPr id="101" name="OverLabel"/>
          <p:cNvSpPr/>
          <p:nvPr/>
        </p:nvSpPr>
        <p:spPr>
          <a:xfrm>
            <a:off x="609600" y="1143000"/>
            <a:ext cx="7924800" cy="342900"/>
          </a:xfrm>
          <a:prstGeom prst="rect">
            <a:avLst/>
          </a:prstGeom>
          <a:noFill/>
          <a:ln w="0">
            <a:noFill/>
          </a:ln>
        </p:spPr>
        <p:txBody>
          <a:bodyPr lIns="0" tIns="0" rIns="0" bIns="0" anchor="t"/>
          <a:lstStyle/>
          <a:p>
            <a:pPr algn="l"/>
            <a:r>
              <a:rPr lang="en-US" sz="2400" b="1" dirty="0">
                <a:solidFill>
                  <a:srgbClr val="8064A2"/>
                </a:solidFill>
              </a:rPr>
              <a:t>OVERDOMINANCE</a:t>
            </a:r>
          </a:p>
        </p:txBody>
      </p:sp>
      <p:sp>
        <p:nvSpPr>
          <p:cNvPr id="102" name="OverContent"/>
          <p:cNvSpPr/>
          <p:nvPr/>
        </p:nvSpPr>
        <p:spPr>
          <a:xfrm>
            <a:off x="609600" y="1524000"/>
            <a:ext cx="7924800" cy="1143000"/>
          </a:xfrm>
          <a:prstGeom prst="rect">
            <a:avLst/>
          </a:prstGeom>
          <a:noFill/>
          <a:ln w="0">
            <a:noFill/>
          </a:ln>
        </p:spPr>
        <p:txBody>
          <a:bodyPr lIns="0" tIns="0" rIns="0" bIns="0" anchor="t"/>
          <a:lstStyle/>
          <a:p>
            <a:pPr algn="l">
              <a:lnSpc>
                <a:spcPts val="2400"/>
              </a:lnSpc>
              <a:buChar char="•"/>
            </a:pPr>
            <a:r>
              <a:rPr lang="en-US" sz="2000" dirty="0">
                <a:solidFill>
                  <a:srgbClr val="333333"/>
                </a:solidFill>
              </a:rPr>
              <a:t>Heterozygote (Aa) superior to either homozygote (AA or aa)</a:t>
            </a:r>
          </a:p>
          <a:p>
            <a:pPr algn="l">
              <a:lnSpc>
                <a:spcPts val="2400"/>
              </a:lnSpc>
              <a:buChar char="•"/>
            </a:pPr>
            <a:r>
              <a:rPr lang="en-US" sz="2000" dirty="0">
                <a:solidFill>
                  <a:srgbClr val="333333"/>
                </a:solidFill>
              </a:rPr>
              <a:t>Some documented examples exist</a:t>
            </a:r>
          </a:p>
          <a:p>
            <a:pPr algn="l">
              <a:lnSpc>
                <a:spcPts val="2400"/>
              </a:lnSpc>
              <a:buChar char="•"/>
            </a:pPr>
            <a:r>
              <a:rPr lang="en-US" sz="2000" dirty="0">
                <a:solidFill>
                  <a:srgbClr val="333333"/>
                </a:solidFill>
              </a:rPr>
              <a:t>Controversial, probably minor contribution</a:t>
            </a:r>
          </a:p>
        </p:txBody>
      </p:sp>
      <p:sp>
        <p:nvSpPr>
          <p:cNvPr id="110" name="EpiCard"/>
          <p:cNvSpPr/>
          <p:nvPr/>
        </p:nvSpPr>
        <p:spPr>
          <a:xfrm>
            <a:off x="457200" y="3238500"/>
            <a:ext cx="8229600" cy="1524000"/>
          </a:xfrm>
          <a:prstGeom prst="roundRect">
            <a:avLst>
              <a:gd name="adj" fmla="val 3000"/>
            </a:avLst>
          </a:prstGeom>
          <a:solidFill>
            <a:srgbClr val="F5F5F5"/>
          </a:solidFill>
          <a:ln w="0">
            <a:noFill/>
          </a:ln>
        </p:spPr>
        <p:txBody>
          <a:bodyPr/>
          <a:lstStyle/>
          <a:p>
            <a:endParaRPr/>
          </a:p>
        </p:txBody>
      </p:sp>
      <p:sp>
        <p:nvSpPr>
          <p:cNvPr id="111" name="EpiLabel"/>
          <p:cNvSpPr/>
          <p:nvPr/>
        </p:nvSpPr>
        <p:spPr>
          <a:xfrm>
            <a:off x="609600" y="3346450"/>
            <a:ext cx="7924800" cy="342900"/>
          </a:xfrm>
          <a:prstGeom prst="rect">
            <a:avLst/>
          </a:prstGeom>
          <a:noFill/>
          <a:ln w="0">
            <a:noFill/>
          </a:ln>
        </p:spPr>
        <p:txBody>
          <a:bodyPr lIns="0" tIns="0" rIns="0" bIns="0" anchor="t"/>
          <a:lstStyle/>
          <a:p>
            <a:pPr algn="l"/>
            <a:r>
              <a:rPr lang="en-US" sz="2400" b="1" dirty="0">
                <a:solidFill>
                  <a:srgbClr val="1F497D"/>
                </a:solidFill>
              </a:rPr>
              <a:t>EPISTASIS (GENETIC INTERACTIONS)</a:t>
            </a:r>
          </a:p>
        </p:txBody>
      </p:sp>
      <p:sp>
        <p:nvSpPr>
          <p:cNvPr id="112" name="EpiContent"/>
          <p:cNvSpPr/>
          <p:nvPr/>
        </p:nvSpPr>
        <p:spPr>
          <a:xfrm>
            <a:off x="609600" y="3797300"/>
            <a:ext cx="7924800" cy="914400"/>
          </a:xfrm>
          <a:prstGeom prst="rect">
            <a:avLst/>
          </a:prstGeom>
          <a:noFill/>
          <a:ln w="0">
            <a:noFill/>
          </a:ln>
        </p:spPr>
        <p:txBody>
          <a:bodyPr lIns="0" tIns="0" rIns="0" bIns="0" anchor="t"/>
          <a:lstStyle/>
          <a:p>
            <a:pPr algn="l">
              <a:lnSpc>
                <a:spcPts val="2400"/>
              </a:lnSpc>
              <a:buChar char="•"/>
            </a:pPr>
            <a:r>
              <a:rPr lang="en-US" sz="2000" dirty="0">
                <a:solidFill>
                  <a:srgbClr val="333333"/>
                </a:solidFill>
              </a:rPr>
              <a:t>Favorable allele combinations in F1</a:t>
            </a:r>
          </a:p>
          <a:p>
            <a:pPr algn="l">
              <a:lnSpc>
                <a:spcPts val="2400"/>
              </a:lnSpc>
              <a:buChar char="•"/>
            </a:pPr>
            <a:r>
              <a:rPr lang="en-US" sz="2000" dirty="0">
                <a:solidFill>
                  <a:srgbClr val="333333"/>
                </a:solidFill>
              </a:rPr>
              <a:t>Complex gene networks interact favorably</a:t>
            </a:r>
          </a:p>
        </p:txBody>
      </p:sp>
      <p:sp>
        <p:nvSpPr>
          <p:cNvPr id="120" name="ResultCard"/>
          <p:cNvSpPr/>
          <p:nvPr/>
        </p:nvSpPr>
        <p:spPr>
          <a:xfrm>
            <a:off x="457200" y="5181600"/>
            <a:ext cx="8229600" cy="1143000"/>
          </a:xfrm>
          <a:prstGeom prst="roundRect">
            <a:avLst>
              <a:gd name="adj" fmla="val 4000"/>
            </a:avLst>
          </a:prstGeom>
          <a:solidFill>
            <a:srgbClr val="FDF2E9"/>
          </a:solidFill>
          <a:ln w="0">
            <a:noFill/>
          </a:ln>
        </p:spPr>
        <p:txBody>
          <a:bodyPr lIns="274320" tIns="91440" rIns="274320" bIns="91440" anchor="ctr"/>
          <a:lstStyle/>
          <a:p>
            <a:pPr algn="l">
              <a:lnSpc>
                <a:spcPts val="2600"/>
              </a:lnSpc>
            </a:pPr>
            <a:r>
              <a:rPr lang="en-US" sz="2400" b="1" dirty="0">
                <a:solidFill>
                  <a:srgbClr val="F79646"/>
                </a:solidFill>
              </a:rPr>
              <a:t>Reality: </a:t>
            </a:r>
            <a:r>
              <a:rPr lang="en-US" sz="2400" dirty="0">
                <a:solidFill>
                  <a:srgbClr val="333333"/>
                </a:solidFill>
              </a:rPr>
              <a:t>All three mechanisms likely contribute</a:t>
            </a:r>
          </a:p>
          <a:p>
            <a:pPr algn="l">
              <a:lnSpc>
                <a:spcPts val="2600"/>
              </a:lnSpc>
            </a:pPr>
            <a:r>
              <a:rPr lang="en-US" sz="2400" b="1" dirty="0">
                <a:solidFill>
                  <a:srgbClr val="8064A2"/>
                </a:solidFill>
              </a:rPr>
              <a:t>Dominance is probably the primary driver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38E308-6C15-248D-8FFE-B53A5885E61C}"/>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97D2CB6-53E8-2A43-A7D5-D722C0000DCB}"/>
              </a:ext>
            </a:extLst>
          </p:cNvPr>
          <p:cNvSpPr>
            <a:spLocks noGrp="1"/>
          </p:cNvSpPr>
          <p:nvPr>
            <p:ph type="title"/>
          </p:nvPr>
        </p:nvSpPr>
        <p:spPr>
          <a:xfrm>
            <a:off x="619797" y="586855"/>
            <a:ext cx="3172575" cy="3387497"/>
          </a:xfrm>
        </p:spPr>
        <p:txBody>
          <a:bodyPr anchor="b">
            <a:normAutofit/>
          </a:bodyPr>
          <a:lstStyle/>
          <a:p>
            <a:pPr algn="r"/>
            <a:r>
              <a:rPr lang="en-US" sz="3500" dirty="0">
                <a:solidFill>
                  <a:srgbClr val="FFFFFF"/>
                </a:solidFill>
              </a:rPr>
              <a:t>General Combining Ability (GCA)</a:t>
            </a:r>
          </a:p>
        </p:txBody>
      </p:sp>
      <p:sp>
        <p:nvSpPr>
          <p:cNvPr id="3" name="Content Placeholder 2">
            <a:extLst>
              <a:ext uri="{FF2B5EF4-FFF2-40B4-BE49-F238E27FC236}">
                <a16:creationId xmlns:a16="http://schemas.microsoft.com/office/drawing/2014/main" id="{F401957A-0A86-9210-E449-6DBFD5805858}"/>
              </a:ext>
            </a:extLst>
          </p:cNvPr>
          <p:cNvSpPr>
            <a:spLocks noGrp="1"/>
          </p:cNvSpPr>
          <p:nvPr>
            <p:ph idx="1"/>
          </p:nvPr>
        </p:nvSpPr>
        <p:spPr>
          <a:xfrm>
            <a:off x="4185154" y="649480"/>
            <a:ext cx="4958272" cy="5546047"/>
          </a:xfrm>
        </p:spPr>
        <p:txBody>
          <a:bodyPr anchor="ctr">
            <a:normAutofit/>
          </a:bodyPr>
          <a:lstStyle/>
          <a:p>
            <a:endParaRPr lang="en-US" sz="1700" dirty="0"/>
          </a:p>
          <a:p>
            <a:pPr marL="0" indent="0">
              <a:buNone/>
              <a:defRPr sz="2000"/>
            </a:pPr>
            <a:r>
              <a:rPr lang="en-US" sz="1700" dirty="0"/>
              <a:t>GCA = Average performance of a parent across many crosses</a:t>
            </a:r>
          </a:p>
          <a:p>
            <a:pPr>
              <a:defRPr sz="2000"/>
            </a:pPr>
            <a:endParaRPr lang="en-US" sz="1700" dirty="0"/>
          </a:p>
          <a:p>
            <a:pPr marL="0" indent="0">
              <a:buNone/>
              <a:defRPr sz="2000"/>
            </a:pPr>
            <a:r>
              <a:rPr lang="en-US" sz="1700" dirty="0"/>
              <a:t>Reflects breeding value (additive genetic effects)</a:t>
            </a:r>
          </a:p>
          <a:p>
            <a:pPr>
              <a:defRPr sz="2000"/>
            </a:pPr>
            <a:endParaRPr lang="en-US" sz="1700" dirty="0"/>
          </a:p>
          <a:p>
            <a:pPr marL="0" indent="0">
              <a:buNone/>
              <a:defRPr sz="2000"/>
            </a:pPr>
            <a:r>
              <a:rPr lang="en-US" sz="1700" dirty="0"/>
              <a:t>Example:</a:t>
            </a:r>
          </a:p>
          <a:p>
            <a:pPr>
              <a:defRPr sz="2000"/>
            </a:pPr>
            <a:r>
              <a:rPr lang="en-US" sz="1700" dirty="0"/>
              <a:t>Inbred A: GCA = +8 </a:t>
            </a:r>
            <a:r>
              <a:rPr lang="en-US" sz="1700" dirty="0" err="1"/>
              <a:t>bu</a:t>
            </a:r>
            <a:r>
              <a:rPr lang="en-US" sz="1700" dirty="0"/>
              <a:t>/ac</a:t>
            </a:r>
          </a:p>
          <a:p>
            <a:pPr>
              <a:defRPr sz="2000"/>
            </a:pPr>
            <a:r>
              <a:rPr lang="en-US" sz="1700" dirty="0"/>
              <a:t>Inbred B: GCA = +2 </a:t>
            </a:r>
            <a:r>
              <a:rPr lang="en-US" sz="1700" dirty="0" err="1"/>
              <a:t>bu</a:t>
            </a:r>
            <a:r>
              <a:rPr lang="en-US" sz="1700" dirty="0"/>
              <a:t>/ac</a:t>
            </a:r>
          </a:p>
          <a:p>
            <a:pPr>
              <a:defRPr sz="2000"/>
            </a:pPr>
            <a:endParaRPr lang="en-US" sz="1700" dirty="0"/>
          </a:p>
          <a:p>
            <a:pPr>
              <a:defRPr sz="2000"/>
            </a:pPr>
            <a:r>
              <a:rPr lang="en-US" sz="1700" dirty="0"/>
              <a:t>Prediction: Crosses with A will yield ~6 </a:t>
            </a:r>
            <a:r>
              <a:rPr lang="en-US" sz="1700" dirty="0" err="1"/>
              <a:t>bu</a:t>
            </a:r>
            <a:r>
              <a:rPr lang="en-US" sz="1700" dirty="0"/>
              <a:t>/ac more than crosses with B</a:t>
            </a:r>
          </a:p>
          <a:p>
            <a:pPr>
              <a:defRPr sz="2000"/>
            </a:pPr>
            <a:endParaRPr lang="en-US" sz="1700" dirty="0"/>
          </a:p>
        </p:txBody>
      </p:sp>
    </p:spTree>
    <p:extLst>
      <p:ext uri="{BB962C8B-B14F-4D97-AF65-F5344CB8AC3E}">
        <p14:creationId xmlns:p14="http://schemas.microsoft.com/office/powerpoint/2010/main" val="2910975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63">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5" name="Rectangle 74">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dirty="0">
                <a:solidFill>
                  <a:srgbClr val="FFFFFF"/>
                </a:solidFill>
              </a:rPr>
              <a:t>Specific Combining Ability (SCA)</a:t>
            </a:r>
          </a:p>
        </p:txBody>
      </p:sp>
      <p:graphicFrame>
        <p:nvGraphicFramePr>
          <p:cNvPr id="76" name="Content Placeholder 2">
            <a:extLst>
              <a:ext uri="{FF2B5EF4-FFF2-40B4-BE49-F238E27FC236}">
                <a16:creationId xmlns:a16="http://schemas.microsoft.com/office/drawing/2014/main" id="{19F1347F-C119-6D62-EA6B-3BDE878E98AA}"/>
              </a:ext>
            </a:extLst>
          </p:cNvPr>
          <p:cNvGraphicFramePr>
            <a:graphicFrameLocks noGrp="1"/>
          </p:cNvGraphicFramePr>
          <p:nvPr>
            <p:ph idx="1"/>
            <p:extLst>
              <p:ext uri="{D42A27DB-BD31-4B8C-83A1-F6EECF244321}">
                <p14:modId xmlns:p14="http://schemas.microsoft.com/office/powerpoint/2010/main" val="858676493"/>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GCA + SCA Relationship</a:t>
            </a:r>
          </a:p>
        </p:txBody>
      </p:sp>
      <p:sp>
        <p:nvSpPr>
          <p:cNvPr id="3" name="Content Placeholder 2"/>
          <p:cNvSpPr>
            <a:spLocks noGrp="1"/>
          </p:cNvSpPr>
          <p:nvPr>
            <p:ph idx="1"/>
          </p:nvPr>
        </p:nvSpPr>
        <p:spPr>
          <a:xfrm>
            <a:off x="4877368" y="649480"/>
            <a:ext cx="3646835" cy="5546047"/>
          </a:xfrm>
        </p:spPr>
        <p:txBody>
          <a:bodyPr anchor="ctr">
            <a:normAutofit/>
          </a:bodyPr>
          <a:lstStyle/>
          <a:p>
            <a:endParaRPr lang="en-US" sz="1700" dirty="0"/>
          </a:p>
          <a:p>
            <a:pPr marL="0" indent="0">
              <a:buNone/>
              <a:defRPr sz="2000"/>
            </a:pPr>
            <a:r>
              <a:rPr lang="en-US" sz="1700" dirty="0"/>
              <a:t>Expected hybrid performance:</a:t>
            </a:r>
          </a:p>
          <a:p>
            <a:pPr>
              <a:defRPr sz="2000"/>
            </a:pPr>
            <a:r>
              <a:rPr lang="en-US" sz="1700" dirty="0"/>
              <a:t>Expected = GCA_A + GCA_B</a:t>
            </a:r>
          </a:p>
          <a:p>
            <a:pPr>
              <a:defRPr sz="2000"/>
            </a:pPr>
            <a:endParaRPr lang="en-US" sz="1700" dirty="0"/>
          </a:p>
          <a:p>
            <a:pPr marL="0" indent="0">
              <a:buNone/>
              <a:defRPr sz="2000"/>
            </a:pPr>
            <a:r>
              <a:rPr lang="en-US" sz="1700" dirty="0"/>
              <a:t>SCA = Deviation from expectation:</a:t>
            </a:r>
          </a:p>
          <a:p>
            <a:pPr>
              <a:defRPr sz="2000"/>
            </a:pPr>
            <a:r>
              <a:rPr lang="en-US" sz="1700" dirty="0"/>
              <a:t>SCA = Observed - Expected</a:t>
            </a:r>
          </a:p>
          <a:p>
            <a:pPr>
              <a:defRPr sz="2000"/>
            </a:pPr>
            <a:endParaRPr lang="en-US" sz="1700" dirty="0"/>
          </a:p>
          <a:p>
            <a:pPr marL="0" indent="0">
              <a:buNone/>
              <a:defRPr sz="2000"/>
            </a:pPr>
            <a:r>
              <a:rPr lang="en-US" sz="1700" dirty="0"/>
              <a:t>Example:</a:t>
            </a:r>
          </a:p>
          <a:p>
            <a:pPr marL="0" indent="0">
              <a:buNone/>
              <a:defRPr sz="2000"/>
            </a:pPr>
            <a:r>
              <a:rPr lang="en-US" sz="1700" dirty="0"/>
              <a:t>	• Inbred A: GCA = +10 </a:t>
            </a:r>
            <a:r>
              <a:rPr lang="en-US" sz="1700"/>
              <a:t>bu</a:t>
            </a:r>
            <a:r>
              <a:rPr lang="en-US" sz="1700" dirty="0"/>
              <a:t>/ac</a:t>
            </a:r>
          </a:p>
          <a:p>
            <a:pPr marL="0" indent="0">
              <a:buNone/>
              <a:defRPr sz="2000"/>
            </a:pPr>
            <a:r>
              <a:rPr lang="en-US" sz="1700" dirty="0"/>
              <a:t>	• Inbred B: GCA = +8 </a:t>
            </a:r>
            <a:r>
              <a:rPr lang="en-US" sz="1700"/>
              <a:t>bu</a:t>
            </a:r>
            <a:r>
              <a:rPr lang="en-US" sz="1700" dirty="0"/>
              <a:t>/ac</a:t>
            </a:r>
          </a:p>
          <a:p>
            <a:pPr marL="0" indent="0">
              <a:buNone/>
              <a:defRPr sz="2000"/>
            </a:pPr>
            <a:r>
              <a:rPr lang="en-US" sz="1700" dirty="0"/>
              <a:t>	• Expected A×B: +18 </a:t>
            </a:r>
            <a:r>
              <a:rPr lang="en-US" sz="1700"/>
              <a:t>bu</a:t>
            </a:r>
            <a:r>
              <a:rPr lang="en-US" sz="1700" dirty="0"/>
              <a:t>/ac</a:t>
            </a:r>
          </a:p>
          <a:p>
            <a:pPr marL="0" indent="0">
              <a:buNone/>
              <a:defRPr sz="2000"/>
            </a:pPr>
            <a:r>
              <a:rPr lang="en-US" sz="1700" dirty="0"/>
              <a:t>	• Observed A×B: +25 </a:t>
            </a:r>
            <a:r>
              <a:rPr lang="en-US" sz="1700"/>
              <a:t>bu</a:t>
            </a:r>
            <a:r>
              <a:rPr lang="en-US" sz="1700" dirty="0"/>
              <a:t>/ac</a:t>
            </a:r>
          </a:p>
          <a:p>
            <a:pPr marL="0" indent="0">
              <a:buNone/>
              <a:defRPr sz="2000"/>
            </a:pPr>
            <a:r>
              <a:rPr lang="en-US" sz="1700" dirty="0"/>
              <a:t>	• SCA_AB = +7 (excellent specific combination!)</a:t>
            </a:r>
          </a:p>
        </p:txBody>
      </p:sp>
    </p:spTree>
    <p:extLst>
      <p:ext uri="{BB962C8B-B14F-4D97-AF65-F5344CB8AC3E}">
        <p14:creationId xmlns:p14="http://schemas.microsoft.com/office/powerpoint/2010/main" val="3831171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pPr>
            <a:r>
              <a:t>Historical Impact: US Maize Yield 1930-2020</a:t>
            </a:r>
          </a:p>
        </p:txBody>
      </p:sp>
      <p:pic>
        <p:nvPicPr>
          <p:cNvPr id="1026" name="Picture 2">
            <a:extLst>
              <a:ext uri="{FF2B5EF4-FFF2-40B4-BE49-F238E27FC236}">
                <a16:creationId xmlns:a16="http://schemas.microsoft.com/office/drawing/2014/main" id="{F4BBBD7A-F8E7-F91A-CF99-ABEA06F31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393" y="1315844"/>
            <a:ext cx="8307045" cy="47246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35629A4-F444-A37E-A209-86F41D9B62F8}"/>
              </a:ext>
            </a:extLst>
          </p:cNvPr>
          <p:cNvSpPr txBox="1"/>
          <p:nvPr/>
        </p:nvSpPr>
        <p:spPr>
          <a:xfrm>
            <a:off x="279393" y="6266985"/>
            <a:ext cx="5073192" cy="523220"/>
          </a:xfrm>
          <a:prstGeom prst="rect">
            <a:avLst/>
          </a:prstGeom>
          <a:noFill/>
        </p:spPr>
        <p:txBody>
          <a:bodyPr wrap="square" rtlCol="0">
            <a:spAutoFit/>
          </a:bodyPr>
          <a:lstStyle/>
          <a:p>
            <a:r>
              <a:rPr lang="en-US" sz="1400" dirty="0"/>
              <a:t>https://</a:t>
            </a:r>
            <a:r>
              <a:rPr lang="en-US" sz="1400" dirty="0" err="1"/>
              <a:t>extension.entm.purdue.edu</a:t>
            </a:r>
            <a:r>
              <a:rPr lang="en-US" sz="1400" dirty="0"/>
              <a:t>/newsletters/</a:t>
            </a:r>
            <a:r>
              <a:rPr lang="en-US" sz="1400" dirty="0" err="1"/>
              <a:t>pestandcrop</a:t>
            </a:r>
            <a:r>
              <a:rPr lang="en-US" sz="1400" dirty="0"/>
              <a:t>/article/historical-corn-grain-yields-in-the-u-s-4/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A9C8D46-54D8-4DF1-99A2-E651C7B132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9143998" cy="6858000"/>
          </a:xfrm>
          <a:prstGeom prst="rect">
            <a:avLst/>
          </a:prstGeom>
          <a:gradFill>
            <a:gsLst>
              <a:gs pos="0">
                <a:schemeClr val="accent1">
                  <a:lumMod val="50000"/>
                </a:schemeClr>
              </a:gs>
              <a:gs pos="100000">
                <a:srgbClr val="000000"/>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12">
            <a:extLst>
              <a:ext uri="{FF2B5EF4-FFF2-40B4-BE49-F238E27FC236}">
                <a16:creationId xmlns:a16="http://schemas.microsoft.com/office/drawing/2014/main" id="{DE12BF4D-F47A-41C1-85FC-652E412D3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8591">
            <a:off x="3813415" y="1336362"/>
            <a:ext cx="5330585" cy="3914041"/>
          </a:xfrm>
          <a:custGeom>
            <a:avLst/>
            <a:gdLst>
              <a:gd name="connsiteX0" fmla="*/ 4721855 w 5330585"/>
              <a:gd name="connsiteY0" fmla="*/ 4361426 h 5218721"/>
              <a:gd name="connsiteX1" fmla="*/ 3457542 w 5330585"/>
              <a:gd name="connsiteY1" fmla="*/ 5211667 h 5218721"/>
              <a:gd name="connsiteX2" fmla="*/ 3430109 w 5330585"/>
              <a:gd name="connsiteY2" fmla="*/ 5218721 h 5218721"/>
              <a:gd name="connsiteX3" fmla="*/ 0 w 5330585"/>
              <a:gd name="connsiteY3" fmla="*/ 2647363 h 5218721"/>
              <a:gd name="connsiteX4" fmla="*/ 12834 w 5330585"/>
              <a:gd name="connsiteY4" fmla="*/ 2393199 h 5218721"/>
              <a:gd name="connsiteX5" fmla="*/ 2664828 w 5330585"/>
              <a:gd name="connsiteY5" fmla="*/ 0 h 5218721"/>
              <a:gd name="connsiteX6" fmla="*/ 5330585 w 5330585"/>
              <a:gd name="connsiteY6" fmla="*/ 2665757 h 5218721"/>
              <a:gd name="connsiteX7" fmla="*/ 4721855 w 5330585"/>
              <a:gd name="connsiteY7" fmla="*/ 4361426 h 5218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0585" h="5218721">
                <a:moveTo>
                  <a:pt x="4721855" y="4361426"/>
                </a:moveTo>
                <a:cubicBezTo>
                  <a:pt x="4395896" y="4756397"/>
                  <a:pt x="3958379" y="5055891"/>
                  <a:pt x="3457542" y="5211667"/>
                </a:cubicBezTo>
                <a:lnTo>
                  <a:pt x="3430109" y="5218721"/>
                </a:lnTo>
                <a:lnTo>
                  <a:pt x="0" y="2647363"/>
                </a:lnTo>
                <a:lnTo>
                  <a:pt x="12834" y="2393199"/>
                </a:lnTo>
                <a:cubicBezTo>
                  <a:pt x="149347" y="1048975"/>
                  <a:pt x="1284587" y="0"/>
                  <a:pt x="2664828" y="0"/>
                </a:cubicBezTo>
                <a:cubicBezTo>
                  <a:pt x="4137085" y="0"/>
                  <a:pt x="5330585" y="1193500"/>
                  <a:pt x="5330585" y="2665757"/>
                </a:cubicBezTo>
                <a:cubicBezTo>
                  <a:pt x="5330585" y="3309870"/>
                  <a:pt x="5102142" y="3900626"/>
                  <a:pt x="4721855" y="4361426"/>
                </a:cubicBezTo>
                <a:close/>
              </a:path>
            </a:pathLst>
          </a:custGeom>
          <a:gradFill>
            <a:gsLst>
              <a:gs pos="16000">
                <a:srgbClr val="000000">
                  <a:alpha val="41000"/>
                </a:srgbClr>
              </a:gs>
              <a:gs pos="85000">
                <a:schemeClr val="accent1">
                  <a:alpha val="25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7">
            <a:extLst>
              <a:ext uri="{FF2B5EF4-FFF2-40B4-BE49-F238E27FC236}">
                <a16:creationId xmlns:a16="http://schemas.microsoft.com/office/drawing/2014/main" id="{AAF055B3-1F95-4ABA-BFE4-A58320A82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0"/>
            <a:ext cx="9124485" cy="4480890"/>
          </a:xfrm>
          <a:prstGeom prst="rect">
            <a:avLst/>
          </a:prstGeom>
          <a:gradFill>
            <a:gsLst>
              <a:gs pos="0">
                <a:schemeClr val="accent1">
                  <a:lumMod val="75000"/>
                  <a:alpha val="50000"/>
                </a:schemeClr>
              </a:gs>
              <a:gs pos="99000">
                <a:srgbClr val="000000">
                  <a:alpha val="34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5FBF53F-BBBA-4974-AD72-0E8CD294E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466" y="-2"/>
            <a:ext cx="9134528" cy="6400796"/>
          </a:xfrm>
          <a:prstGeom prst="rect">
            <a:avLst/>
          </a:prstGeom>
          <a:gradFill>
            <a:gsLst>
              <a:gs pos="45000">
                <a:schemeClr val="accent1">
                  <a:lumMod val="75000"/>
                  <a:alpha val="0"/>
                </a:schemeClr>
              </a:gs>
              <a:gs pos="99000">
                <a:srgbClr val="000000">
                  <a:alpha val="68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166352" y="1201002"/>
            <a:ext cx="5406148" cy="2779619"/>
          </a:xfrm>
        </p:spPr>
        <p:txBody>
          <a:bodyPr vert="horz" lIns="91440" tIns="45720" rIns="91440" bIns="45720" rtlCol="0" anchor="b">
            <a:normAutofit/>
          </a:bodyPr>
          <a:lstStyle/>
          <a:p>
            <a:pPr algn="l" defTabSz="914400">
              <a:lnSpc>
                <a:spcPct val="90000"/>
              </a:lnSpc>
            </a:pPr>
            <a:r>
              <a:rPr lang="en-US" sz="4200" kern="1200" dirty="0">
                <a:solidFill>
                  <a:srgbClr val="FFFFFF"/>
                </a:solidFill>
                <a:latin typeface="+mj-lt"/>
                <a:ea typeface="+mj-ea"/>
                <a:cs typeface="+mj-cs"/>
              </a:rPr>
              <a:t>Session 3: Parent Creation</a:t>
            </a:r>
            <a:br>
              <a:rPr lang="en-US" sz="4200" kern="1200" dirty="0">
                <a:solidFill>
                  <a:srgbClr val="FFFFFF"/>
                </a:solidFill>
                <a:latin typeface="+mj-lt"/>
                <a:ea typeface="+mj-ea"/>
                <a:cs typeface="+mj-cs"/>
              </a:rPr>
            </a:br>
            <a:endParaRPr lang="en-US" sz="4200" kern="1200" dirty="0">
              <a:solidFill>
                <a:srgbClr val="FFFFFF"/>
              </a:solidFill>
              <a:latin typeface="+mj-lt"/>
              <a:ea typeface="+mj-ea"/>
              <a:cs typeface="+mj-cs"/>
            </a:endParaRPr>
          </a:p>
        </p:txBody>
      </p:sp>
      <p:sp>
        <p:nvSpPr>
          <p:cNvPr id="4" name="TextBox 3"/>
          <p:cNvSpPr txBox="1"/>
          <p:nvPr/>
        </p:nvSpPr>
        <p:spPr>
          <a:xfrm>
            <a:off x="3166352" y="4940490"/>
            <a:ext cx="5406148" cy="1265112"/>
          </a:xfrm>
          <a:prstGeom prst="rect">
            <a:avLst/>
          </a:prstGeom>
        </p:spPr>
        <p:txBody>
          <a:bodyPr vert="horz" lIns="91440" tIns="45720" rIns="91440" bIns="45720" rtlCol="0">
            <a:normAutofit/>
          </a:bodyPr>
          <a:lstStyle/>
          <a:p>
            <a:pPr defTabSz="914400">
              <a:lnSpc>
                <a:spcPct val="90000"/>
              </a:lnSpc>
              <a:spcBef>
                <a:spcPts val="1000"/>
              </a:spcBef>
              <a:defRPr sz="2400"/>
            </a:pPr>
            <a:r>
              <a:rPr lang="en-US" sz="2400" kern="1200">
                <a:solidFill>
                  <a:srgbClr val="FFFFFF"/>
                </a:solidFill>
                <a:latin typeface="+mn-lt"/>
                <a:ea typeface="+mn-ea"/>
                <a:cs typeface="+mn-cs"/>
              </a:rPr>
              <a:t>Inbreds &amp; Pool Management (30 min)</a:t>
            </a:r>
          </a:p>
        </p:txBody>
      </p:sp>
      <p:sp>
        <p:nvSpPr>
          <p:cNvPr id="30" name="Rectangle 29">
            <a:extLst>
              <a:ext uri="{FF2B5EF4-FFF2-40B4-BE49-F238E27FC236}">
                <a16:creationId xmlns:a16="http://schemas.microsoft.com/office/drawing/2014/main" id="{5A2875D7-3769-4291-959E-9FAD764A7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4345" y="0"/>
            <a:ext cx="2410770" cy="6858000"/>
          </a:xfrm>
          <a:prstGeom prst="rect">
            <a:avLst/>
          </a:prstGeom>
          <a:gradFill>
            <a:gsLst>
              <a:gs pos="0">
                <a:srgbClr val="000000">
                  <a:alpha val="41000"/>
                </a:srgbClr>
              </a:gs>
              <a:gs pos="86000">
                <a:schemeClr val="accent1">
                  <a:alpha val="3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70" y="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8207" y="0"/>
            <a:ext cx="2705793" cy="6858000"/>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40148" y="818984"/>
            <a:ext cx="4947184" cy="3268520"/>
          </a:xfrm>
        </p:spPr>
        <p:txBody>
          <a:bodyPr vert="horz" lIns="91440" tIns="45720" rIns="91440" bIns="45720" rtlCol="0" anchor="b">
            <a:normAutofit/>
          </a:bodyPr>
          <a:lstStyle/>
          <a:p>
            <a:pPr algn="r" defTabSz="914400">
              <a:lnSpc>
                <a:spcPct val="90000"/>
              </a:lnSpc>
            </a:pPr>
            <a:r>
              <a:rPr lang="en-US" sz="4200" kern="1200" dirty="0">
                <a:solidFill>
                  <a:srgbClr val="FFFFFF"/>
                </a:solidFill>
                <a:latin typeface="+mj-lt"/>
                <a:ea typeface="+mj-ea"/>
                <a:cs typeface="+mj-cs"/>
              </a:rPr>
              <a:t>Where do these inbred parents come from?</a:t>
            </a:r>
          </a:p>
        </p:txBody>
      </p:sp>
      <p:sp>
        <p:nvSpPr>
          <p:cNvPr id="29" name="Rectangle 28">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286428"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lstStyle/>
          <a:p>
            <a:pPr algn="l"/>
            <a:r>
              <a:rPr lang="en-US" sz="3600" b="1">
                <a:solidFill>
                  <a:srgbClr val="1F497D"/>
                </a:solidFill>
              </a:rPr>
              <a:t>What is an Inbred Line?</a:t>
            </a:r>
          </a:p>
        </p:txBody>
      </p:sp>
      <p:sp>
        <p:nvSpPr>
          <p:cNvPr id="100" name="DefCard"/>
          <p:cNvSpPr/>
          <p:nvPr/>
        </p:nvSpPr>
        <p:spPr>
          <a:xfrm>
            <a:off x="457200" y="1066800"/>
            <a:ext cx="8229600" cy="1524000"/>
          </a:xfrm>
          <a:prstGeom prst="roundRect">
            <a:avLst>
              <a:gd name="adj" fmla="val 3000"/>
            </a:avLst>
          </a:prstGeom>
          <a:solidFill>
            <a:srgbClr val="EDEAF3"/>
          </a:solidFill>
          <a:ln w="0">
            <a:noFill/>
          </a:ln>
        </p:spPr>
        <p:txBody>
          <a:bodyPr/>
          <a:lstStyle/>
          <a:p>
            <a:endParaRPr/>
          </a:p>
        </p:txBody>
      </p:sp>
      <p:sp>
        <p:nvSpPr>
          <p:cNvPr id="101" name="DefLabel"/>
          <p:cNvSpPr/>
          <p:nvPr/>
        </p:nvSpPr>
        <p:spPr>
          <a:xfrm>
            <a:off x="609600" y="1143000"/>
            <a:ext cx="7924800" cy="342900"/>
          </a:xfrm>
          <a:prstGeom prst="rect">
            <a:avLst/>
          </a:prstGeom>
          <a:noFill/>
          <a:ln w="0">
            <a:noFill/>
          </a:ln>
        </p:spPr>
        <p:txBody>
          <a:bodyPr lIns="0" tIns="0" rIns="0" bIns="0" anchor="t"/>
          <a:lstStyle/>
          <a:p>
            <a:pPr algn="l"/>
            <a:r>
              <a:rPr lang="en-US" sz="1800" b="1">
                <a:solidFill>
                  <a:srgbClr val="8064A2"/>
                </a:solidFill>
              </a:rPr>
              <a:t>DEFINITION</a:t>
            </a:r>
          </a:p>
        </p:txBody>
      </p:sp>
      <p:sp>
        <p:nvSpPr>
          <p:cNvPr id="102" name="DefContent"/>
          <p:cNvSpPr/>
          <p:nvPr/>
        </p:nvSpPr>
        <p:spPr>
          <a:xfrm>
            <a:off x="609600" y="1485900"/>
            <a:ext cx="7924800" cy="762000"/>
          </a:xfrm>
          <a:prstGeom prst="rect">
            <a:avLst/>
          </a:prstGeom>
          <a:noFill/>
          <a:ln w="0">
            <a:noFill/>
          </a:ln>
        </p:spPr>
        <p:txBody>
          <a:bodyPr lIns="0" tIns="0" rIns="0" bIns="0" anchor="t"/>
          <a:lstStyle/>
          <a:p>
            <a:pPr algn="l">
              <a:lnSpc>
                <a:spcPts val="3000"/>
              </a:lnSpc>
              <a:buChar char="•"/>
            </a:pPr>
            <a:r>
              <a:rPr lang="en-US" sz="2000" dirty="0">
                <a:solidFill>
                  <a:srgbClr val="333333"/>
                </a:solidFill>
              </a:rPr>
              <a:t>Homozygous at most loci (achieved through </a:t>
            </a:r>
            <a:r>
              <a:rPr lang="en-US" sz="2000" dirty="0" err="1">
                <a:solidFill>
                  <a:srgbClr val="333333"/>
                </a:solidFill>
              </a:rPr>
              <a:t>selfing</a:t>
            </a:r>
            <a:r>
              <a:rPr lang="en-US" sz="2000" dirty="0">
                <a:solidFill>
                  <a:srgbClr val="333333"/>
                </a:solidFill>
              </a:rPr>
              <a:t>)</a:t>
            </a:r>
          </a:p>
          <a:p>
            <a:pPr algn="l">
              <a:lnSpc>
                <a:spcPts val="3000"/>
              </a:lnSpc>
              <a:buChar char="•"/>
            </a:pPr>
            <a:r>
              <a:rPr lang="en-US" sz="2000" dirty="0">
                <a:solidFill>
                  <a:srgbClr val="333333"/>
                </a:solidFill>
              </a:rPr>
              <a:t>‘Pure breeding’ − produces uniform progeny when </a:t>
            </a:r>
            <a:r>
              <a:rPr lang="en-US" sz="2000" dirty="0" err="1">
                <a:solidFill>
                  <a:srgbClr val="333333"/>
                </a:solidFill>
              </a:rPr>
              <a:t>selfed</a:t>
            </a:r>
            <a:endParaRPr lang="en-US" sz="2000" dirty="0">
              <a:solidFill>
                <a:srgbClr val="333333"/>
              </a:solidFill>
            </a:endParaRPr>
          </a:p>
        </p:txBody>
      </p:sp>
      <p:sp>
        <p:nvSpPr>
          <p:cNvPr id="110" name="SelfCard"/>
          <p:cNvSpPr/>
          <p:nvPr/>
        </p:nvSpPr>
        <p:spPr>
          <a:xfrm>
            <a:off x="457200" y="2743200"/>
            <a:ext cx="8229600" cy="1905000"/>
          </a:xfrm>
          <a:prstGeom prst="roundRect">
            <a:avLst>
              <a:gd name="adj" fmla="val 3000"/>
            </a:avLst>
          </a:prstGeom>
          <a:solidFill>
            <a:srgbClr val="F5F5F5"/>
          </a:solidFill>
          <a:ln w="0">
            <a:noFill/>
          </a:ln>
        </p:spPr>
        <p:txBody>
          <a:bodyPr/>
          <a:lstStyle/>
          <a:p>
            <a:endParaRPr/>
          </a:p>
        </p:txBody>
      </p:sp>
      <p:sp>
        <p:nvSpPr>
          <p:cNvPr id="111" name="SelfLabel"/>
          <p:cNvSpPr/>
          <p:nvPr/>
        </p:nvSpPr>
        <p:spPr>
          <a:xfrm>
            <a:off x="609600" y="2819400"/>
            <a:ext cx="7924800" cy="342900"/>
          </a:xfrm>
          <a:prstGeom prst="rect">
            <a:avLst/>
          </a:prstGeom>
          <a:noFill/>
          <a:ln w="0">
            <a:noFill/>
          </a:ln>
        </p:spPr>
        <p:txBody>
          <a:bodyPr lIns="0" tIns="0" rIns="0" bIns="0" anchor="t"/>
          <a:lstStyle/>
          <a:p>
            <a:pPr algn="l"/>
            <a:r>
              <a:rPr lang="en-US" sz="2800" b="1" dirty="0">
                <a:solidFill>
                  <a:srgbClr val="1F497D"/>
                </a:solidFill>
              </a:rPr>
              <a:t>SELFING GENERATIONS</a:t>
            </a:r>
          </a:p>
        </p:txBody>
      </p:sp>
      <p:sp>
        <p:nvSpPr>
          <p:cNvPr id="112" name="SelfIntro"/>
          <p:cNvSpPr/>
          <p:nvPr/>
        </p:nvSpPr>
        <p:spPr>
          <a:xfrm>
            <a:off x="609600" y="3416300"/>
            <a:ext cx="7924800" cy="342900"/>
          </a:xfrm>
          <a:prstGeom prst="rect">
            <a:avLst/>
          </a:prstGeom>
          <a:noFill/>
          <a:ln w="0">
            <a:noFill/>
          </a:ln>
        </p:spPr>
        <p:txBody>
          <a:bodyPr lIns="0" tIns="0" rIns="0" bIns="0" anchor="t"/>
          <a:lstStyle/>
          <a:p>
            <a:pPr algn="l"/>
            <a:r>
              <a:rPr lang="en-US" sz="2400" dirty="0">
                <a:solidFill>
                  <a:srgbClr val="333333"/>
                </a:solidFill>
              </a:rPr>
              <a:t>Typically S6–S7 (6–7 generations of </a:t>
            </a:r>
            <a:r>
              <a:rPr lang="en-US" sz="2400" dirty="0" err="1">
                <a:solidFill>
                  <a:srgbClr val="333333"/>
                </a:solidFill>
              </a:rPr>
              <a:t>selfing</a:t>
            </a:r>
            <a:r>
              <a:rPr lang="en-US" sz="2400" dirty="0">
                <a:solidFill>
                  <a:srgbClr val="333333"/>
                </a:solidFill>
              </a:rPr>
              <a:t>)</a:t>
            </a:r>
          </a:p>
        </p:txBody>
      </p:sp>
      <p:sp>
        <p:nvSpPr>
          <p:cNvPr id="113" name="S6Pill"/>
          <p:cNvSpPr/>
          <p:nvPr/>
        </p:nvSpPr>
        <p:spPr>
          <a:xfrm>
            <a:off x="609600" y="3962400"/>
            <a:ext cx="3657600" cy="533400"/>
          </a:xfrm>
          <a:prstGeom prst="roundRect">
            <a:avLst>
              <a:gd name="adj" fmla="val 10000"/>
            </a:avLst>
          </a:prstGeom>
          <a:solidFill>
            <a:srgbClr val="D9EDF7"/>
          </a:solidFill>
          <a:ln w="0">
            <a:noFill/>
          </a:ln>
        </p:spPr>
        <p:txBody>
          <a:bodyPr lIns="182880" tIns="36576" rIns="182880" bIns="36576" anchor="ctr"/>
          <a:lstStyle/>
          <a:p>
            <a:pPr algn="l"/>
            <a:r>
              <a:rPr lang="en-US" sz="2000" b="1" dirty="0">
                <a:solidFill>
                  <a:srgbClr val="4BACC6"/>
                </a:solidFill>
                <a:latin typeface="Consolas"/>
              </a:rPr>
              <a:t>S6</a:t>
            </a:r>
            <a:r>
              <a:rPr lang="en-US" sz="1700" dirty="0">
                <a:solidFill>
                  <a:srgbClr val="333333"/>
                </a:solidFill>
              </a:rPr>
              <a:t>  =  </a:t>
            </a:r>
            <a:r>
              <a:rPr lang="en-US" sz="2200" b="1" dirty="0">
                <a:solidFill>
                  <a:srgbClr val="1F497D"/>
                </a:solidFill>
              </a:rPr>
              <a:t>98.4%</a:t>
            </a:r>
            <a:r>
              <a:rPr lang="en-US" sz="1600" dirty="0">
                <a:solidFill>
                  <a:srgbClr val="555555"/>
                </a:solidFill>
              </a:rPr>
              <a:t>  homozygous</a:t>
            </a:r>
          </a:p>
        </p:txBody>
      </p:sp>
      <p:sp>
        <p:nvSpPr>
          <p:cNvPr id="114" name="S7Pill"/>
          <p:cNvSpPr/>
          <p:nvPr/>
        </p:nvSpPr>
        <p:spPr>
          <a:xfrm>
            <a:off x="4419600" y="3962400"/>
            <a:ext cx="3657600" cy="533400"/>
          </a:xfrm>
          <a:prstGeom prst="roundRect">
            <a:avLst>
              <a:gd name="adj" fmla="val 10000"/>
            </a:avLst>
          </a:prstGeom>
          <a:solidFill>
            <a:srgbClr val="D9EDF7"/>
          </a:solidFill>
          <a:ln w="0">
            <a:noFill/>
          </a:ln>
        </p:spPr>
        <p:txBody>
          <a:bodyPr lIns="182880" tIns="36576" rIns="182880" bIns="36576" anchor="ctr"/>
          <a:lstStyle/>
          <a:p>
            <a:pPr algn="l"/>
            <a:r>
              <a:rPr lang="en-US" sz="2000" b="1" dirty="0">
                <a:solidFill>
                  <a:srgbClr val="4BACC6"/>
                </a:solidFill>
                <a:latin typeface="Consolas"/>
              </a:rPr>
              <a:t>S7</a:t>
            </a:r>
            <a:r>
              <a:rPr lang="en-US" sz="1700" dirty="0">
                <a:solidFill>
                  <a:srgbClr val="333333"/>
                </a:solidFill>
              </a:rPr>
              <a:t>  =  </a:t>
            </a:r>
            <a:r>
              <a:rPr lang="en-US" sz="2200" b="1" dirty="0">
                <a:solidFill>
                  <a:srgbClr val="1F497D"/>
                </a:solidFill>
              </a:rPr>
              <a:t>99.2%</a:t>
            </a:r>
            <a:r>
              <a:rPr lang="en-US" sz="1600" dirty="0">
                <a:solidFill>
                  <a:srgbClr val="555555"/>
                </a:solidFill>
              </a:rPr>
              <a:t>  homozygous</a:t>
            </a:r>
          </a:p>
        </p:txBody>
      </p:sp>
      <p:sp>
        <p:nvSpPr>
          <p:cNvPr id="120" name="PerfCard"/>
          <p:cNvSpPr/>
          <p:nvPr/>
        </p:nvSpPr>
        <p:spPr>
          <a:xfrm>
            <a:off x="457200" y="4876800"/>
            <a:ext cx="8229600" cy="1752600"/>
          </a:xfrm>
          <a:prstGeom prst="roundRect">
            <a:avLst>
              <a:gd name="adj" fmla="val 3000"/>
            </a:avLst>
          </a:prstGeom>
          <a:solidFill>
            <a:srgbClr val="FDF2E9"/>
          </a:solidFill>
          <a:ln w="0">
            <a:noFill/>
          </a:ln>
        </p:spPr>
        <p:txBody>
          <a:bodyPr/>
          <a:lstStyle/>
          <a:p>
            <a:endParaRPr/>
          </a:p>
        </p:txBody>
      </p:sp>
      <p:sp>
        <p:nvSpPr>
          <p:cNvPr id="121" name="PerfLabel"/>
          <p:cNvSpPr/>
          <p:nvPr/>
        </p:nvSpPr>
        <p:spPr>
          <a:xfrm>
            <a:off x="609600" y="4953000"/>
            <a:ext cx="7924800" cy="381000"/>
          </a:xfrm>
          <a:prstGeom prst="rect">
            <a:avLst/>
          </a:prstGeom>
          <a:noFill/>
          <a:ln w="0">
            <a:noFill/>
          </a:ln>
        </p:spPr>
        <p:txBody>
          <a:bodyPr lIns="0" tIns="0" rIns="0" bIns="0" anchor="t"/>
          <a:lstStyle/>
          <a:p>
            <a:pPr algn="l"/>
            <a:r>
              <a:rPr lang="en-US" sz="2400" b="1" dirty="0">
                <a:solidFill>
                  <a:srgbClr val="F79646"/>
                </a:solidFill>
              </a:rPr>
              <a:t>PERFORMANCE DECLINES DURING SELFING</a:t>
            </a:r>
          </a:p>
        </p:txBody>
      </p:sp>
      <p:sp>
        <p:nvSpPr>
          <p:cNvPr id="122" name="PerfContent"/>
          <p:cNvSpPr/>
          <p:nvPr/>
        </p:nvSpPr>
        <p:spPr>
          <a:xfrm>
            <a:off x="609600" y="5410200"/>
            <a:ext cx="7924800" cy="914400"/>
          </a:xfrm>
          <a:prstGeom prst="rect">
            <a:avLst/>
          </a:prstGeom>
          <a:noFill/>
          <a:ln w="0">
            <a:noFill/>
          </a:ln>
        </p:spPr>
        <p:txBody>
          <a:bodyPr lIns="0" tIns="0" rIns="0" bIns="0" anchor="t"/>
          <a:lstStyle/>
          <a:p>
            <a:pPr algn="l">
              <a:lnSpc>
                <a:spcPts val="3000"/>
              </a:lnSpc>
              <a:buChar char="•"/>
            </a:pPr>
            <a:r>
              <a:rPr lang="en-US" sz="2000" dirty="0">
                <a:solidFill>
                  <a:srgbClr val="333333"/>
                </a:solidFill>
              </a:rPr>
              <a:t>Inbreeding depression</a:t>
            </a:r>
          </a:p>
          <a:p>
            <a:pPr algn="l">
              <a:lnSpc>
                <a:spcPts val="3000"/>
              </a:lnSpc>
              <a:buChar char="•"/>
            </a:pPr>
            <a:r>
              <a:rPr lang="en-US" sz="2000" dirty="0">
                <a:solidFill>
                  <a:srgbClr val="333333"/>
                </a:solidFill>
              </a:rPr>
              <a:t>Exposure of deleterious recessive alleles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pPr>
            <a:r>
              <a:t>Selfing Process: S0 → S6</a:t>
            </a:r>
          </a:p>
        </p:txBody>
      </p:sp>
      <p:pic>
        <p:nvPicPr>
          <p:cNvPr id="5" name="Picture 4">
            <a:extLst>
              <a:ext uri="{FF2B5EF4-FFF2-40B4-BE49-F238E27FC236}">
                <a16:creationId xmlns:a16="http://schemas.microsoft.com/office/drawing/2014/main" id="{A26D24B3-ADC4-28F8-1C00-48E1EEB483E5}"/>
              </a:ext>
            </a:extLst>
          </p:cNvPr>
          <p:cNvPicPr>
            <a:picLocks noChangeAspect="1"/>
          </p:cNvPicPr>
          <p:nvPr/>
        </p:nvPicPr>
        <p:blipFill>
          <a:blip r:embed="rId2"/>
          <a:stretch>
            <a:fillRect/>
          </a:stretch>
        </p:blipFill>
        <p:spPr>
          <a:xfrm>
            <a:off x="1479550" y="1760061"/>
            <a:ext cx="6184900" cy="4097497"/>
          </a:xfrm>
          <a:prstGeom prst="rect">
            <a:avLst/>
          </a:prstGeom>
        </p:spPr>
      </p:pic>
      <p:sp>
        <p:nvSpPr>
          <p:cNvPr id="6" name="TextBox 5">
            <a:extLst>
              <a:ext uri="{FF2B5EF4-FFF2-40B4-BE49-F238E27FC236}">
                <a16:creationId xmlns:a16="http://schemas.microsoft.com/office/drawing/2014/main" id="{A145C4CD-580F-1408-E77A-58B1383006F6}"/>
              </a:ext>
            </a:extLst>
          </p:cNvPr>
          <p:cNvSpPr txBox="1"/>
          <p:nvPr/>
        </p:nvSpPr>
        <p:spPr>
          <a:xfrm>
            <a:off x="190500" y="6400800"/>
            <a:ext cx="7327900" cy="369332"/>
          </a:xfrm>
          <a:prstGeom prst="rect">
            <a:avLst/>
          </a:prstGeom>
          <a:noFill/>
        </p:spPr>
        <p:txBody>
          <a:bodyPr wrap="square" rtlCol="0">
            <a:spAutoFit/>
          </a:bodyPr>
          <a:lstStyle/>
          <a:p>
            <a:r>
              <a:rPr lang="en-US" dirty="0"/>
              <a:t>https://</a:t>
            </a:r>
            <a:r>
              <a:rPr lang="en-US" dirty="0" err="1"/>
              <a:t>iastate.pressbooks.pub</a:t>
            </a:r>
            <a:r>
              <a:rPr lang="en-US" dirty="0"/>
              <a:t>/</a:t>
            </a:r>
            <a:r>
              <a:rPr lang="en-US" dirty="0" err="1"/>
              <a:t>plantbreedingmethods</a:t>
            </a:r>
            <a:r>
              <a:rPr lang="en-US" dirty="0"/>
              <a:t>/chapter/inbreeding/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Inbreeding Depression</a:t>
            </a:r>
          </a:p>
        </p:txBody>
      </p:sp>
      <p:sp>
        <p:nvSpPr>
          <p:cNvPr id="3" name="Content Placeholder 2"/>
          <p:cNvSpPr>
            <a:spLocks noGrp="1"/>
          </p:cNvSpPr>
          <p:nvPr>
            <p:ph idx="1"/>
          </p:nvPr>
        </p:nvSpPr>
        <p:spPr/>
        <p:txBody>
          <a:bodyPr>
            <a:normAutofit fontScale="92500" lnSpcReduction="20000"/>
          </a:bodyPr>
          <a:lstStyle/>
          <a:p>
            <a:endParaRPr dirty="0"/>
          </a:p>
          <a:p>
            <a:pPr marL="0" indent="0">
              <a:buNone/>
              <a:defRPr sz="2000"/>
            </a:pPr>
            <a:r>
              <a:rPr dirty="0"/>
              <a:t>Performance decline as heterozygosity is lost:</a:t>
            </a:r>
          </a:p>
          <a:p>
            <a:pPr marL="0" indent="0">
              <a:buNone/>
              <a:defRPr sz="2000"/>
            </a:pPr>
            <a:r>
              <a:rPr lang="en-US" dirty="0"/>
              <a:t>	</a:t>
            </a:r>
            <a:r>
              <a:rPr dirty="0"/>
              <a:t>• Yield drops dramatically</a:t>
            </a:r>
          </a:p>
          <a:p>
            <a:pPr marL="0" indent="0">
              <a:buNone/>
              <a:defRPr sz="2000"/>
            </a:pPr>
            <a:r>
              <a:rPr lang="en-US" dirty="0"/>
              <a:t>	</a:t>
            </a:r>
            <a:r>
              <a:rPr dirty="0"/>
              <a:t>• Shorter plants, smaller ears</a:t>
            </a:r>
          </a:p>
          <a:p>
            <a:pPr marL="0" indent="0">
              <a:buNone/>
              <a:defRPr sz="2000"/>
            </a:pPr>
            <a:r>
              <a:rPr lang="en-US" dirty="0"/>
              <a:t>	</a:t>
            </a:r>
            <a:r>
              <a:rPr dirty="0"/>
              <a:t>• Reduced vigor and fitness</a:t>
            </a:r>
          </a:p>
          <a:p>
            <a:pPr>
              <a:defRPr sz="2000"/>
            </a:pPr>
            <a:endParaRPr dirty="0"/>
          </a:p>
          <a:p>
            <a:pPr marL="0" indent="0">
              <a:buNone/>
              <a:defRPr sz="2000"/>
            </a:pPr>
            <a:r>
              <a:rPr dirty="0"/>
              <a:t>Genetic basis:</a:t>
            </a:r>
          </a:p>
          <a:p>
            <a:pPr marL="0" indent="0">
              <a:buNone/>
              <a:defRPr sz="2000"/>
            </a:pPr>
            <a:r>
              <a:rPr lang="en-US" dirty="0"/>
              <a:t>	</a:t>
            </a:r>
            <a:r>
              <a:rPr dirty="0"/>
              <a:t>• Exposure of deleterious recessive alleles</a:t>
            </a:r>
          </a:p>
          <a:p>
            <a:pPr marL="0" indent="0">
              <a:buNone/>
              <a:defRPr sz="2000"/>
            </a:pPr>
            <a:r>
              <a:rPr lang="en-US" dirty="0"/>
              <a:t>	</a:t>
            </a:r>
            <a:r>
              <a:rPr dirty="0"/>
              <a:t>• Loss of heterozygote advantage</a:t>
            </a:r>
          </a:p>
          <a:p>
            <a:pPr>
              <a:defRPr sz="2000"/>
            </a:pPr>
            <a:endParaRPr dirty="0"/>
          </a:p>
          <a:p>
            <a:pPr marL="0" indent="0">
              <a:buNone/>
              <a:defRPr sz="2000"/>
            </a:pPr>
            <a:r>
              <a:rPr dirty="0"/>
              <a:t>Why it matters for breeding:</a:t>
            </a:r>
          </a:p>
          <a:p>
            <a:pPr marL="0" indent="0">
              <a:buNone/>
              <a:defRPr sz="2000"/>
            </a:pPr>
            <a:r>
              <a:rPr lang="en-US" dirty="0"/>
              <a:t>	</a:t>
            </a:r>
            <a:r>
              <a:rPr dirty="0"/>
              <a:t>• Can't select purely on per se performance of inbreds</a:t>
            </a:r>
          </a:p>
          <a:p>
            <a:pPr marL="0" indent="0">
              <a:buNone/>
              <a:defRPr sz="2000"/>
            </a:pPr>
            <a:r>
              <a:rPr lang="en-US" dirty="0"/>
              <a:t>	</a:t>
            </a:r>
            <a:r>
              <a:rPr dirty="0"/>
              <a:t>• Must rely on testcross/GCA data</a:t>
            </a:r>
          </a:p>
          <a:p>
            <a:pPr marL="0" indent="0">
              <a:buNone/>
              <a:defRPr sz="2000"/>
            </a:pPr>
            <a:r>
              <a:rPr lang="en-US" dirty="0"/>
              <a:t>	</a:t>
            </a:r>
            <a:r>
              <a:rPr dirty="0"/>
              <a:t>• Some promising crosses come from weak-looking inbreds!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pPr>
            <a:r>
              <a:t>Selection Strategy: What to Select When</a:t>
            </a:r>
          </a:p>
        </p:txBody>
      </p:sp>
      <p:graphicFrame>
        <p:nvGraphicFramePr>
          <p:cNvPr id="4" name="Table 3"/>
          <p:cNvGraphicFramePr>
            <a:graphicFrameLocks noGrp="1"/>
          </p:cNvGraphicFramePr>
          <p:nvPr/>
        </p:nvGraphicFramePr>
        <p:xfrm>
          <a:off x="914400" y="1645920"/>
          <a:ext cx="7315200" cy="4114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1028700">
                <a:tc>
                  <a:txBody>
                    <a:bodyPr/>
                    <a:lstStyle/>
                    <a:p>
                      <a:pPr>
                        <a:defRPr sz="1600" b="1">
                          <a:solidFill>
                            <a:srgbClr val="FFFFFF"/>
                          </a:solidFill>
                        </a:defRPr>
                      </a:pPr>
                      <a:r>
                        <a:t>Generation</a:t>
                      </a:r>
                    </a:p>
                  </a:txBody>
                  <a:tcPr>
                    <a:solidFill>
                      <a:srgbClr val="003366"/>
                    </a:solidFill>
                  </a:tcPr>
                </a:tc>
                <a:tc>
                  <a:txBody>
                    <a:bodyPr/>
                    <a:lstStyle/>
                    <a:p>
                      <a:pPr>
                        <a:defRPr sz="1600" b="1">
                          <a:solidFill>
                            <a:srgbClr val="FFFFFF"/>
                          </a:solidFill>
                        </a:defRPr>
                      </a:pPr>
                      <a:r>
                        <a:t>Population Size</a:t>
                      </a:r>
                    </a:p>
                  </a:txBody>
                  <a:tcPr>
                    <a:solidFill>
                      <a:srgbClr val="003366"/>
                    </a:solidFill>
                  </a:tcPr>
                </a:tc>
                <a:tc>
                  <a:txBody>
                    <a:bodyPr/>
                    <a:lstStyle/>
                    <a:p>
                      <a:pPr>
                        <a:defRPr sz="1600" b="1">
                          <a:solidFill>
                            <a:srgbClr val="FFFFFF"/>
                          </a:solidFill>
                        </a:defRPr>
                      </a:pPr>
                      <a:r>
                        <a:t>Selection Criteria</a:t>
                      </a:r>
                    </a:p>
                  </a:txBody>
                  <a:tcPr>
                    <a:solidFill>
                      <a:srgbClr val="003366"/>
                    </a:solidFill>
                  </a:tcPr>
                </a:tc>
                <a:extLst>
                  <a:ext uri="{0D108BD9-81ED-4DB2-BD59-A6C34878D82A}">
                    <a16:rowId xmlns:a16="http://schemas.microsoft.com/office/drawing/2014/main" val="10000"/>
                  </a:ext>
                </a:extLst>
              </a:tr>
              <a:tr h="1028700">
                <a:tc>
                  <a:txBody>
                    <a:bodyPr/>
                    <a:lstStyle/>
                    <a:p>
                      <a:pPr>
                        <a:defRPr sz="1400"/>
                      </a:pPr>
                      <a:r>
                        <a:t>S0-S2</a:t>
                      </a:r>
                    </a:p>
                  </a:txBody>
                  <a:tcPr/>
                </a:tc>
                <a:tc>
                  <a:txBody>
                    <a:bodyPr/>
                    <a:lstStyle/>
                    <a:p>
                      <a:pPr>
                        <a:defRPr sz="1400"/>
                      </a:pPr>
                      <a:r>
                        <a:t>Large (1000s)</a:t>
                      </a:r>
                    </a:p>
                  </a:txBody>
                  <a:tcPr/>
                </a:tc>
                <a:tc>
                  <a:txBody>
                    <a:bodyPr/>
                    <a:lstStyle/>
                    <a:p>
                      <a:pPr>
                        <a:defRPr sz="1400"/>
                      </a:pPr>
                      <a:r>
                        <a:t>Major traits, cull defects</a:t>
                      </a:r>
                    </a:p>
                  </a:txBody>
                  <a:tcPr/>
                </a:tc>
                <a:extLst>
                  <a:ext uri="{0D108BD9-81ED-4DB2-BD59-A6C34878D82A}">
                    <a16:rowId xmlns:a16="http://schemas.microsoft.com/office/drawing/2014/main" val="10001"/>
                  </a:ext>
                </a:extLst>
              </a:tr>
              <a:tr h="1028700">
                <a:tc>
                  <a:txBody>
                    <a:bodyPr/>
                    <a:lstStyle/>
                    <a:p>
                      <a:pPr>
                        <a:defRPr sz="1400"/>
                      </a:pPr>
                      <a:r>
                        <a:t>S3-S4</a:t>
                      </a:r>
                    </a:p>
                  </a:txBody>
                  <a:tcPr/>
                </a:tc>
                <a:tc>
                  <a:txBody>
                    <a:bodyPr/>
                    <a:lstStyle/>
                    <a:p>
                      <a:pPr>
                        <a:defRPr sz="1400"/>
                      </a:pPr>
                      <a:r>
                        <a:t>Moderate (100s)</a:t>
                      </a:r>
                    </a:p>
                  </a:txBody>
                  <a:tcPr/>
                </a:tc>
                <a:tc>
                  <a:txBody>
                    <a:bodyPr/>
                    <a:lstStyle/>
                    <a:p>
                      <a:pPr>
                        <a:defRPr sz="1400"/>
                      </a:pPr>
                      <a:r>
                        <a:t>Begin testcrossing, uniformity</a:t>
                      </a:r>
                    </a:p>
                  </a:txBody>
                  <a:tcPr/>
                </a:tc>
                <a:extLst>
                  <a:ext uri="{0D108BD9-81ED-4DB2-BD59-A6C34878D82A}">
                    <a16:rowId xmlns:a16="http://schemas.microsoft.com/office/drawing/2014/main" val="10002"/>
                  </a:ext>
                </a:extLst>
              </a:tr>
              <a:tr h="1028700">
                <a:tc>
                  <a:txBody>
                    <a:bodyPr/>
                    <a:lstStyle/>
                    <a:p>
                      <a:pPr>
                        <a:defRPr sz="1400"/>
                      </a:pPr>
                      <a:r>
                        <a:t>S5-S6</a:t>
                      </a:r>
                    </a:p>
                  </a:txBody>
                  <a:tcPr/>
                </a:tc>
                <a:tc>
                  <a:txBody>
                    <a:bodyPr/>
                    <a:lstStyle/>
                    <a:p>
                      <a:pPr>
                        <a:defRPr sz="1400"/>
                      </a:pPr>
                      <a:r>
                        <a:t>Small (dozens)</a:t>
                      </a:r>
                    </a:p>
                  </a:txBody>
                  <a:tcPr/>
                </a:tc>
                <a:tc>
                  <a:txBody>
                    <a:bodyPr/>
                    <a:lstStyle/>
                    <a:p>
                      <a:pPr>
                        <a:defRPr sz="1400"/>
                      </a:pPr>
                      <a:r>
                        <a:t>GCA-based selection</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pPr>
            <a:r>
              <a:t>Conventional Inbred Development: 6-7 Years</a:t>
            </a:r>
          </a:p>
        </p:txBody>
      </p:sp>
      <p:sp>
        <p:nvSpPr>
          <p:cNvPr id="6" name="TextBox 5">
            <a:extLst>
              <a:ext uri="{FF2B5EF4-FFF2-40B4-BE49-F238E27FC236}">
                <a16:creationId xmlns:a16="http://schemas.microsoft.com/office/drawing/2014/main" id="{22DC6AF9-B514-BD2C-D412-09B621412576}"/>
              </a:ext>
            </a:extLst>
          </p:cNvPr>
          <p:cNvSpPr txBox="1"/>
          <p:nvPr/>
        </p:nvSpPr>
        <p:spPr>
          <a:xfrm>
            <a:off x="0" y="6193889"/>
            <a:ext cx="7937500" cy="646331"/>
          </a:xfrm>
          <a:prstGeom prst="rect">
            <a:avLst/>
          </a:prstGeom>
          <a:noFill/>
        </p:spPr>
        <p:txBody>
          <a:bodyPr wrap="square">
            <a:spAutoFit/>
          </a:bodyPr>
          <a:lstStyle/>
          <a:p>
            <a:r>
              <a:rPr lang="en-US" dirty="0"/>
              <a:t>https://</a:t>
            </a:r>
            <a:r>
              <a:rPr lang="en-US" dirty="0" err="1"/>
              <a:t>www.researchgate.net</a:t>
            </a:r>
            <a:r>
              <a:rPr lang="en-US" dirty="0"/>
              <a:t>/figure/Simulated-families-created-and-inbreeding-using-single-seed-descent-SSD_fig1_354359495</a:t>
            </a:r>
          </a:p>
        </p:txBody>
      </p:sp>
      <p:pic>
        <p:nvPicPr>
          <p:cNvPr id="7" name="Picture 6" descr="Simulated families created and inbreeding using single seed descent (SSD).">
            <a:extLst>
              <a:ext uri="{FF2B5EF4-FFF2-40B4-BE49-F238E27FC236}">
                <a16:creationId xmlns:a16="http://schemas.microsoft.com/office/drawing/2014/main" id="{DD68947D-2DD7-925B-C3FC-E493A4E1A20F}"/>
              </a:ext>
            </a:extLst>
          </p:cNvPr>
          <p:cNvPicPr>
            <a:picLocks noChangeAspect="1"/>
          </p:cNvPicPr>
          <p:nvPr/>
        </p:nvPicPr>
        <p:blipFill>
          <a:blip r:embed="rId2"/>
          <a:stretch>
            <a:fillRect/>
          </a:stretch>
        </p:blipFill>
        <p:spPr>
          <a:xfrm>
            <a:off x="527588" y="1050538"/>
            <a:ext cx="7409912" cy="514335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ouble haploidy vs classical hybrid">
            <a:extLst>
              <a:ext uri="{FF2B5EF4-FFF2-40B4-BE49-F238E27FC236}">
                <a16:creationId xmlns:a16="http://schemas.microsoft.com/office/drawing/2014/main" id="{EDBA96D8-5256-3A7E-300C-BBBCCA8F1A5E}"/>
              </a:ext>
            </a:extLst>
          </p:cNvPr>
          <p:cNvPicPr>
            <a:picLocks noChangeAspect="1"/>
          </p:cNvPicPr>
          <p:nvPr/>
        </p:nvPicPr>
        <p:blipFill>
          <a:blip r:embed="rId2"/>
          <a:srcRect r="418" b="2"/>
          <a:stretch>
            <a:fillRect/>
          </a:stretch>
        </p:blipFill>
        <p:spPr>
          <a:xfrm>
            <a:off x="20" y="10"/>
            <a:ext cx="9143979" cy="5486390"/>
          </a:xfrm>
          <a:prstGeom prst="rect">
            <a:avLst/>
          </a:prstGeom>
          <a:effectLst>
            <a:outerShdw blurRad="596900" dist="330200" dir="8820000" sx="87000" sy="87000" algn="ctr" rotWithShape="0">
              <a:srgbClr val="000000">
                <a:alpha val="29000"/>
              </a:srgbClr>
            </a:outerShdw>
          </a:effectLst>
        </p:spPr>
      </p:pic>
      <p:sp useBgFill="1">
        <p:nvSpPr>
          <p:cNvPr id="12" name="Rectangle 11">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9144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442167" y="5746071"/>
            <a:ext cx="5261624" cy="852260"/>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sz="3200" b="1"/>
            </a:pPr>
            <a:r>
              <a:rPr lang="en-US" sz="2900">
                <a:latin typeface="+mj-lt"/>
                <a:ea typeface="+mj-ea"/>
                <a:cs typeface="+mj-cs"/>
              </a:rPr>
              <a:t>Doubled Haploid (DH): 1-2 Years</a:t>
            </a:r>
          </a:p>
        </p:txBody>
      </p:sp>
      <p:sp>
        <p:nvSpPr>
          <p:cNvPr id="6" name="TextBox 5">
            <a:extLst>
              <a:ext uri="{FF2B5EF4-FFF2-40B4-BE49-F238E27FC236}">
                <a16:creationId xmlns:a16="http://schemas.microsoft.com/office/drawing/2014/main" id="{6E6C77D5-1135-8830-5196-14469F971044}"/>
              </a:ext>
            </a:extLst>
          </p:cNvPr>
          <p:cNvSpPr txBox="1"/>
          <p:nvPr/>
        </p:nvSpPr>
        <p:spPr>
          <a:xfrm>
            <a:off x="533400" y="6413665"/>
            <a:ext cx="8077200" cy="369332"/>
          </a:xfrm>
          <a:prstGeom prst="rect">
            <a:avLst/>
          </a:prstGeom>
          <a:noFill/>
        </p:spPr>
        <p:txBody>
          <a:bodyPr wrap="square" rtlCol="0">
            <a:spAutoFit/>
          </a:bodyPr>
          <a:lstStyle/>
          <a:p>
            <a:r>
              <a:rPr lang="en-US" dirty="0"/>
              <a:t>https://</a:t>
            </a:r>
            <a:r>
              <a:rPr lang="en-US" dirty="0" err="1"/>
              <a:t>en.wikipedia.org</a:t>
            </a:r>
            <a:r>
              <a:rPr lang="en-US" dirty="0"/>
              <a:t>/wiki/</a:t>
            </a:r>
            <a:r>
              <a:rPr lang="en-US" dirty="0" err="1"/>
              <a:t>Doubled_haploidy</a:t>
            </a:r>
            <a:r>
              <a:rPr lang="en-US" dirty="0"/>
              <a:t>#/media/</a:t>
            </a:r>
            <a:r>
              <a:rPr lang="en-US" dirty="0" err="1"/>
              <a:t>File:Double_haploidy.jpg</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Box 2"/>
          <p:cNvSpPr txBox="1"/>
          <p:nvPr/>
        </p:nvSpPr>
        <p:spPr>
          <a:xfrm>
            <a:off x="457200" y="457200"/>
            <a:ext cx="8229600" cy="731520"/>
          </a:xfrm>
          <a:prstGeom prst="rect">
            <a:avLst/>
          </a:prstGeom>
          <a:noFill/>
        </p:spPr>
        <p:txBody>
          <a:bodyPr wrap="none">
            <a:spAutoFit/>
          </a:bodyPr>
          <a:lstStyle/>
          <a:p>
            <a:pPr>
              <a:defRPr sz="3200" b="1"/>
            </a:pPr>
            <a:r>
              <a:t>DH vs. Conventional: Cost-Benefit Analysis</a:t>
            </a:r>
          </a:p>
        </p:txBody>
      </p:sp>
      <p:graphicFrame>
        <p:nvGraphicFramePr>
          <p:cNvPr id="4" name="Table 3"/>
          <p:cNvGraphicFramePr>
            <a:graphicFrameLocks noGrp="1"/>
          </p:cNvGraphicFramePr>
          <p:nvPr/>
        </p:nvGraphicFramePr>
        <p:xfrm>
          <a:off x="914400" y="1645920"/>
          <a:ext cx="7315200" cy="4114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685800">
                <a:tc>
                  <a:txBody>
                    <a:bodyPr/>
                    <a:lstStyle/>
                    <a:p>
                      <a:pPr>
                        <a:defRPr sz="1600" b="1">
                          <a:solidFill>
                            <a:srgbClr val="FFFFFF"/>
                          </a:solidFill>
                        </a:defRPr>
                      </a:pPr>
                      <a:endParaRPr/>
                    </a:p>
                  </a:txBody>
                  <a:tcPr>
                    <a:solidFill>
                      <a:srgbClr val="003366"/>
                    </a:solidFill>
                  </a:tcPr>
                </a:tc>
                <a:tc>
                  <a:txBody>
                    <a:bodyPr/>
                    <a:lstStyle/>
                    <a:p>
                      <a:pPr>
                        <a:defRPr sz="1600" b="1">
                          <a:solidFill>
                            <a:srgbClr val="FFFFFF"/>
                          </a:solidFill>
                        </a:defRPr>
                      </a:pPr>
                      <a:r>
                        <a:t>Conventional</a:t>
                      </a:r>
                    </a:p>
                  </a:txBody>
                  <a:tcPr>
                    <a:solidFill>
                      <a:srgbClr val="003366"/>
                    </a:solidFill>
                  </a:tcPr>
                </a:tc>
                <a:tc>
                  <a:txBody>
                    <a:bodyPr/>
                    <a:lstStyle/>
                    <a:p>
                      <a:pPr>
                        <a:defRPr sz="1600" b="1">
                          <a:solidFill>
                            <a:srgbClr val="FFFFFF"/>
                          </a:solidFill>
                        </a:defRPr>
                      </a:pPr>
                      <a:r>
                        <a:t>Doubled Haploid</a:t>
                      </a:r>
                    </a:p>
                  </a:txBody>
                  <a:tcPr>
                    <a:solidFill>
                      <a:srgbClr val="003366"/>
                    </a:solidFill>
                  </a:tcPr>
                </a:tc>
                <a:extLst>
                  <a:ext uri="{0D108BD9-81ED-4DB2-BD59-A6C34878D82A}">
                    <a16:rowId xmlns:a16="http://schemas.microsoft.com/office/drawing/2014/main" val="10000"/>
                  </a:ext>
                </a:extLst>
              </a:tr>
              <a:tr h="685800">
                <a:tc>
                  <a:txBody>
                    <a:bodyPr/>
                    <a:lstStyle/>
                    <a:p>
                      <a:pPr>
                        <a:defRPr sz="1400"/>
                      </a:pPr>
                      <a:r>
                        <a:t>Timeline</a:t>
                      </a:r>
                    </a:p>
                  </a:txBody>
                  <a:tcPr/>
                </a:tc>
                <a:tc>
                  <a:txBody>
                    <a:bodyPr/>
                    <a:lstStyle/>
                    <a:p>
                      <a:pPr>
                        <a:defRPr sz="1400"/>
                      </a:pPr>
                      <a:r>
                        <a:t>6-7 years</a:t>
                      </a:r>
                    </a:p>
                  </a:txBody>
                  <a:tcPr/>
                </a:tc>
                <a:tc>
                  <a:txBody>
                    <a:bodyPr/>
                    <a:lstStyle/>
                    <a:p>
                      <a:pPr>
                        <a:defRPr sz="1400"/>
                      </a:pPr>
                      <a:r>
                        <a:t>1-2 years</a:t>
                      </a:r>
                    </a:p>
                  </a:txBody>
                  <a:tcPr/>
                </a:tc>
                <a:extLst>
                  <a:ext uri="{0D108BD9-81ED-4DB2-BD59-A6C34878D82A}">
                    <a16:rowId xmlns:a16="http://schemas.microsoft.com/office/drawing/2014/main" val="10001"/>
                  </a:ext>
                </a:extLst>
              </a:tr>
              <a:tr h="685800">
                <a:tc>
                  <a:txBody>
                    <a:bodyPr/>
                    <a:lstStyle/>
                    <a:p>
                      <a:pPr>
                        <a:defRPr sz="1400"/>
                      </a:pPr>
                      <a:r>
                        <a:t>Cost per line</a:t>
                      </a:r>
                    </a:p>
                  </a:txBody>
                  <a:tcPr/>
                </a:tc>
                <a:tc>
                  <a:txBody>
                    <a:bodyPr/>
                    <a:lstStyle/>
                    <a:p>
                      <a:pPr>
                        <a:defRPr sz="1400"/>
                      </a:pPr>
                      <a:r>
                        <a:t>$400-800</a:t>
                      </a:r>
                    </a:p>
                  </a:txBody>
                  <a:tcPr/>
                </a:tc>
                <a:tc>
                  <a:txBody>
                    <a:bodyPr/>
                    <a:lstStyle/>
                    <a:p>
                      <a:pPr>
                        <a:defRPr sz="1400"/>
                      </a:pPr>
                      <a:r>
                        <a:t>$15-30</a:t>
                      </a:r>
                    </a:p>
                  </a:txBody>
                  <a:tcPr/>
                </a:tc>
                <a:extLst>
                  <a:ext uri="{0D108BD9-81ED-4DB2-BD59-A6C34878D82A}">
                    <a16:rowId xmlns:a16="http://schemas.microsoft.com/office/drawing/2014/main" val="10002"/>
                  </a:ext>
                </a:extLst>
              </a:tr>
              <a:tr h="685800">
                <a:tc>
                  <a:txBody>
                    <a:bodyPr/>
                    <a:lstStyle/>
                    <a:p>
                      <a:pPr>
                        <a:defRPr sz="1400"/>
                      </a:pPr>
                      <a:r>
                        <a:t>Selection</a:t>
                      </a:r>
                    </a:p>
                  </a:txBody>
                  <a:tcPr/>
                </a:tc>
                <a:tc>
                  <a:txBody>
                    <a:bodyPr/>
                    <a:lstStyle/>
                    <a:p>
                      <a:pPr>
                        <a:defRPr sz="1400"/>
                      </a:pPr>
                      <a:r>
                        <a:t>Gradual (S0-S6)</a:t>
                      </a:r>
                    </a:p>
                  </a:txBody>
                  <a:tcPr/>
                </a:tc>
                <a:tc>
                  <a:txBody>
                    <a:bodyPr/>
                    <a:lstStyle/>
                    <a:p>
                      <a:pPr>
                        <a:defRPr sz="1400"/>
                      </a:pPr>
                      <a:r>
                        <a:t>Only at S0</a:t>
                      </a:r>
                    </a:p>
                  </a:txBody>
                  <a:tcPr/>
                </a:tc>
                <a:extLst>
                  <a:ext uri="{0D108BD9-81ED-4DB2-BD59-A6C34878D82A}">
                    <a16:rowId xmlns:a16="http://schemas.microsoft.com/office/drawing/2014/main" val="10003"/>
                  </a:ext>
                </a:extLst>
              </a:tr>
              <a:tr h="685800">
                <a:tc>
                  <a:txBody>
                    <a:bodyPr/>
                    <a:lstStyle/>
                    <a:p>
                      <a:pPr>
                        <a:defRPr sz="1400"/>
                      </a:pPr>
                      <a:r>
                        <a:t>Infrastructure</a:t>
                      </a:r>
                    </a:p>
                  </a:txBody>
                  <a:tcPr/>
                </a:tc>
                <a:tc>
                  <a:txBody>
                    <a:bodyPr/>
                    <a:lstStyle/>
                    <a:p>
                      <a:pPr>
                        <a:defRPr sz="1400"/>
                      </a:pPr>
                      <a:r>
                        <a:t>Low</a:t>
                      </a:r>
                    </a:p>
                  </a:txBody>
                  <a:tcPr/>
                </a:tc>
                <a:tc>
                  <a:txBody>
                    <a:bodyPr/>
                    <a:lstStyle/>
                    <a:p>
                      <a:pPr>
                        <a:defRPr sz="1400"/>
                      </a:pPr>
                      <a:r>
                        <a:t>$200K-500K</a:t>
                      </a:r>
                    </a:p>
                  </a:txBody>
                  <a:tcPr/>
                </a:tc>
                <a:extLst>
                  <a:ext uri="{0D108BD9-81ED-4DB2-BD59-A6C34878D82A}">
                    <a16:rowId xmlns:a16="http://schemas.microsoft.com/office/drawing/2014/main" val="10004"/>
                  </a:ext>
                </a:extLst>
              </a:tr>
              <a:tr h="685800">
                <a:tc>
                  <a:txBody>
                    <a:bodyPr/>
                    <a:lstStyle/>
                    <a:p>
                      <a:pPr>
                        <a:defRPr sz="1400"/>
                      </a:pPr>
                      <a:r>
                        <a:t>Break-even</a:t>
                      </a:r>
                    </a:p>
                  </a:txBody>
                  <a:tcPr/>
                </a:tc>
                <a:tc>
                  <a:txBody>
                    <a:bodyPr/>
                    <a:lstStyle/>
                    <a:p>
                      <a:pPr>
                        <a:defRPr sz="1400"/>
                      </a:pPr>
                      <a:r>
                        <a:t>Any scale</a:t>
                      </a:r>
                    </a:p>
                  </a:txBody>
                  <a:tcPr/>
                </a:tc>
                <a:tc>
                  <a:txBody>
                    <a:bodyPr/>
                    <a:lstStyle/>
                    <a:p>
                      <a:pPr>
                        <a:defRPr sz="1400"/>
                      </a:pPr>
                      <a:r>
                        <a:t>500-1000+ lines/year</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Bg"/>
          <p:cNvSpPr/>
          <p:nvPr/>
        </p:nvSpPr>
        <p:spPr>
          <a:xfrm>
            <a:off x="0" y="0"/>
            <a:ext cx="9144000" cy="964846"/>
          </a:xfrm>
          <a:prstGeom prst="rect">
            <a:avLst/>
          </a:prstGeom>
          <a:solidFill>
            <a:srgbClr val="2C5F2D"/>
          </a:solidFill>
          <a:ln>
            <a:noFill/>
          </a:ln>
        </p:spPr>
        <p:txBody>
          <a:bodyPr/>
          <a:lstStyle/>
          <a:p>
            <a:endParaRPr/>
          </a:p>
        </p:txBody>
      </p:sp>
      <p:sp>
        <p:nvSpPr>
          <p:cNvPr id="2" name="Title 1"/>
          <p:cNvSpPr>
            <a:spLocks noGrp="1"/>
          </p:cNvSpPr>
          <p:nvPr>
            <p:ph type="title"/>
          </p:nvPr>
        </p:nvSpPr>
        <p:spPr>
          <a:xfrm>
            <a:off x="0" y="0"/>
            <a:ext cx="9144000" cy="964846"/>
          </a:xfrm>
        </p:spPr>
        <p:txBody>
          <a:bodyPr anchor="ctr"/>
          <a:lstStyle/>
          <a:p>
            <a:r>
              <a:rPr lang="en-US" sz="4096" b="1">
                <a:solidFill>
                  <a:srgbClr val="FFFFFF"/>
                </a:solidFill>
              </a:rPr>
              <a:t>What Makes a Good Inbred?</a:t>
            </a:r>
          </a:p>
        </p:txBody>
      </p:sp>
      <p:sp>
        <p:nvSpPr>
          <p:cNvPr id="110" name="CircleIcon1"/>
          <p:cNvSpPr/>
          <p:nvPr/>
        </p:nvSpPr>
        <p:spPr>
          <a:xfrm>
            <a:off x="408000" y="1339880"/>
            <a:ext cx="1160000" cy="1160000"/>
          </a:xfrm>
          <a:prstGeom prst="ellipse">
            <a:avLst/>
          </a:prstGeom>
          <a:solidFill>
            <a:srgbClr val="E8F5E9"/>
          </a:solidFill>
          <a:ln>
            <a:noFill/>
          </a:ln>
        </p:spPr>
        <p:txBody>
          <a:bodyPr/>
          <a:lstStyle/>
          <a:p>
            <a:endParaRPr/>
          </a:p>
        </p:txBody>
      </p:sp>
      <p:pic>
        <p:nvPicPr>
          <p:cNvPr id="10" name="Icon1"/>
          <p:cNvPicPr>
            <a:picLocks noChangeAspect="1"/>
          </p:cNvPicPr>
          <p:nvPr/>
        </p:nvPicPr>
        <p:blipFill>
          <a:blip r:embed="rId2"/>
          <a:stretch>
            <a:fillRect/>
          </a:stretch>
        </p:blipFill>
        <p:spPr>
          <a:xfrm>
            <a:off x="540000" y="1471880"/>
            <a:ext cx="896000" cy="896000"/>
          </a:xfrm>
          <a:prstGeom prst="rect">
            <a:avLst/>
          </a:prstGeom>
        </p:spPr>
      </p:pic>
      <p:sp>
        <p:nvSpPr>
          <p:cNvPr id="11" name="CardTitle1"/>
          <p:cNvSpPr txBox="1"/>
          <p:nvPr/>
        </p:nvSpPr>
        <p:spPr>
          <a:xfrm>
            <a:off x="0" y="2431880"/>
            <a:ext cx="3200000" cy="512000"/>
          </a:xfrm>
          <a:prstGeom prst="rect">
            <a:avLst/>
          </a:prstGeom>
          <a:noFill/>
        </p:spPr>
        <p:txBody>
          <a:bodyPr wrap="square" lIns="0" tIns="0" rIns="0" bIns="0" anchor="t"/>
          <a:lstStyle/>
          <a:p>
            <a:pPr algn="ctr"/>
            <a:r>
              <a:rPr lang="en-US" sz="1792" b="1">
                <a:solidFill>
                  <a:srgbClr val="2C5F2D"/>
                </a:solidFill>
              </a:rPr>
              <a:t>High GCA for Yield</a:t>
            </a:r>
          </a:p>
        </p:txBody>
      </p:sp>
      <p:sp>
        <p:nvSpPr>
          <p:cNvPr id="12" name="CardSub1"/>
          <p:cNvSpPr txBox="1"/>
          <p:nvPr/>
        </p:nvSpPr>
        <p:spPr>
          <a:xfrm>
            <a:off x="0" y="2918280"/>
            <a:ext cx="3200000" cy="512000"/>
          </a:xfrm>
          <a:prstGeom prst="rect">
            <a:avLst/>
          </a:prstGeom>
          <a:noFill/>
        </p:spPr>
        <p:txBody>
          <a:bodyPr wrap="square" lIns="0" tIns="0" rIns="0" bIns="0" anchor="t"/>
          <a:lstStyle/>
          <a:p>
            <a:pPr algn="ctr"/>
            <a:r>
              <a:rPr lang="en-US" sz="1408">
                <a:solidFill>
                  <a:srgbClr val="666666"/>
                </a:solidFill>
              </a:rPr>
              <a:t>Primary selection criterion</a:t>
            </a:r>
          </a:p>
        </p:txBody>
      </p:sp>
      <p:sp>
        <p:nvSpPr>
          <p:cNvPr id="120" name="CircleIcon2"/>
          <p:cNvSpPr/>
          <p:nvPr/>
        </p:nvSpPr>
        <p:spPr>
          <a:xfrm>
            <a:off x="3992000" y="1339880"/>
            <a:ext cx="1160000" cy="1160000"/>
          </a:xfrm>
          <a:prstGeom prst="ellipse">
            <a:avLst/>
          </a:prstGeom>
          <a:solidFill>
            <a:srgbClr val="E8F5E9"/>
          </a:solidFill>
          <a:ln>
            <a:noFill/>
          </a:ln>
        </p:spPr>
        <p:txBody>
          <a:bodyPr/>
          <a:lstStyle/>
          <a:p>
            <a:endParaRPr/>
          </a:p>
        </p:txBody>
      </p:sp>
      <p:pic>
        <p:nvPicPr>
          <p:cNvPr id="20" name="Icon2"/>
          <p:cNvPicPr>
            <a:picLocks noChangeAspect="1"/>
          </p:cNvPicPr>
          <p:nvPr/>
        </p:nvPicPr>
        <p:blipFill>
          <a:blip r:embed="rId3"/>
          <a:stretch>
            <a:fillRect/>
          </a:stretch>
        </p:blipFill>
        <p:spPr>
          <a:xfrm>
            <a:off x="4124000" y="1471880"/>
            <a:ext cx="896000" cy="896000"/>
          </a:xfrm>
          <a:prstGeom prst="rect">
            <a:avLst/>
          </a:prstGeom>
        </p:spPr>
      </p:pic>
      <p:sp>
        <p:nvSpPr>
          <p:cNvPr id="21" name="CardTitle2"/>
          <p:cNvSpPr txBox="1"/>
          <p:nvPr/>
        </p:nvSpPr>
        <p:spPr>
          <a:xfrm>
            <a:off x="2972000" y="2431880"/>
            <a:ext cx="3200000" cy="512000"/>
          </a:xfrm>
          <a:prstGeom prst="rect">
            <a:avLst/>
          </a:prstGeom>
          <a:noFill/>
        </p:spPr>
        <p:txBody>
          <a:bodyPr wrap="square" lIns="0" tIns="0" rIns="0" bIns="0" anchor="t"/>
          <a:lstStyle/>
          <a:p>
            <a:pPr algn="ctr"/>
            <a:r>
              <a:rPr lang="en-US" sz="1792" b="1">
                <a:solidFill>
                  <a:srgbClr val="2C5F2D"/>
                </a:solidFill>
              </a:rPr>
              <a:t>Adequate Per Se Performance</a:t>
            </a:r>
          </a:p>
        </p:txBody>
      </p:sp>
      <p:sp>
        <p:nvSpPr>
          <p:cNvPr id="22" name="CardSub2"/>
          <p:cNvSpPr txBox="1"/>
          <p:nvPr/>
        </p:nvSpPr>
        <p:spPr>
          <a:xfrm>
            <a:off x="2972000" y="2918280"/>
            <a:ext cx="3200000" cy="512000"/>
          </a:xfrm>
          <a:prstGeom prst="rect">
            <a:avLst/>
          </a:prstGeom>
          <a:noFill/>
        </p:spPr>
        <p:txBody>
          <a:bodyPr wrap="square" lIns="0" tIns="0" rIns="0" bIns="0" anchor="t"/>
          <a:lstStyle/>
          <a:p>
            <a:pPr algn="ctr"/>
            <a:r>
              <a:rPr lang="en-US" sz="1408">
                <a:solidFill>
                  <a:srgbClr val="666666"/>
                </a:solidFill>
              </a:rPr>
              <a:t>Not so weak it can’t be maintained</a:t>
            </a:r>
          </a:p>
        </p:txBody>
      </p:sp>
      <p:sp>
        <p:nvSpPr>
          <p:cNvPr id="130" name="CircleIcon3"/>
          <p:cNvSpPr/>
          <p:nvPr/>
        </p:nvSpPr>
        <p:spPr>
          <a:xfrm>
            <a:off x="7576000" y="1339880"/>
            <a:ext cx="1160000" cy="1160000"/>
          </a:xfrm>
          <a:prstGeom prst="ellipse">
            <a:avLst/>
          </a:prstGeom>
          <a:solidFill>
            <a:srgbClr val="E8F5E9"/>
          </a:solidFill>
          <a:ln>
            <a:noFill/>
          </a:ln>
        </p:spPr>
        <p:txBody>
          <a:bodyPr/>
          <a:lstStyle/>
          <a:p>
            <a:endParaRPr/>
          </a:p>
        </p:txBody>
      </p:sp>
      <p:pic>
        <p:nvPicPr>
          <p:cNvPr id="30" name="Icon3"/>
          <p:cNvPicPr>
            <a:picLocks noChangeAspect="1"/>
          </p:cNvPicPr>
          <p:nvPr/>
        </p:nvPicPr>
        <p:blipFill>
          <a:blip r:embed="rId4"/>
          <a:stretch>
            <a:fillRect/>
          </a:stretch>
        </p:blipFill>
        <p:spPr>
          <a:xfrm>
            <a:off x="7708000" y="1471880"/>
            <a:ext cx="896000" cy="896000"/>
          </a:xfrm>
          <a:prstGeom prst="rect">
            <a:avLst/>
          </a:prstGeom>
        </p:spPr>
      </p:pic>
      <p:sp>
        <p:nvSpPr>
          <p:cNvPr id="31" name="CardTitle3"/>
          <p:cNvSpPr txBox="1"/>
          <p:nvPr/>
        </p:nvSpPr>
        <p:spPr>
          <a:xfrm>
            <a:off x="5944000" y="2431880"/>
            <a:ext cx="3200000" cy="512000"/>
          </a:xfrm>
          <a:prstGeom prst="rect">
            <a:avLst/>
          </a:prstGeom>
          <a:noFill/>
        </p:spPr>
        <p:txBody>
          <a:bodyPr wrap="square" lIns="0" tIns="0" rIns="0" bIns="0" anchor="t"/>
          <a:lstStyle/>
          <a:p>
            <a:pPr algn="ctr"/>
            <a:r>
              <a:rPr lang="en-US" sz="1792" b="1">
                <a:solidFill>
                  <a:srgbClr val="2C5F2D"/>
                </a:solidFill>
              </a:rPr>
              <a:t>Good Seed Production</a:t>
            </a:r>
          </a:p>
        </p:txBody>
      </p:sp>
      <p:sp>
        <p:nvSpPr>
          <p:cNvPr id="32" name="CardSub3"/>
          <p:cNvSpPr txBox="1"/>
          <p:nvPr/>
        </p:nvSpPr>
        <p:spPr>
          <a:xfrm>
            <a:off x="5944000" y="2918280"/>
            <a:ext cx="3200000" cy="512000"/>
          </a:xfrm>
          <a:prstGeom prst="rect">
            <a:avLst/>
          </a:prstGeom>
          <a:noFill/>
        </p:spPr>
        <p:txBody>
          <a:bodyPr wrap="square" lIns="0" tIns="0" rIns="0" bIns="0" anchor="t"/>
          <a:lstStyle/>
          <a:p>
            <a:pPr algn="ctr"/>
            <a:r>
              <a:rPr lang="en-US" sz="1408">
                <a:solidFill>
                  <a:srgbClr val="666666"/>
                </a:solidFill>
              </a:rPr>
              <a:t>Fertility, kernel size, germination</a:t>
            </a:r>
          </a:p>
        </p:txBody>
      </p:sp>
      <p:sp>
        <p:nvSpPr>
          <p:cNvPr id="140" name="CircleIcon4"/>
          <p:cNvSpPr/>
          <p:nvPr/>
        </p:nvSpPr>
        <p:spPr>
          <a:xfrm>
            <a:off x="2200000" y="4283880"/>
            <a:ext cx="1160000" cy="1160000"/>
          </a:xfrm>
          <a:prstGeom prst="ellipse">
            <a:avLst/>
          </a:prstGeom>
          <a:solidFill>
            <a:srgbClr val="E8F5E9"/>
          </a:solidFill>
          <a:ln>
            <a:noFill/>
          </a:ln>
        </p:spPr>
        <p:txBody>
          <a:bodyPr/>
          <a:lstStyle/>
          <a:p>
            <a:endParaRPr/>
          </a:p>
        </p:txBody>
      </p:sp>
      <p:pic>
        <p:nvPicPr>
          <p:cNvPr id="40" name="Icon4"/>
          <p:cNvPicPr>
            <a:picLocks noChangeAspect="1"/>
          </p:cNvPicPr>
          <p:nvPr/>
        </p:nvPicPr>
        <p:blipFill>
          <a:blip r:embed="rId5"/>
          <a:stretch>
            <a:fillRect/>
          </a:stretch>
        </p:blipFill>
        <p:spPr>
          <a:xfrm>
            <a:off x="2332000" y="4415880"/>
            <a:ext cx="896000" cy="896000"/>
          </a:xfrm>
          <a:prstGeom prst="rect">
            <a:avLst/>
          </a:prstGeom>
        </p:spPr>
      </p:pic>
      <p:sp>
        <p:nvSpPr>
          <p:cNvPr id="41" name="CardTitle4"/>
          <p:cNvSpPr txBox="1"/>
          <p:nvPr/>
        </p:nvSpPr>
        <p:spPr>
          <a:xfrm>
            <a:off x="1180000" y="5375880"/>
            <a:ext cx="3200000" cy="512000"/>
          </a:xfrm>
          <a:prstGeom prst="rect">
            <a:avLst/>
          </a:prstGeom>
          <a:noFill/>
        </p:spPr>
        <p:txBody>
          <a:bodyPr wrap="square" lIns="0" tIns="0" rIns="0" bIns="0" anchor="t"/>
          <a:lstStyle/>
          <a:p>
            <a:pPr algn="ctr"/>
            <a:r>
              <a:rPr lang="en-US" sz="1792" b="1">
                <a:solidFill>
                  <a:srgbClr val="2C5F2D"/>
                </a:solidFill>
              </a:rPr>
              <a:t>Combines Well with Partners</a:t>
            </a:r>
          </a:p>
        </p:txBody>
      </p:sp>
      <p:sp>
        <p:nvSpPr>
          <p:cNvPr id="42" name="CardSub4"/>
          <p:cNvSpPr txBox="1"/>
          <p:nvPr/>
        </p:nvSpPr>
        <p:spPr>
          <a:xfrm>
            <a:off x="1180000" y="5862280"/>
            <a:ext cx="3200000" cy="512000"/>
          </a:xfrm>
          <a:prstGeom prst="rect">
            <a:avLst/>
          </a:prstGeom>
          <a:noFill/>
        </p:spPr>
        <p:txBody>
          <a:bodyPr wrap="square" lIns="0" tIns="0" rIns="0" bIns="0" anchor="t"/>
          <a:lstStyle/>
          <a:p>
            <a:pPr algn="ctr"/>
            <a:r>
              <a:rPr lang="en-US" sz="1408">
                <a:solidFill>
                  <a:srgbClr val="666666"/>
                </a:solidFill>
              </a:rPr>
              <a:t>Broad GCA vs. narrow specific niche</a:t>
            </a:r>
          </a:p>
        </p:txBody>
      </p:sp>
      <p:sp>
        <p:nvSpPr>
          <p:cNvPr id="150" name="CircleIcon5"/>
          <p:cNvSpPr/>
          <p:nvPr/>
        </p:nvSpPr>
        <p:spPr>
          <a:xfrm>
            <a:off x="5784000" y="4283880"/>
            <a:ext cx="1160000" cy="1160000"/>
          </a:xfrm>
          <a:prstGeom prst="ellipse">
            <a:avLst/>
          </a:prstGeom>
          <a:solidFill>
            <a:srgbClr val="E8F5E9"/>
          </a:solidFill>
          <a:ln>
            <a:noFill/>
          </a:ln>
        </p:spPr>
        <p:txBody>
          <a:bodyPr/>
          <a:lstStyle/>
          <a:p>
            <a:endParaRPr/>
          </a:p>
        </p:txBody>
      </p:sp>
      <p:pic>
        <p:nvPicPr>
          <p:cNvPr id="50" name="Icon5"/>
          <p:cNvPicPr>
            <a:picLocks noChangeAspect="1"/>
          </p:cNvPicPr>
          <p:nvPr/>
        </p:nvPicPr>
        <p:blipFill>
          <a:blip r:embed="rId6"/>
          <a:stretch>
            <a:fillRect/>
          </a:stretch>
        </p:blipFill>
        <p:spPr>
          <a:xfrm>
            <a:off x="5916000" y="4415880"/>
            <a:ext cx="896000" cy="896000"/>
          </a:xfrm>
          <a:prstGeom prst="rect">
            <a:avLst/>
          </a:prstGeom>
        </p:spPr>
      </p:pic>
      <p:sp>
        <p:nvSpPr>
          <p:cNvPr id="51" name="CardTitle5"/>
          <p:cNvSpPr txBox="1"/>
          <p:nvPr/>
        </p:nvSpPr>
        <p:spPr>
          <a:xfrm>
            <a:off x="4764000" y="5375880"/>
            <a:ext cx="3200000" cy="512000"/>
          </a:xfrm>
          <a:prstGeom prst="rect">
            <a:avLst/>
          </a:prstGeom>
          <a:noFill/>
        </p:spPr>
        <p:txBody>
          <a:bodyPr wrap="square" lIns="0" tIns="0" rIns="0" bIns="0" anchor="t"/>
          <a:lstStyle/>
          <a:p>
            <a:pPr algn="ctr"/>
            <a:r>
              <a:rPr lang="en-US" sz="1792" b="1">
                <a:solidFill>
                  <a:srgbClr val="2C5F2D"/>
                </a:solidFill>
              </a:rPr>
              <a:t>Complements Germplasm</a:t>
            </a:r>
          </a:p>
        </p:txBody>
      </p:sp>
      <p:sp>
        <p:nvSpPr>
          <p:cNvPr id="52" name="CardSub5"/>
          <p:cNvSpPr txBox="1"/>
          <p:nvPr/>
        </p:nvSpPr>
        <p:spPr>
          <a:xfrm>
            <a:off x="4764000" y="5862280"/>
            <a:ext cx="3200000" cy="512000"/>
          </a:xfrm>
          <a:prstGeom prst="rect">
            <a:avLst/>
          </a:prstGeom>
          <a:noFill/>
        </p:spPr>
        <p:txBody>
          <a:bodyPr wrap="square" lIns="0" tIns="0" rIns="0" bIns="0" anchor="t"/>
          <a:lstStyle/>
          <a:p>
            <a:pPr algn="ctr"/>
            <a:r>
              <a:rPr lang="en-US" sz="1408">
                <a:solidFill>
                  <a:srgbClr val="666666"/>
                </a:solidFill>
              </a:rPr>
              <a:t>Fills gaps in heterotic pattern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9144000" cy="6848998"/>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27749" y="0"/>
            <a:ext cx="8816251" cy="6858000"/>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713544" cy="6858000"/>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4000" cy="6844732"/>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82069" y="212908"/>
            <a:ext cx="6861931" cy="6448394"/>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269287" y="1712598"/>
            <a:ext cx="4967533" cy="3741293"/>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121925" y="818984"/>
            <a:ext cx="5036024" cy="3178689"/>
          </a:xfrm>
        </p:spPr>
        <p:txBody>
          <a:bodyPr vert="horz" lIns="91440" tIns="45720" rIns="91440" bIns="45720" rtlCol="0" anchor="b">
            <a:normAutofit/>
          </a:bodyPr>
          <a:lstStyle/>
          <a:p>
            <a:pPr algn="l" defTabSz="914400">
              <a:lnSpc>
                <a:spcPct val="90000"/>
              </a:lnSpc>
              <a:defRPr sz="4000" b="1"/>
            </a:pPr>
            <a:r>
              <a:rPr lang="en-US" sz="4200" kern="1200">
                <a:solidFill>
                  <a:srgbClr val="FFFFFF"/>
                </a:solidFill>
                <a:latin typeface="+mj-lt"/>
                <a:ea typeface="+mj-ea"/>
                <a:cs typeface="+mj-cs"/>
              </a:rPr>
              <a:t>Why don't all inbreds work well together?</a:t>
            </a:r>
          </a:p>
          <a:p>
            <a:pPr algn="l" defTabSz="914400">
              <a:lnSpc>
                <a:spcPct val="90000"/>
              </a:lnSpc>
            </a:pPr>
            <a:endParaRPr lang="en-US" sz="4200" kern="1200">
              <a:solidFill>
                <a:srgbClr val="FFFFFF"/>
              </a:solidFill>
              <a:latin typeface="+mj-lt"/>
              <a:ea typeface="+mj-ea"/>
              <a:cs typeface="+mj-cs"/>
            </a:endParaRPr>
          </a:p>
          <a:p>
            <a:pPr algn="l" defTabSz="914400">
              <a:lnSpc>
                <a:spcPct val="90000"/>
              </a:lnSpc>
            </a:pPr>
            <a:r>
              <a:rPr lang="en-US" sz="4200" kern="1200">
                <a:solidFill>
                  <a:srgbClr val="FFFFFF"/>
                </a:solidFill>
                <a:latin typeface="+mj-lt"/>
                <a:ea typeface="+mj-ea"/>
                <a:cs typeface="+mj-cs"/>
              </a:rPr>
              <a:t>Why separate breeding pools?</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485042"/>
            <a:ext cx="9144000" cy="2372958"/>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Heterotic Groups in Maize</a:t>
            </a:r>
          </a:p>
        </p:txBody>
      </p:sp>
      <p:sp>
        <p:nvSpPr>
          <p:cNvPr id="3" name="Content Placeholder 2"/>
          <p:cNvSpPr>
            <a:spLocks noGrp="1"/>
          </p:cNvSpPr>
          <p:nvPr>
            <p:ph idx="1"/>
          </p:nvPr>
        </p:nvSpPr>
        <p:spPr/>
        <p:txBody>
          <a:bodyPr>
            <a:normAutofit lnSpcReduction="10000"/>
          </a:bodyPr>
          <a:lstStyle/>
          <a:p>
            <a:endParaRPr/>
          </a:p>
          <a:p>
            <a:pPr>
              <a:defRPr sz="2000"/>
            </a:pPr>
            <a:r>
              <a:t>Pool A: Stiff Stalk Synthetic (SSS)</a:t>
            </a:r>
          </a:p>
          <a:p>
            <a:pPr>
              <a:defRPr sz="2000"/>
            </a:pPr>
            <a:r>
              <a:t>• Origin: Iowa Stiff Stalk Synthetic population</a:t>
            </a:r>
          </a:p>
          <a:p>
            <a:pPr>
              <a:defRPr sz="2000"/>
            </a:pPr>
            <a:r>
              <a:t>• Classic lines: B73, PH207, LH82</a:t>
            </a:r>
          </a:p>
          <a:p>
            <a:pPr>
              <a:defRPr sz="2000"/>
            </a:pPr>
            <a:r>
              <a:t>• Often used as female parent</a:t>
            </a:r>
          </a:p>
          <a:p>
            <a:pPr>
              <a:defRPr sz="2000"/>
            </a:pPr>
            <a:endParaRPr/>
          </a:p>
          <a:p>
            <a:pPr>
              <a:defRPr sz="2000"/>
            </a:pPr>
            <a:r>
              <a:t>Pool B: Non-Stiff Stalk (NSS)</a:t>
            </a:r>
          </a:p>
          <a:p>
            <a:pPr>
              <a:defRPr sz="2000"/>
            </a:pPr>
            <a:r>
              <a:t>• Subgroups: Lancaster, Iodent, Reid Yellow Dent</a:t>
            </a:r>
          </a:p>
          <a:p>
            <a:pPr>
              <a:defRPr sz="2000"/>
            </a:pPr>
            <a:r>
              <a:t>• Classic lines: Mo17, PH595, LH123</a:t>
            </a:r>
          </a:p>
          <a:p>
            <a:pPr>
              <a:defRPr sz="2000"/>
            </a:pPr>
            <a:r>
              <a:t>• Often used as male parent</a:t>
            </a:r>
          </a:p>
          <a:p>
            <a:pPr>
              <a:defRPr sz="2000"/>
            </a:pPr>
            <a:endParaRPr/>
          </a:p>
          <a:p>
            <a:pPr>
              <a:defRPr sz="2000"/>
            </a:pPr>
            <a:r>
              <a:t>Other pools: Tropical, Popcorn, Sweet corn (distinct patterns)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Fig. 1.">
            <a:extLst>
              <a:ext uri="{FF2B5EF4-FFF2-40B4-BE49-F238E27FC236}">
                <a16:creationId xmlns:a16="http://schemas.microsoft.com/office/drawing/2014/main" id="{DAEF40E5-1A4E-D336-ECBF-2D2440D24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23963"/>
            <a:ext cx="9144000" cy="44100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32A2DDB-8992-E595-1080-F3D7DEEF7E1A}"/>
              </a:ext>
            </a:extLst>
          </p:cNvPr>
          <p:cNvSpPr txBox="1"/>
          <p:nvPr/>
        </p:nvSpPr>
        <p:spPr>
          <a:xfrm>
            <a:off x="89210" y="6456556"/>
            <a:ext cx="5363736" cy="369332"/>
          </a:xfrm>
          <a:prstGeom prst="rect">
            <a:avLst/>
          </a:prstGeom>
          <a:noFill/>
        </p:spPr>
        <p:txBody>
          <a:bodyPr wrap="square" rtlCol="0">
            <a:spAutoFit/>
          </a:bodyPr>
          <a:lstStyle/>
          <a:p>
            <a:r>
              <a:rPr lang="en-US" dirty="0"/>
              <a:t>https://</a:t>
            </a:r>
            <a:r>
              <a:rPr lang="en-US" dirty="0" err="1"/>
              <a:t>pmc.ncbi.nlm.nih.gov</a:t>
            </a:r>
            <a:r>
              <a:rPr lang="en-US" dirty="0"/>
              <a:t>/articles/PMC3412004/</a:t>
            </a:r>
          </a:p>
        </p:txBody>
      </p:sp>
    </p:spTree>
    <p:extLst>
      <p:ext uri="{BB962C8B-B14F-4D97-AF65-F5344CB8AC3E}">
        <p14:creationId xmlns:p14="http://schemas.microsoft.com/office/powerpoint/2010/main" val="3903002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Heterotic Pattern: Distance = Heterosis</a:t>
            </a:r>
          </a:p>
        </p:txBody>
      </p:sp>
      <p:sp>
        <p:nvSpPr>
          <p:cNvPr id="3" name="Content Placeholder 2"/>
          <p:cNvSpPr>
            <a:spLocks noGrp="1"/>
          </p:cNvSpPr>
          <p:nvPr>
            <p:ph idx="1"/>
          </p:nvPr>
        </p:nvSpPr>
        <p:spPr/>
        <p:txBody>
          <a:bodyPr>
            <a:normAutofit fontScale="92500" lnSpcReduction="20000"/>
          </a:bodyPr>
          <a:lstStyle/>
          <a:p>
            <a:endParaRPr/>
          </a:p>
          <a:p>
            <a:pPr>
              <a:defRPr sz="2000"/>
            </a:pPr>
            <a:r>
              <a:t>Within pool crosses:</a:t>
            </a:r>
          </a:p>
          <a:p>
            <a:pPr>
              <a:defRPr sz="2000"/>
            </a:pPr>
            <a:r>
              <a:t>• SSS × SSS = Moderate heterosis (~10-15%)</a:t>
            </a:r>
          </a:p>
          <a:p>
            <a:pPr>
              <a:defRPr sz="2000"/>
            </a:pPr>
            <a:r>
              <a:t>• NSS × NSS = Moderate heterosis (~10-15%)</a:t>
            </a:r>
          </a:p>
          <a:p>
            <a:pPr>
              <a:defRPr sz="2000"/>
            </a:pPr>
            <a:endParaRPr/>
          </a:p>
          <a:p>
            <a:pPr>
              <a:defRPr sz="2000"/>
            </a:pPr>
            <a:r>
              <a:t>Between pool crosses:</a:t>
            </a:r>
          </a:p>
          <a:p>
            <a:pPr>
              <a:defRPr sz="2000"/>
            </a:pPr>
            <a:r>
              <a:t>• SSS × NSS = Maximum heterosis (~25-35%)!</a:t>
            </a:r>
          </a:p>
          <a:p>
            <a:pPr>
              <a:defRPr sz="2000"/>
            </a:pPr>
            <a:endParaRPr/>
          </a:p>
          <a:p>
            <a:pPr>
              <a:defRPr sz="2000"/>
            </a:pPr>
            <a:r>
              <a:t>Why?</a:t>
            </a:r>
          </a:p>
          <a:p>
            <a:pPr>
              <a:defRPr sz="2000"/>
            </a:pPr>
            <a:r>
              <a:t>• Genetic distance correlates with heterosis</a:t>
            </a:r>
          </a:p>
          <a:p>
            <a:pPr>
              <a:defRPr sz="2000"/>
            </a:pPr>
            <a:r>
              <a:t>• More divergent = more complementary loci</a:t>
            </a:r>
          </a:p>
          <a:p>
            <a:pPr>
              <a:defRPr sz="2000"/>
            </a:pPr>
            <a:r>
              <a:t>• But not too distant (genomic incompatibilities possible)</a:t>
            </a:r>
          </a:p>
          <a:p>
            <a:pPr>
              <a:defRPr sz="2000"/>
            </a:pPr>
            <a:endParaRPr/>
          </a:p>
          <a:p>
            <a:pPr>
              <a:defRPr sz="2000"/>
            </a:pPr>
            <a:r>
              <a:t>Sweet spot: Divergent but compatible (like SSS × NSS)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pPr>
            <a:r>
              <a:rPr dirty="0"/>
              <a:t>Two-Pool Breeding Program Structure</a:t>
            </a:r>
          </a:p>
        </p:txBody>
      </p:sp>
      <p:pic>
        <p:nvPicPr>
          <p:cNvPr id="4098" name="Picture 2" descr="Overview of maize hybrid breeding pipeline for the conventional program used in burn‐in and phenotypic selection. The heterotic pools are represented by the colors (blue and green), and the squares represent different stages of the breeding program. The “maize ears” represent testers from opposite heterotic pools used in the testcross yield trials and green‐blue squares represent the testcrosses and hybrids between the heterotic pools. The dashed lines show the stage in which inbred candidates are selected as parents for subsequent breeding cycles.">
            <a:extLst>
              <a:ext uri="{FF2B5EF4-FFF2-40B4-BE49-F238E27FC236}">
                <a16:creationId xmlns:a16="http://schemas.microsoft.com/office/drawing/2014/main" id="{03717D6C-CFA6-62FC-474E-82188E6096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088" y="1188720"/>
            <a:ext cx="5363543" cy="56485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2067CA1-1A31-FD7F-2A18-F66708274F13}"/>
              </a:ext>
            </a:extLst>
          </p:cNvPr>
          <p:cNvSpPr txBox="1"/>
          <p:nvPr/>
        </p:nvSpPr>
        <p:spPr>
          <a:xfrm>
            <a:off x="4059044" y="0"/>
            <a:ext cx="5084956" cy="461665"/>
          </a:xfrm>
          <a:prstGeom prst="rect">
            <a:avLst/>
          </a:prstGeom>
          <a:noFill/>
        </p:spPr>
        <p:txBody>
          <a:bodyPr wrap="square" rtlCol="0">
            <a:spAutoFit/>
          </a:bodyPr>
          <a:lstStyle/>
          <a:p>
            <a:r>
              <a:rPr lang="en-US" sz="1200" dirty="0"/>
              <a:t>https://</a:t>
            </a:r>
            <a:r>
              <a:rPr lang="en-US" sz="1200" dirty="0" err="1"/>
              <a:t>www.researchgate.net</a:t>
            </a:r>
            <a:r>
              <a:rPr lang="en-US" sz="1200" dirty="0"/>
              <a:t>/figure/Overview-of-maize-hybrid-breeding-pipeline-for-the-conventional-program-used-in-burn-in_fig2_374532916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Maintaining Pool Divergence</a:t>
            </a:r>
          </a:p>
        </p:txBody>
      </p:sp>
      <p:sp>
        <p:nvSpPr>
          <p:cNvPr id="3" name="Content Placeholder 2"/>
          <p:cNvSpPr>
            <a:spLocks noGrp="1"/>
          </p:cNvSpPr>
          <p:nvPr>
            <p:ph idx="1"/>
          </p:nvPr>
        </p:nvSpPr>
        <p:spPr/>
        <p:txBody>
          <a:bodyPr>
            <a:normAutofit fontScale="92500" lnSpcReduction="10000"/>
          </a:bodyPr>
          <a:lstStyle/>
          <a:p>
            <a:endParaRPr dirty="0"/>
          </a:p>
          <a:p>
            <a:pPr marL="0" indent="0">
              <a:buNone/>
              <a:defRPr sz="2000"/>
            </a:pPr>
            <a:r>
              <a:rPr dirty="0"/>
              <a:t>Don't cross between pools during inbred development</a:t>
            </a:r>
          </a:p>
          <a:p>
            <a:pPr marL="0" indent="0">
              <a:buNone/>
              <a:defRPr sz="2000"/>
            </a:pPr>
            <a:r>
              <a:rPr lang="en-US" dirty="0"/>
              <a:t>	</a:t>
            </a:r>
            <a:r>
              <a:rPr dirty="0"/>
              <a:t>• Keep Pool A and Pool B separate</a:t>
            </a:r>
          </a:p>
          <a:p>
            <a:pPr>
              <a:defRPr sz="2000"/>
            </a:pPr>
            <a:endParaRPr dirty="0"/>
          </a:p>
          <a:p>
            <a:pPr marL="0" indent="0">
              <a:buNone/>
              <a:defRPr sz="2000"/>
            </a:pPr>
            <a:r>
              <a:rPr dirty="0"/>
              <a:t>Reciprocal Recurrent Selection (RRS):</a:t>
            </a:r>
          </a:p>
          <a:p>
            <a:pPr marL="0" indent="0">
              <a:buNone/>
              <a:defRPr sz="2000"/>
            </a:pPr>
            <a:r>
              <a:rPr lang="en-US" dirty="0"/>
              <a:t>	</a:t>
            </a:r>
            <a:r>
              <a:rPr dirty="0"/>
              <a:t>• Improve Pool A by selecting for performance with Pool B</a:t>
            </a:r>
          </a:p>
          <a:p>
            <a:pPr marL="0" indent="0">
              <a:buNone/>
              <a:defRPr sz="2000"/>
            </a:pPr>
            <a:r>
              <a:rPr lang="en-US" dirty="0"/>
              <a:t>	</a:t>
            </a:r>
            <a:r>
              <a:rPr dirty="0"/>
              <a:t>• Improve Pool B by selecting for performance with Pool A</a:t>
            </a:r>
          </a:p>
          <a:p>
            <a:pPr marL="0" indent="0">
              <a:buNone/>
              <a:defRPr sz="2000"/>
            </a:pPr>
            <a:r>
              <a:rPr lang="en-US" dirty="0"/>
              <a:t>	</a:t>
            </a:r>
            <a:r>
              <a:rPr dirty="0"/>
              <a:t>• Maintains divergence while improving combining ability</a:t>
            </a:r>
          </a:p>
          <a:p>
            <a:pPr>
              <a:defRPr sz="2000"/>
            </a:pPr>
            <a:endParaRPr dirty="0"/>
          </a:p>
          <a:p>
            <a:pPr marL="0" indent="0">
              <a:buNone/>
              <a:defRPr sz="2000"/>
            </a:pPr>
            <a:r>
              <a:rPr dirty="0"/>
              <a:t>What if pools merge?</a:t>
            </a:r>
          </a:p>
          <a:p>
            <a:pPr marL="0" indent="0">
              <a:buNone/>
              <a:defRPr sz="2000"/>
            </a:pPr>
            <a:r>
              <a:rPr lang="en-US" dirty="0"/>
              <a:t>	</a:t>
            </a:r>
            <a:r>
              <a:rPr dirty="0"/>
              <a:t>• Genetic distance erodes over time</a:t>
            </a:r>
          </a:p>
          <a:p>
            <a:pPr marL="0" indent="0">
              <a:buNone/>
              <a:defRPr sz="2000"/>
            </a:pPr>
            <a:r>
              <a:rPr lang="en-US" dirty="0"/>
              <a:t>	</a:t>
            </a:r>
            <a:r>
              <a:rPr dirty="0"/>
              <a:t>• Heterosis declines in future crosses</a:t>
            </a:r>
          </a:p>
          <a:p>
            <a:pPr marL="0" indent="0">
              <a:buNone/>
              <a:defRPr sz="2000"/>
            </a:pPr>
            <a:r>
              <a:rPr lang="en-US" dirty="0"/>
              <a:t>	</a:t>
            </a:r>
            <a:r>
              <a:rPr dirty="0"/>
              <a:t>• Historical examples show pattern erosion when pools intermixed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70" y="0"/>
            <a:ext cx="881253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8207" y="0"/>
            <a:ext cx="2705793" cy="6858000"/>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3923854" y="1402819"/>
            <a:ext cx="4967533" cy="3741293"/>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40148" y="818984"/>
            <a:ext cx="4947184" cy="3268520"/>
          </a:xfrm>
        </p:spPr>
        <p:txBody>
          <a:bodyPr vert="horz" lIns="91440" tIns="45720" rIns="91440" bIns="45720" rtlCol="0" anchor="b">
            <a:normAutofit/>
          </a:bodyPr>
          <a:lstStyle/>
          <a:p>
            <a:pPr algn="r" defTabSz="914400">
              <a:lnSpc>
                <a:spcPct val="90000"/>
              </a:lnSpc>
              <a:defRPr sz="4400" b="1">
                <a:solidFill>
                  <a:srgbClr val="003366"/>
                </a:solidFill>
              </a:defRPr>
            </a:pPr>
            <a:r>
              <a:rPr lang="en-US" sz="4200" kern="1200" dirty="0">
                <a:solidFill>
                  <a:srgbClr val="FFFFFF"/>
                </a:solidFill>
                <a:latin typeface="+mj-lt"/>
                <a:ea typeface="+mj-ea"/>
                <a:cs typeface="+mj-cs"/>
              </a:rPr>
              <a:t>Session 4: How do we test what should be a product?</a:t>
            </a:r>
          </a:p>
        </p:txBody>
      </p:sp>
      <p:sp>
        <p:nvSpPr>
          <p:cNvPr id="36" name="Rectangle 35">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735" y="4480038"/>
            <a:ext cx="9134528"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286428" y="2081692"/>
            <a:ext cx="6857572" cy="2694194"/>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F207-3502-4876-3055-A6E204A202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7BE1AB-D9D6-3ED7-04FC-89D3CDB31B73}"/>
              </a:ext>
            </a:extLst>
          </p:cNvPr>
          <p:cNvSpPr txBox="1"/>
          <p:nvPr/>
        </p:nvSpPr>
        <p:spPr>
          <a:xfrm>
            <a:off x="457200" y="457200"/>
            <a:ext cx="8229600" cy="731520"/>
          </a:xfrm>
          <a:prstGeom prst="rect">
            <a:avLst/>
          </a:prstGeom>
          <a:noFill/>
        </p:spPr>
        <p:txBody>
          <a:bodyPr wrap="none">
            <a:spAutoFit/>
          </a:bodyPr>
          <a:lstStyle/>
          <a:p>
            <a:pPr>
              <a:defRPr sz="3200" b="1"/>
            </a:pPr>
            <a:r>
              <a:rPr dirty="0"/>
              <a:t>Two-Pool Breeding Program Structure</a:t>
            </a:r>
          </a:p>
        </p:txBody>
      </p:sp>
      <p:pic>
        <p:nvPicPr>
          <p:cNvPr id="4098" name="Picture 2" descr="Overview of maize hybrid breeding pipeline for the conventional program used in burn‐in and phenotypic selection. The heterotic pools are represented by the colors (blue and green), and the squares represent different stages of the breeding program. The “maize ears” represent testers from opposite heterotic pools used in the testcross yield trials and green‐blue squares represent the testcrosses and hybrids between the heterotic pools. The dashed lines show the stage in which inbred candidates are selected as parents for subsequent breeding cycles.">
            <a:extLst>
              <a:ext uri="{FF2B5EF4-FFF2-40B4-BE49-F238E27FC236}">
                <a16:creationId xmlns:a16="http://schemas.microsoft.com/office/drawing/2014/main" id="{078D1D56-8027-0F21-2402-1B733989B9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088" y="1188720"/>
            <a:ext cx="5363543" cy="5648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35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7D7026-2456-DC23-D374-065F93FAB373}"/>
              </a:ext>
            </a:extLst>
          </p:cNvPr>
          <p:cNvPicPr>
            <a:picLocks noChangeAspect="1"/>
          </p:cNvPicPr>
          <p:nvPr/>
        </p:nvPicPr>
        <p:blipFill>
          <a:blip r:embed="rId2"/>
          <a:stretch>
            <a:fillRect/>
          </a:stretch>
        </p:blipFill>
        <p:spPr>
          <a:xfrm>
            <a:off x="304800" y="1676400"/>
            <a:ext cx="7772400" cy="5181600"/>
          </a:xfrm>
          <a:prstGeom prst="rect">
            <a:avLst/>
          </a:prstGeom>
        </p:spPr>
      </p:pic>
      <p:sp>
        <p:nvSpPr>
          <p:cNvPr id="3" name="TextBox 2"/>
          <p:cNvSpPr txBox="1"/>
          <p:nvPr/>
        </p:nvSpPr>
        <p:spPr>
          <a:xfrm>
            <a:off x="304800" y="480509"/>
            <a:ext cx="6226063" cy="769441"/>
          </a:xfrm>
          <a:prstGeom prst="rect">
            <a:avLst/>
          </a:prstGeom>
          <a:noFill/>
        </p:spPr>
        <p:txBody>
          <a:bodyPr wrap="none">
            <a:spAutoFit/>
          </a:bodyPr>
          <a:lstStyle/>
          <a:p>
            <a:pPr>
              <a:defRPr sz="3200" b="1"/>
            </a:pPr>
            <a:r>
              <a:rPr sz="4400" dirty="0"/>
              <a:t>Stage-Gate Testing Funnel</a:t>
            </a:r>
          </a:p>
        </p:txBody>
      </p:sp>
      <p:sp>
        <p:nvSpPr>
          <p:cNvPr id="6" name="TextBox 5">
            <a:extLst>
              <a:ext uri="{FF2B5EF4-FFF2-40B4-BE49-F238E27FC236}">
                <a16:creationId xmlns:a16="http://schemas.microsoft.com/office/drawing/2014/main" id="{FAD5A613-616F-629F-ED78-5F36B3FDF9DA}"/>
              </a:ext>
            </a:extLst>
          </p:cNvPr>
          <p:cNvSpPr txBox="1"/>
          <p:nvPr/>
        </p:nvSpPr>
        <p:spPr>
          <a:xfrm>
            <a:off x="6469563" y="2892291"/>
            <a:ext cx="2085278" cy="369332"/>
          </a:xfrm>
          <a:prstGeom prst="rect">
            <a:avLst/>
          </a:prstGeom>
          <a:noFill/>
        </p:spPr>
        <p:txBody>
          <a:bodyPr wrap="square" rtlCol="0">
            <a:spAutoFit/>
          </a:bodyPr>
          <a:lstStyle/>
          <a:p>
            <a:r>
              <a:rPr lang="en-US" dirty="0"/>
              <a:t>500-2000 hybrids</a:t>
            </a:r>
          </a:p>
        </p:txBody>
      </p:sp>
      <p:sp>
        <p:nvSpPr>
          <p:cNvPr id="7" name="TextBox 6">
            <a:extLst>
              <a:ext uri="{FF2B5EF4-FFF2-40B4-BE49-F238E27FC236}">
                <a16:creationId xmlns:a16="http://schemas.microsoft.com/office/drawing/2014/main" id="{894DA806-3B60-A6D8-9B56-C3D54F087CA9}"/>
              </a:ext>
            </a:extLst>
          </p:cNvPr>
          <p:cNvSpPr txBox="1"/>
          <p:nvPr/>
        </p:nvSpPr>
        <p:spPr>
          <a:xfrm>
            <a:off x="6475141" y="3974647"/>
            <a:ext cx="2085278" cy="369332"/>
          </a:xfrm>
          <a:prstGeom prst="rect">
            <a:avLst/>
          </a:prstGeom>
          <a:noFill/>
        </p:spPr>
        <p:txBody>
          <a:bodyPr wrap="square" rtlCol="0">
            <a:spAutoFit/>
          </a:bodyPr>
          <a:lstStyle/>
          <a:p>
            <a:r>
              <a:rPr lang="en-US" dirty="0"/>
              <a:t>100-300 hybrids</a:t>
            </a:r>
          </a:p>
        </p:txBody>
      </p:sp>
      <p:sp>
        <p:nvSpPr>
          <p:cNvPr id="8" name="TextBox 7">
            <a:extLst>
              <a:ext uri="{FF2B5EF4-FFF2-40B4-BE49-F238E27FC236}">
                <a16:creationId xmlns:a16="http://schemas.microsoft.com/office/drawing/2014/main" id="{5F698FE5-A308-EC4D-1225-37A97E4A978D}"/>
              </a:ext>
            </a:extLst>
          </p:cNvPr>
          <p:cNvSpPr txBox="1"/>
          <p:nvPr/>
        </p:nvSpPr>
        <p:spPr>
          <a:xfrm>
            <a:off x="6469563" y="5015087"/>
            <a:ext cx="2085278" cy="369332"/>
          </a:xfrm>
          <a:prstGeom prst="rect">
            <a:avLst/>
          </a:prstGeom>
          <a:noFill/>
        </p:spPr>
        <p:txBody>
          <a:bodyPr wrap="square" rtlCol="0">
            <a:spAutoFit/>
          </a:bodyPr>
          <a:lstStyle/>
          <a:p>
            <a:r>
              <a:rPr lang="en-US" dirty="0"/>
              <a:t>20-50 hybrids</a:t>
            </a:r>
          </a:p>
        </p:txBody>
      </p:sp>
      <p:sp>
        <p:nvSpPr>
          <p:cNvPr id="9" name="TextBox 8">
            <a:extLst>
              <a:ext uri="{FF2B5EF4-FFF2-40B4-BE49-F238E27FC236}">
                <a16:creationId xmlns:a16="http://schemas.microsoft.com/office/drawing/2014/main" id="{92B1489A-AA40-DFBC-734C-DBB28569DACA}"/>
              </a:ext>
            </a:extLst>
          </p:cNvPr>
          <p:cNvSpPr txBox="1"/>
          <p:nvPr/>
        </p:nvSpPr>
        <p:spPr>
          <a:xfrm>
            <a:off x="5824653" y="3466843"/>
            <a:ext cx="2085278" cy="369332"/>
          </a:xfrm>
          <a:prstGeom prst="rect">
            <a:avLst/>
          </a:prstGeom>
          <a:noFill/>
        </p:spPr>
        <p:txBody>
          <a:bodyPr wrap="square" rtlCol="0">
            <a:spAutoFit/>
          </a:bodyPr>
          <a:lstStyle/>
          <a:p>
            <a:r>
              <a:rPr lang="en-US" dirty="0"/>
              <a:t>Top 10-20%</a:t>
            </a:r>
          </a:p>
        </p:txBody>
      </p:sp>
      <p:sp>
        <p:nvSpPr>
          <p:cNvPr id="10" name="TextBox 9">
            <a:extLst>
              <a:ext uri="{FF2B5EF4-FFF2-40B4-BE49-F238E27FC236}">
                <a16:creationId xmlns:a16="http://schemas.microsoft.com/office/drawing/2014/main" id="{DEC2D99A-C3B3-21AD-B71F-B608EC288AFA}"/>
              </a:ext>
            </a:extLst>
          </p:cNvPr>
          <p:cNvSpPr txBox="1"/>
          <p:nvPr/>
        </p:nvSpPr>
        <p:spPr>
          <a:xfrm>
            <a:off x="5824653" y="4550538"/>
            <a:ext cx="2085278" cy="369332"/>
          </a:xfrm>
          <a:prstGeom prst="rect">
            <a:avLst/>
          </a:prstGeom>
          <a:noFill/>
        </p:spPr>
        <p:txBody>
          <a:bodyPr wrap="square" rtlCol="0">
            <a:spAutoFit/>
          </a:bodyPr>
          <a:lstStyle/>
          <a:p>
            <a:r>
              <a:rPr lang="en-US" dirty="0"/>
              <a:t>Top 10-20%</a:t>
            </a:r>
          </a:p>
        </p:txBody>
      </p:sp>
      <p:sp>
        <p:nvSpPr>
          <p:cNvPr id="11" name="TextBox 10">
            <a:extLst>
              <a:ext uri="{FF2B5EF4-FFF2-40B4-BE49-F238E27FC236}">
                <a16:creationId xmlns:a16="http://schemas.microsoft.com/office/drawing/2014/main" id="{C54E7AA2-9546-B040-0827-0381DD65EA83}"/>
              </a:ext>
            </a:extLst>
          </p:cNvPr>
          <p:cNvSpPr txBox="1"/>
          <p:nvPr/>
        </p:nvSpPr>
        <p:spPr>
          <a:xfrm>
            <a:off x="5824653" y="5546374"/>
            <a:ext cx="2085278" cy="369332"/>
          </a:xfrm>
          <a:prstGeom prst="rect">
            <a:avLst/>
          </a:prstGeom>
          <a:noFill/>
        </p:spPr>
        <p:txBody>
          <a:bodyPr wrap="square" rtlCol="0">
            <a:spAutoFit/>
          </a:bodyPr>
          <a:lstStyle/>
          <a:p>
            <a:r>
              <a:rPr lang="en-US" dirty="0"/>
              <a:t>Top 10-20%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lstStyle/>
          <a:p>
            <a:pPr algn="l"/>
            <a:r>
              <a:rPr lang="en-US" sz="3200" b="1" dirty="0">
                <a:solidFill>
                  <a:srgbClr val="1F497D"/>
                </a:solidFill>
              </a:rPr>
              <a:t>Stage 1: Preliminary Yield Trials (PYT)</a:t>
            </a:r>
          </a:p>
        </p:txBody>
      </p:sp>
      <p:sp>
        <p:nvSpPr>
          <p:cNvPr id="100" name="PurposeCard"/>
          <p:cNvSpPr/>
          <p:nvPr/>
        </p:nvSpPr>
        <p:spPr>
          <a:xfrm>
            <a:off x="457200" y="1066800"/>
            <a:ext cx="8229600" cy="609600"/>
          </a:xfrm>
          <a:prstGeom prst="roundRect">
            <a:avLst>
              <a:gd name="adj" fmla="val 3000"/>
            </a:avLst>
          </a:prstGeom>
          <a:solidFill>
            <a:srgbClr val="EDEAF3"/>
          </a:solidFill>
          <a:ln w="0">
            <a:noFill/>
          </a:ln>
        </p:spPr>
        <p:txBody>
          <a:bodyPr/>
          <a:lstStyle/>
          <a:p>
            <a:endParaRPr/>
          </a:p>
        </p:txBody>
      </p:sp>
      <p:sp>
        <p:nvSpPr>
          <p:cNvPr id="101" name="PurposeLabel"/>
          <p:cNvSpPr/>
          <p:nvPr/>
        </p:nvSpPr>
        <p:spPr>
          <a:xfrm>
            <a:off x="609600" y="1105000"/>
            <a:ext cx="7924800" cy="228600"/>
          </a:xfrm>
          <a:prstGeom prst="rect">
            <a:avLst/>
          </a:prstGeom>
          <a:noFill/>
          <a:ln w="0">
            <a:noFill/>
          </a:ln>
        </p:spPr>
        <p:txBody>
          <a:bodyPr lIns="0" tIns="0" rIns="0" bIns="0" anchor="t"/>
          <a:lstStyle/>
          <a:p>
            <a:pPr algn="l"/>
            <a:r>
              <a:rPr lang="en-US" sz="1800" b="1">
                <a:solidFill>
                  <a:srgbClr val="8064A2"/>
                </a:solidFill>
              </a:rPr>
              <a:t>PURPOSE</a:t>
            </a:r>
          </a:p>
        </p:txBody>
      </p:sp>
      <p:sp>
        <p:nvSpPr>
          <p:cNvPr id="102" name="PurposeText"/>
          <p:cNvSpPr/>
          <p:nvPr/>
        </p:nvSpPr>
        <p:spPr>
          <a:xfrm>
            <a:off x="609600" y="1333500"/>
            <a:ext cx="7924800" cy="304800"/>
          </a:xfrm>
          <a:prstGeom prst="rect">
            <a:avLst/>
          </a:prstGeom>
          <a:noFill/>
          <a:ln w="0">
            <a:noFill/>
          </a:ln>
        </p:spPr>
        <p:txBody>
          <a:bodyPr lIns="0" tIns="0" rIns="0" bIns="0" anchor="t"/>
          <a:lstStyle/>
          <a:p>
            <a:pPr algn="l"/>
            <a:r>
              <a:rPr lang="en-US" sz="1900" b="1">
                <a:solidFill>
                  <a:srgbClr val="333333"/>
                </a:solidFill>
              </a:rPr>
              <a:t>Eliminate poor performers quickly</a:t>
            </a:r>
          </a:p>
        </p:txBody>
      </p:sp>
      <p:sp>
        <p:nvSpPr>
          <p:cNvPr id="110" name="ScaleCard"/>
          <p:cNvSpPr/>
          <p:nvPr/>
        </p:nvSpPr>
        <p:spPr>
          <a:xfrm>
            <a:off x="457200" y="1828800"/>
            <a:ext cx="8229600" cy="2438400"/>
          </a:xfrm>
          <a:prstGeom prst="roundRect">
            <a:avLst>
              <a:gd name="adj" fmla="val 3000"/>
            </a:avLst>
          </a:prstGeom>
          <a:solidFill>
            <a:srgbClr val="F5F5F5"/>
          </a:solidFill>
          <a:ln w="0">
            <a:noFill/>
          </a:ln>
        </p:spPr>
        <p:txBody>
          <a:bodyPr/>
          <a:lstStyle/>
          <a:p>
            <a:endParaRPr/>
          </a:p>
        </p:txBody>
      </p:sp>
      <p:sp>
        <p:nvSpPr>
          <p:cNvPr id="111" name="ScaleLabel"/>
          <p:cNvSpPr/>
          <p:nvPr/>
        </p:nvSpPr>
        <p:spPr>
          <a:xfrm>
            <a:off x="609600" y="1905000"/>
            <a:ext cx="7924800" cy="342900"/>
          </a:xfrm>
          <a:prstGeom prst="rect">
            <a:avLst/>
          </a:prstGeom>
          <a:noFill/>
          <a:ln w="0">
            <a:noFill/>
          </a:ln>
        </p:spPr>
        <p:txBody>
          <a:bodyPr lIns="0" tIns="0" rIns="0" bIns="0" anchor="t"/>
          <a:lstStyle/>
          <a:p>
            <a:pPr algn="l"/>
            <a:r>
              <a:rPr lang="en-US" sz="1800" b="1" dirty="0">
                <a:solidFill>
                  <a:srgbClr val="1F497D"/>
                </a:solidFill>
              </a:rPr>
              <a:t>SCALE</a:t>
            </a:r>
          </a:p>
        </p:txBody>
      </p:sp>
      <p:sp>
        <p:nvSpPr>
          <p:cNvPr id="112" name="ScaleContent"/>
          <p:cNvSpPr/>
          <p:nvPr/>
        </p:nvSpPr>
        <p:spPr>
          <a:xfrm>
            <a:off x="609600" y="2286000"/>
            <a:ext cx="7924800" cy="1828800"/>
          </a:xfrm>
          <a:prstGeom prst="rect">
            <a:avLst/>
          </a:prstGeom>
          <a:noFill/>
          <a:ln w="0">
            <a:noFill/>
          </a:ln>
        </p:spPr>
        <p:txBody>
          <a:bodyPr lIns="0" tIns="0" rIns="0" bIns="0" anchor="t"/>
          <a:lstStyle/>
          <a:p>
            <a:pPr algn="l">
              <a:lnSpc>
                <a:spcPts val="3400"/>
              </a:lnSpc>
              <a:buChar char="•"/>
            </a:pPr>
            <a:r>
              <a:rPr lang="en-US" sz="1900">
                <a:solidFill>
                  <a:srgbClr val="333333"/>
                </a:solidFill>
              </a:rPr>
              <a:t>Many hybrids tested: 500–2,000 new crosses/year</a:t>
            </a:r>
          </a:p>
          <a:p>
            <a:pPr algn="l">
              <a:lnSpc>
                <a:spcPts val="3400"/>
              </a:lnSpc>
              <a:buChar char="•"/>
            </a:pPr>
            <a:r>
              <a:rPr lang="en-US" sz="1900">
                <a:solidFill>
                  <a:srgbClr val="333333"/>
                </a:solidFill>
              </a:rPr>
              <a:t>Few locations: 2–5</a:t>
            </a:r>
          </a:p>
          <a:p>
            <a:pPr algn="l">
              <a:lnSpc>
                <a:spcPts val="3400"/>
              </a:lnSpc>
              <a:buChar char="•"/>
            </a:pPr>
            <a:r>
              <a:rPr lang="en-US" sz="1900">
                <a:solidFill>
                  <a:srgbClr val="333333"/>
                </a:solidFill>
              </a:rPr>
              <a:t>Limited replication: 2–3 reps, sometimes unreplicated</a:t>
            </a:r>
          </a:p>
        </p:txBody>
      </p:sp>
      <p:sp>
        <p:nvSpPr>
          <p:cNvPr id="120" name="FactsCard"/>
          <p:cNvSpPr/>
          <p:nvPr/>
        </p:nvSpPr>
        <p:spPr>
          <a:xfrm>
            <a:off x="457200" y="4419600"/>
            <a:ext cx="8229600" cy="1828800"/>
          </a:xfrm>
          <a:prstGeom prst="roundRect">
            <a:avLst>
              <a:gd name="adj" fmla="val 3000"/>
            </a:avLst>
          </a:prstGeom>
          <a:solidFill>
            <a:srgbClr val="FDF2E9"/>
          </a:solidFill>
          <a:ln w="0">
            <a:noFill/>
          </a:ln>
        </p:spPr>
        <p:txBody>
          <a:bodyPr/>
          <a:lstStyle/>
          <a:p>
            <a:endParaRPr/>
          </a:p>
        </p:txBody>
      </p:sp>
      <p:sp>
        <p:nvSpPr>
          <p:cNvPr id="121" name="FactsLabel"/>
          <p:cNvSpPr/>
          <p:nvPr/>
        </p:nvSpPr>
        <p:spPr>
          <a:xfrm>
            <a:off x="609600" y="4495800"/>
            <a:ext cx="7924800" cy="342900"/>
          </a:xfrm>
          <a:prstGeom prst="rect">
            <a:avLst/>
          </a:prstGeom>
          <a:noFill/>
          <a:ln w="0">
            <a:noFill/>
          </a:ln>
        </p:spPr>
        <p:txBody>
          <a:bodyPr lIns="0" tIns="0" rIns="0" bIns="0" anchor="t"/>
          <a:lstStyle/>
          <a:p>
            <a:pPr algn="l"/>
            <a:r>
              <a:rPr lang="en-US" sz="1800" b="1" dirty="0">
                <a:solidFill>
                  <a:srgbClr val="F79646"/>
                </a:solidFill>
              </a:rPr>
              <a:t>KEY FACTS</a:t>
            </a:r>
          </a:p>
        </p:txBody>
      </p:sp>
      <p:sp>
        <p:nvSpPr>
          <p:cNvPr id="122" name="FactsContent"/>
          <p:cNvSpPr/>
          <p:nvPr/>
        </p:nvSpPr>
        <p:spPr>
          <a:xfrm>
            <a:off x="609600" y="4876800"/>
            <a:ext cx="7924800" cy="1219200"/>
          </a:xfrm>
          <a:prstGeom prst="rect">
            <a:avLst/>
          </a:prstGeom>
          <a:noFill/>
          <a:ln w="0">
            <a:noFill/>
          </a:ln>
        </p:spPr>
        <p:txBody>
          <a:bodyPr lIns="0" tIns="0" rIns="0" bIns="0" anchor="t"/>
          <a:lstStyle/>
          <a:p>
            <a:pPr algn="l">
              <a:lnSpc>
                <a:spcPts val="3400"/>
              </a:lnSpc>
              <a:buChar char="•"/>
            </a:pPr>
            <a:r>
              <a:rPr lang="en-US" sz="1900" b="1">
                <a:solidFill>
                  <a:srgbClr val="1F497D"/>
                </a:solidFill>
              </a:rPr>
              <a:t>Selection: </a:t>
            </a:r>
            <a:r>
              <a:rPr lang="en-US" sz="1900">
                <a:solidFill>
                  <a:srgbClr val="333333"/>
                </a:solidFill>
              </a:rPr>
              <a:t>Keep top 10–20%</a:t>
            </a:r>
          </a:p>
          <a:p>
            <a:pPr algn="l">
              <a:lnSpc>
                <a:spcPts val="3400"/>
              </a:lnSpc>
              <a:buChar char="•"/>
            </a:pPr>
            <a:r>
              <a:rPr lang="en-US" sz="1900" b="1">
                <a:solidFill>
                  <a:srgbClr val="1F497D"/>
                </a:solidFill>
              </a:rPr>
              <a:t>Cost: </a:t>
            </a:r>
            <a:r>
              <a:rPr lang="en-US" sz="1900">
                <a:solidFill>
                  <a:srgbClr val="333333"/>
                </a:solidFill>
              </a:rPr>
              <a:t>~$150/hybrid/location</a:t>
            </a:r>
          </a:p>
          <a:p>
            <a:pPr algn="l">
              <a:lnSpc>
                <a:spcPts val="3400"/>
              </a:lnSpc>
              <a:buChar char="•"/>
            </a:pPr>
            <a:r>
              <a:rPr lang="en-US" sz="1900" b="1">
                <a:solidFill>
                  <a:srgbClr val="1F497D"/>
                </a:solidFill>
              </a:rPr>
              <a:t>Example: </a:t>
            </a:r>
            <a:r>
              <a:rPr lang="en-US" sz="1900">
                <a:solidFill>
                  <a:srgbClr val="333333"/>
                </a:solidFill>
              </a:rPr>
              <a:t>1,000 hybrids × 3 locations = $450,000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lstStyle/>
          <a:p>
            <a:pPr algn="l"/>
            <a:r>
              <a:rPr lang="en-US" sz="3200" b="1" dirty="0">
                <a:solidFill>
                  <a:srgbClr val="1F497D"/>
                </a:solidFill>
              </a:rPr>
              <a:t>Stage 2: Advanced Yield Trials (AYT)</a:t>
            </a:r>
          </a:p>
        </p:txBody>
      </p:sp>
      <p:sp>
        <p:nvSpPr>
          <p:cNvPr id="100" name="PurposeCard"/>
          <p:cNvSpPr/>
          <p:nvPr/>
        </p:nvSpPr>
        <p:spPr>
          <a:xfrm>
            <a:off x="457200" y="1066800"/>
            <a:ext cx="8229600" cy="609600"/>
          </a:xfrm>
          <a:prstGeom prst="roundRect">
            <a:avLst>
              <a:gd name="adj" fmla="val 3000"/>
            </a:avLst>
          </a:prstGeom>
          <a:solidFill>
            <a:srgbClr val="EDEAF3"/>
          </a:solidFill>
          <a:ln w="0">
            <a:noFill/>
          </a:ln>
        </p:spPr>
        <p:txBody>
          <a:bodyPr/>
          <a:lstStyle/>
          <a:p>
            <a:endParaRPr/>
          </a:p>
        </p:txBody>
      </p:sp>
      <p:sp>
        <p:nvSpPr>
          <p:cNvPr id="101" name="PurposeLabel"/>
          <p:cNvSpPr/>
          <p:nvPr/>
        </p:nvSpPr>
        <p:spPr>
          <a:xfrm>
            <a:off x="609600" y="1105000"/>
            <a:ext cx="7924800" cy="228600"/>
          </a:xfrm>
          <a:prstGeom prst="rect">
            <a:avLst/>
          </a:prstGeom>
          <a:noFill/>
          <a:ln w="0">
            <a:noFill/>
          </a:ln>
        </p:spPr>
        <p:txBody>
          <a:bodyPr lIns="0" tIns="0" rIns="0" bIns="0" anchor="t"/>
          <a:lstStyle/>
          <a:p>
            <a:pPr algn="l"/>
            <a:r>
              <a:rPr lang="en-US" sz="1800" b="1">
                <a:solidFill>
                  <a:srgbClr val="8064A2"/>
                </a:solidFill>
              </a:rPr>
              <a:t>PURPOSE</a:t>
            </a:r>
          </a:p>
        </p:txBody>
      </p:sp>
      <p:sp>
        <p:nvSpPr>
          <p:cNvPr id="102" name="PurposeText"/>
          <p:cNvSpPr/>
          <p:nvPr/>
        </p:nvSpPr>
        <p:spPr>
          <a:xfrm>
            <a:off x="609600" y="1333500"/>
            <a:ext cx="7924800" cy="304800"/>
          </a:xfrm>
          <a:prstGeom prst="rect">
            <a:avLst/>
          </a:prstGeom>
          <a:noFill/>
          <a:ln w="0">
            <a:noFill/>
          </a:ln>
        </p:spPr>
        <p:txBody>
          <a:bodyPr lIns="0" tIns="0" rIns="0" bIns="0" anchor="t"/>
          <a:lstStyle/>
          <a:p>
            <a:pPr algn="l"/>
            <a:r>
              <a:rPr lang="en-US" sz="1900" b="1">
                <a:solidFill>
                  <a:srgbClr val="333333"/>
                </a:solidFill>
              </a:rPr>
              <a:t>More advanced traits and regional adaptation</a:t>
            </a:r>
          </a:p>
        </p:txBody>
      </p:sp>
      <p:sp>
        <p:nvSpPr>
          <p:cNvPr id="110" name="ScaleCard"/>
          <p:cNvSpPr/>
          <p:nvPr/>
        </p:nvSpPr>
        <p:spPr>
          <a:xfrm>
            <a:off x="457200" y="1828800"/>
            <a:ext cx="8229600" cy="2438400"/>
          </a:xfrm>
          <a:prstGeom prst="roundRect">
            <a:avLst>
              <a:gd name="adj" fmla="val 3000"/>
            </a:avLst>
          </a:prstGeom>
          <a:solidFill>
            <a:srgbClr val="F5F5F5"/>
          </a:solidFill>
          <a:ln w="0">
            <a:noFill/>
          </a:ln>
        </p:spPr>
        <p:txBody>
          <a:bodyPr/>
          <a:lstStyle/>
          <a:p>
            <a:endParaRPr/>
          </a:p>
        </p:txBody>
      </p:sp>
      <p:sp>
        <p:nvSpPr>
          <p:cNvPr id="111" name="ScaleLabel"/>
          <p:cNvSpPr/>
          <p:nvPr/>
        </p:nvSpPr>
        <p:spPr>
          <a:xfrm>
            <a:off x="609600" y="1905000"/>
            <a:ext cx="7924800" cy="342900"/>
          </a:xfrm>
          <a:prstGeom prst="rect">
            <a:avLst/>
          </a:prstGeom>
          <a:noFill/>
          <a:ln w="0">
            <a:noFill/>
          </a:ln>
        </p:spPr>
        <p:txBody>
          <a:bodyPr lIns="0" tIns="0" rIns="0" bIns="0" anchor="t"/>
          <a:lstStyle/>
          <a:p>
            <a:pPr algn="l"/>
            <a:r>
              <a:rPr lang="en-US" sz="1800" b="1" dirty="0">
                <a:solidFill>
                  <a:srgbClr val="1F497D"/>
                </a:solidFill>
              </a:rPr>
              <a:t>SCALE</a:t>
            </a:r>
          </a:p>
        </p:txBody>
      </p:sp>
      <p:sp>
        <p:nvSpPr>
          <p:cNvPr id="112" name="ScaleContent"/>
          <p:cNvSpPr/>
          <p:nvPr/>
        </p:nvSpPr>
        <p:spPr>
          <a:xfrm>
            <a:off x="609600" y="2286000"/>
            <a:ext cx="7924800" cy="1828800"/>
          </a:xfrm>
          <a:prstGeom prst="rect">
            <a:avLst/>
          </a:prstGeom>
          <a:noFill/>
          <a:ln w="0">
            <a:noFill/>
          </a:ln>
        </p:spPr>
        <p:txBody>
          <a:bodyPr lIns="0" tIns="0" rIns="0" bIns="0" anchor="t"/>
          <a:lstStyle/>
          <a:p>
            <a:pPr algn="l">
              <a:lnSpc>
                <a:spcPts val="3400"/>
              </a:lnSpc>
              <a:buChar char="•"/>
            </a:pPr>
            <a:r>
              <a:rPr lang="en-US" sz="1900">
                <a:solidFill>
                  <a:srgbClr val="333333"/>
                </a:solidFill>
              </a:rPr>
              <a:t>Fewer hybrids: 100–300</a:t>
            </a:r>
          </a:p>
          <a:p>
            <a:pPr algn="l">
              <a:lnSpc>
                <a:spcPts val="3400"/>
              </a:lnSpc>
              <a:buChar char="•"/>
            </a:pPr>
            <a:r>
              <a:rPr lang="en-US" sz="1900">
                <a:solidFill>
                  <a:srgbClr val="333333"/>
                </a:solidFill>
              </a:rPr>
              <a:t>More locations: 8–15</a:t>
            </a:r>
          </a:p>
          <a:p>
            <a:pPr algn="l">
              <a:lnSpc>
                <a:spcPts val="3400"/>
              </a:lnSpc>
              <a:buChar char="•"/>
            </a:pPr>
            <a:r>
              <a:rPr lang="en-US" sz="1900">
                <a:solidFill>
                  <a:srgbClr val="333333"/>
                </a:solidFill>
              </a:rPr>
              <a:t>Better replication: 3–4 reps</a:t>
            </a:r>
          </a:p>
          <a:p>
            <a:pPr algn="l">
              <a:lnSpc>
                <a:spcPts val="3400"/>
              </a:lnSpc>
              <a:buChar char="•"/>
            </a:pPr>
            <a:r>
              <a:rPr lang="en-US" sz="1900">
                <a:solidFill>
                  <a:srgbClr val="333333"/>
                </a:solidFill>
              </a:rPr>
              <a:t>Multiple years ideally (at least 1 full year)</a:t>
            </a:r>
          </a:p>
        </p:txBody>
      </p:sp>
      <p:sp>
        <p:nvSpPr>
          <p:cNvPr id="120" name="FactsCard"/>
          <p:cNvSpPr/>
          <p:nvPr/>
        </p:nvSpPr>
        <p:spPr>
          <a:xfrm>
            <a:off x="457200" y="4419600"/>
            <a:ext cx="8229600" cy="1828800"/>
          </a:xfrm>
          <a:prstGeom prst="roundRect">
            <a:avLst>
              <a:gd name="adj" fmla="val 3000"/>
            </a:avLst>
          </a:prstGeom>
          <a:solidFill>
            <a:srgbClr val="FDF2E9"/>
          </a:solidFill>
          <a:ln w="0">
            <a:noFill/>
          </a:ln>
        </p:spPr>
        <p:txBody>
          <a:bodyPr/>
          <a:lstStyle/>
          <a:p>
            <a:endParaRPr/>
          </a:p>
        </p:txBody>
      </p:sp>
      <p:sp>
        <p:nvSpPr>
          <p:cNvPr id="121" name="FactsLabel"/>
          <p:cNvSpPr/>
          <p:nvPr/>
        </p:nvSpPr>
        <p:spPr>
          <a:xfrm>
            <a:off x="609600" y="4495800"/>
            <a:ext cx="7924800" cy="342900"/>
          </a:xfrm>
          <a:prstGeom prst="rect">
            <a:avLst/>
          </a:prstGeom>
          <a:noFill/>
          <a:ln w="0">
            <a:noFill/>
          </a:ln>
        </p:spPr>
        <p:txBody>
          <a:bodyPr lIns="0" tIns="0" rIns="0" bIns="0" anchor="t"/>
          <a:lstStyle/>
          <a:p>
            <a:pPr algn="l"/>
            <a:r>
              <a:rPr lang="en-US" sz="1800" b="1" dirty="0">
                <a:solidFill>
                  <a:srgbClr val="F79646"/>
                </a:solidFill>
              </a:rPr>
              <a:t>KEY FACTS</a:t>
            </a:r>
          </a:p>
        </p:txBody>
      </p:sp>
      <p:sp>
        <p:nvSpPr>
          <p:cNvPr id="122" name="FactsContent"/>
          <p:cNvSpPr/>
          <p:nvPr/>
        </p:nvSpPr>
        <p:spPr>
          <a:xfrm>
            <a:off x="609600" y="4876800"/>
            <a:ext cx="7924800" cy="1219200"/>
          </a:xfrm>
          <a:prstGeom prst="rect">
            <a:avLst/>
          </a:prstGeom>
          <a:noFill/>
          <a:ln w="0">
            <a:noFill/>
          </a:ln>
        </p:spPr>
        <p:txBody>
          <a:bodyPr lIns="0" tIns="0" rIns="0" bIns="0" anchor="t"/>
          <a:lstStyle/>
          <a:p>
            <a:pPr algn="l">
              <a:lnSpc>
                <a:spcPts val="3400"/>
              </a:lnSpc>
              <a:buChar char="•"/>
            </a:pPr>
            <a:r>
              <a:rPr lang="en-US" sz="1900" b="1">
                <a:solidFill>
                  <a:srgbClr val="1F497D"/>
                </a:solidFill>
              </a:rPr>
              <a:t>Selection: </a:t>
            </a:r>
            <a:r>
              <a:rPr lang="en-US" sz="1900">
                <a:solidFill>
                  <a:srgbClr val="333333"/>
                </a:solidFill>
              </a:rPr>
              <a:t>Keep top 20–30%</a:t>
            </a:r>
          </a:p>
          <a:p>
            <a:pPr algn="l">
              <a:lnSpc>
                <a:spcPts val="3400"/>
              </a:lnSpc>
              <a:buChar char="•"/>
            </a:pPr>
            <a:r>
              <a:rPr lang="en-US" sz="1900" b="1">
                <a:solidFill>
                  <a:srgbClr val="1F497D"/>
                </a:solidFill>
              </a:rPr>
              <a:t>Cost: </a:t>
            </a:r>
            <a:r>
              <a:rPr lang="en-US" sz="1900">
                <a:solidFill>
                  <a:srgbClr val="333333"/>
                </a:solidFill>
              </a:rPr>
              <a:t>~$180/hybrid/location</a:t>
            </a:r>
          </a:p>
          <a:p>
            <a:pPr algn="l">
              <a:lnSpc>
                <a:spcPts val="3400"/>
              </a:lnSpc>
              <a:buChar char="•"/>
            </a:pPr>
            <a:r>
              <a:rPr lang="en-US" sz="1900" b="1">
                <a:solidFill>
                  <a:srgbClr val="1F497D"/>
                </a:solidFill>
              </a:rPr>
              <a:t>Example: </a:t>
            </a:r>
            <a:r>
              <a:rPr lang="en-US" sz="1900">
                <a:solidFill>
                  <a:srgbClr val="333333"/>
                </a:solidFill>
              </a:rPr>
              <a:t>200 hybrids × 12 locations = $432,000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lstStyle/>
          <a:p>
            <a:pPr algn="l"/>
            <a:r>
              <a:rPr lang="en-US" sz="3200" b="1" dirty="0">
                <a:solidFill>
                  <a:srgbClr val="1F497D"/>
                </a:solidFill>
              </a:rPr>
              <a:t>Stage 3: Elite/Regional Trials</a:t>
            </a:r>
          </a:p>
        </p:txBody>
      </p:sp>
      <p:sp>
        <p:nvSpPr>
          <p:cNvPr id="100" name="PurposeCard"/>
          <p:cNvSpPr/>
          <p:nvPr/>
        </p:nvSpPr>
        <p:spPr>
          <a:xfrm>
            <a:off x="457200" y="1066800"/>
            <a:ext cx="8229600" cy="609600"/>
          </a:xfrm>
          <a:prstGeom prst="roundRect">
            <a:avLst>
              <a:gd name="adj" fmla="val 3000"/>
            </a:avLst>
          </a:prstGeom>
          <a:solidFill>
            <a:srgbClr val="EDEAF3"/>
          </a:solidFill>
          <a:ln w="0">
            <a:noFill/>
          </a:ln>
        </p:spPr>
        <p:txBody>
          <a:bodyPr/>
          <a:lstStyle/>
          <a:p>
            <a:endParaRPr/>
          </a:p>
        </p:txBody>
      </p:sp>
      <p:sp>
        <p:nvSpPr>
          <p:cNvPr id="101" name="PurposeLabel"/>
          <p:cNvSpPr/>
          <p:nvPr/>
        </p:nvSpPr>
        <p:spPr>
          <a:xfrm>
            <a:off x="609600" y="1105000"/>
            <a:ext cx="7924800" cy="228600"/>
          </a:xfrm>
          <a:prstGeom prst="rect">
            <a:avLst/>
          </a:prstGeom>
          <a:noFill/>
          <a:ln w="0">
            <a:noFill/>
          </a:ln>
        </p:spPr>
        <p:txBody>
          <a:bodyPr lIns="0" tIns="0" rIns="0" bIns="0" anchor="t"/>
          <a:lstStyle/>
          <a:p>
            <a:pPr algn="l"/>
            <a:r>
              <a:rPr lang="en-US" sz="1800" b="1">
                <a:solidFill>
                  <a:srgbClr val="8064A2"/>
                </a:solidFill>
              </a:rPr>
              <a:t>PURPOSE</a:t>
            </a:r>
          </a:p>
        </p:txBody>
      </p:sp>
      <p:sp>
        <p:nvSpPr>
          <p:cNvPr id="102" name="PurposeText"/>
          <p:cNvSpPr/>
          <p:nvPr/>
        </p:nvSpPr>
        <p:spPr>
          <a:xfrm>
            <a:off x="609600" y="1333500"/>
            <a:ext cx="7924800" cy="304800"/>
          </a:xfrm>
          <a:prstGeom prst="rect">
            <a:avLst/>
          </a:prstGeom>
          <a:noFill/>
          <a:ln w="0">
            <a:noFill/>
          </a:ln>
        </p:spPr>
        <p:txBody>
          <a:bodyPr lIns="0" tIns="0" rIns="0" bIns="0" anchor="t"/>
          <a:lstStyle/>
          <a:p>
            <a:pPr algn="l"/>
            <a:r>
              <a:rPr lang="en-US" sz="1900" b="1">
                <a:solidFill>
                  <a:srgbClr val="333333"/>
                </a:solidFill>
              </a:rPr>
              <a:t>Final commercial decision</a:t>
            </a:r>
          </a:p>
        </p:txBody>
      </p:sp>
      <p:sp>
        <p:nvSpPr>
          <p:cNvPr id="110" name="ScaleCard"/>
          <p:cNvSpPr/>
          <p:nvPr/>
        </p:nvSpPr>
        <p:spPr>
          <a:xfrm>
            <a:off x="457200" y="1828800"/>
            <a:ext cx="8229600" cy="2743200"/>
          </a:xfrm>
          <a:prstGeom prst="roundRect">
            <a:avLst>
              <a:gd name="adj" fmla="val 3000"/>
            </a:avLst>
          </a:prstGeom>
          <a:solidFill>
            <a:srgbClr val="F5F5F5"/>
          </a:solidFill>
          <a:ln w="0">
            <a:noFill/>
          </a:ln>
        </p:spPr>
        <p:txBody>
          <a:bodyPr/>
          <a:lstStyle/>
          <a:p>
            <a:endParaRPr/>
          </a:p>
        </p:txBody>
      </p:sp>
      <p:sp>
        <p:nvSpPr>
          <p:cNvPr id="111" name="ScaleLabel"/>
          <p:cNvSpPr/>
          <p:nvPr/>
        </p:nvSpPr>
        <p:spPr>
          <a:xfrm>
            <a:off x="609600" y="1905000"/>
            <a:ext cx="7924800" cy="342900"/>
          </a:xfrm>
          <a:prstGeom prst="rect">
            <a:avLst/>
          </a:prstGeom>
          <a:noFill/>
          <a:ln w="0">
            <a:noFill/>
          </a:ln>
        </p:spPr>
        <p:txBody>
          <a:bodyPr lIns="0" tIns="0" rIns="0" bIns="0" anchor="t"/>
          <a:lstStyle/>
          <a:p>
            <a:pPr algn="l"/>
            <a:r>
              <a:rPr lang="en-US" sz="1800" b="1" dirty="0">
                <a:solidFill>
                  <a:srgbClr val="1F497D"/>
                </a:solidFill>
              </a:rPr>
              <a:t>SCALE</a:t>
            </a:r>
          </a:p>
        </p:txBody>
      </p:sp>
      <p:sp>
        <p:nvSpPr>
          <p:cNvPr id="112" name="ScaleContent"/>
          <p:cNvSpPr/>
          <p:nvPr/>
        </p:nvSpPr>
        <p:spPr>
          <a:xfrm>
            <a:off x="609600" y="2286000"/>
            <a:ext cx="7924800" cy="2133600"/>
          </a:xfrm>
          <a:prstGeom prst="rect">
            <a:avLst/>
          </a:prstGeom>
          <a:noFill/>
          <a:ln w="0">
            <a:noFill/>
          </a:ln>
        </p:spPr>
        <p:txBody>
          <a:bodyPr lIns="0" tIns="0" rIns="0" bIns="0" anchor="t"/>
          <a:lstStyle/>
          <a:p>
            <a:pPr algn="l">
              <a:lnSpc>
                <a:spcPts val="3400"/>
              </a:lnSpc>
              <a:buChar char="•"/>
            </a:pPr>
            <a:r>
              <a:rPr lang="en-US" sz="1900">
                <a:solidFill>
                  <a:srgbClr val="333333"/>
                </a:solidFill>
              </a:rPr>
              <a:t>Top candidates: 20–50 hybrids</a:t>
            </a:r>
          </a:p>
          <a:p>
            <a:pPr algn="l">
              <a:lnSpc>
                <a:spcPts val="3400"/>
              </a:lnSpc>
              <a:buChar char="•"/>
            </a:pPr>
            <a:r>
              <a:rPr lang="en-US" sz="1900">
                <a:solidFill>
                  <a:srgbClr val="333333"/>
                </a:solidFill>
              </a:rPr>
              <a:t>Many locations: 15–50+</a:t>
            </a:r>
          </a:p>
          <a:p>
            <a:pPr algn="l">
              <a:lnSpc>
                <a:spcPts val="3400"/>
              </a:lnSpc>
              <a:buChar char="•"/>
            </a:pPr>
            <a:r>
              <a:rPr lang="en-US" sz="1900">
                <a:solidFill>
                  <a:srgbClr val="333333"/>
                </a:solidFill>
              </a:rPr>
              <a:t>Proper replication: 4+ reps</a:t>
            </a:r>
          </a:p>
          <a:p>
            <a:pPr algn="l">
              <a:lnSpc>
                <a:spcPts val="3400"/>
              </a:lnSpc>
              <a:buChar char="•"/>
            </a:pPr>
            <a:r>
              <a:rPr lang="en-US" sz="1900">
                <a:solidFill>
                  <a:srgbClr val="333333"/>
                </a:solidFill>
              </a:rPr>
              <a:t>Multiple years REQUIRED: 2–3 years</a:t>
            </a:r>
          </a:p>
          <a:p>
            <a:pPr algn="l">
              <a:lnSpc>
                <a:spcPts val="3400"/>
              </a:lnSpc>
              <a:buChar char="•"/>
            </a:pPr>
            <a:r>
              <a:rPr lang="en-US" sz="1900">
                <a:solidFill>
                  <a:srgbClr val="333333"/>
                </a:solidFill>
              </a:rPr>
              <a:t>Additional stress/disease nurseries</a:t>
            </a:r>
          </a:p>
        </p:txBody>
      </p:sp>
      <p:sp>
        <p:nvSpPr>
          <p:cNvPr id="120" name="FactsCard"/>
          <p:cNvSpPr/>
          <p:nvPr/>
        </p:nvSpPr>
        <p:spPr>
          <a:xfrm>
            <a:off x="457200" y="4724400"/>
            <a:ext cx="8229600" cy="1676400"/>
          </a:xfrm>
          <a:prstGeom prst="roundRect">
            <a:avLst>
              <a:gd name="adj" fmla="val 3000"/>
            </a:avLst>
          </a:prstGeom>
          <a:solidFill>
            <a:srgbClr val="FDF2E9"/>
          </a:solidFill>
          <a:ln w="0">
            <a:noFill/>
          </a:ln>
        </p:spPr>
        <p:txBody>
          <a:bodyPr/>
          <a:lstStyle/>
          <a:p>
            <a:endParaRPr/>
          </a:p>
        </p:txBody>
      </p:sp>
      <p:sp>
        <p:nvSpPr>
          <p:cNvPr id="121" name="FactsLabel"/>
          <p:cNvSpPr/>
          <p:nvPr/>
        </p:nvSpPr>
        <p:spPr>
          <a:xfrm>
            <a:off x="609600" y="4800600"/>
            <a:ext cx="7924800" cy="342900"/>
          </a:xfrm>
          <a:prstGeom prst="rect">
            <a:avLst/>
          </a:prstGeom>
          <a:noFill/>
          <a:ln w="0">
            <a:noFill/>
          </a:ln>
        </p:spPr>
        <p:txBody>
          <a:bodyPr lIns="0" tIns="0" rIns="0" bIns="0" anchor="t"/>
          <a:lstStyle/>
          <a:p>
            <a:pPr algn="l"/>
            <a:r>
              <a:rPr lang="en-US" sz="1800" b="1" dirty="0">
                <a:solidFill>
                  <a:srgbClr val="F79646"/>
                </a:solidFill>
              </a:rPr>
              <a:t>KEY FACTS</a:t>
            </a:r>
          </a:p>
        </p:txBody>
      </p:sp>
      <p:sp>
        <p:nvSpPr>
          <p:cNvPr id="122" name="FactsContent"/>
          <p:cNvSpPr/>
          <p:nvPr/>
        </p:nvSpPr>
        <p:spPr>
          <a:xfrm>
            <a:off x="609600" y="5181600"/>
            <a:ext cx="7924800" cy="1066800"/>
          </a:xfrm>
          <a:prstGeom prst="rect">
            <a:avLst/>
          </a:prstGeom>
          <a:noFill/>
          <a:ln w="0">
            <a:noFill/>
          </a:ln>
        </p:spPr>
        <p:txBody>
          <a:bodyPr lIns="0" tIns="0" rIns="0" bIns="0" anchor="t"/>
          <a:lstStyle/>
          <a:p>
            <a:pPr algn="l">
              <a:lnSpc>
                <a:spcPts val="3400"/>
              </a:lnSpc>
              <a:buChar char="•"/>
            </a:pPr>
            <a:r>
              <a:rPr lang="en-US" sz="1900" b="1">
                <a:solidFill>
                  <a:srgbClr val="1F497D"/>
                </a:solidFill>
              </a:rPr>
              <a:t>Selection: </a:t>
            </a:r>
            <a:r>
              <a:rPr lang="en-US" sz="1900">
                <a:solidFill>
                  <a:srgbClr val="333333"/>
                </a:solidFill>
              </a:rPr>
              <a:t>Keep top 5 hybrids</a:t>
            </a:r>
          </a:p>
          <a:p>
            <a:pPr algn="l">
              <a:lnSpc>
                <a:spcPts val="3400"/>
              </a:lnSpc>
              <a:buChar char="•"/>
            </a:pPr>
            <a:r>
              <a:rPr lang="en-US" sz="1900" b="1">
                <a:solidFill>
                  <a:srgbClr val="1F497D"/>
                </a:solidFill>
              </a:rPr>
              <a:t>Cost: </a:t>
            </a:r>
            <a:r>
              <a:rPr lang="en-US" sz="1900">
                <a:solidFill>
                  <a:srgbClr val="333333"/>
                </a:solidFill>
              </a:rPr>
              <a:t>~$220/hybrid/location</a:t>
            </a:r>
          </a:p>
          <a:p>
            <a:pPr algn="l">
              <a:lnSpc>
                <a:spcPts val="3400"/>
              </a:lnSpc>
              <a:buChar char="•"/>
            </a:pPr>
            <a:r>
              <a:rPr lang="en-US" sz="1900" b="1">
                <a:solidFill>
                  <a:srgbClr val="1F497D"/>
                </a:solidFill>
              </a:rPr>
              <a:t>Example: </a:t>
            </a:r>
            <a:r>
              <a:rPr lang="en-US" sz="1900">
                <a:solidFill>
                  <a:srgbClr val="333333"/>
                </a:solidFill>
              </a:rPr>
              <a:t>200 hybrids × 12 locations = $432,000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chor="ctr"/>
          <a:lstStyle/>
          <a:p>
            <a:pPr algn="l"/>
            <a:r>
              <a:rPr lang="en-US" sz="3200" b="1" dirty="0">
                <a:solidFill>
                  <a:srgbClr val="1F497D"/>
                </a:solidFill>
              </a:rPr>
              <a:t>Advances in Genomic Prediction</a:t>
            </a:r>
          </a:p>
        </p:txBody>
      </p:sp>
      <p:sp>
        <p:nvSpPr>
          <p:cNvPr id="100" name="TradCard"/>
          <p:cNvSpPr/>
          <p:nvPr/>
        </p:nvSpPr>
        <p:spPr>
          <a:xfrm>
            <a:off x="457200" y="1066800"/>
            <a:ext cx="4038600" cy="5334000"/>
          </a:xfrm>
          <a:prstGeom prst="roundRect">
            <a:avLst>
              <a:gd name="adj" fmla="val 3000"/>
            </a:avLst>
          </a:prstGeom>
          <a:solidFill>
            <a:srgbClr val="F5F5F5"/>
          </a:solidFill>
          <a:ln w="0">
            <a:noFill/>
          </a:ln>
        </p:spPr>
        <p:txBody>
          <a:bodyPr/>
          <a:lstStyle/>
          <a:p>
            <a:endParaRPr/>
          </a:p>
        </p:txBody>
      </p:sp>
      <p:sp>
        <p:nvSpPr>
          <p:cNvPr id="101" name="TradLabel"/>
          <p:cNvSpPr/>
          <p:nvPr/>
        </p:nvSpPr>
        <p:spPr>
          <a:xfrm>
            <a:off x="609600" y="1143000"/>
            <a:ext cx="3733800" cy="342900"/>
          </a:xfrm>
          <a:prstGeom prst="rect">
            <a:avLst/>
          </a:prstGeom>
          <a:noFill/>
          <a:ln w="0">
            <a:noFill/>
          </a:ln>
        </p:spPr>
        <p:txBody>
          <a:bodyPr lIns="0" tIns="0" rIns="0" bIns="0" anchor="t"/>
          <a:lstStyle/>
          <a:p>
            <a:pPr algn="l"/>
            <a:r>
              <a:rPr lang="en-US" sz="2000" b="1">
                <a:solidFill>
                  <a:srgbClr val="1F497D"/>
                </a:solidFill>
              </a:rPr>
              <a:t>TRADITIONAL APPROACH</a:t>
            </a:r>
          </a:p>
        </p:txBody>
      </p:sp>
      <p:sp>
        <p:nvSpPr>
          <p:cNvPr id="102" name="TradContent"/>
          <p:cNvSpPr/>
          <p:nvPr/>
        </p:nvSpPr>
        <p:spPr>
          <a:xfrm>
            <a:off x="609600" y="1524000"/>
            <a:ext cx="3733800" cy="4724400"/>
          </a:xfrm>
          <a:prstGeom prst="rect">
            <a:avLst/>
          </a:prstGeom>
          <a:noFill/>
          <a:ln w="0">
            <a:noFill/>
          </a:ln>
        </p:spPr>
        <p:txBody>
          <a:bodyPr lIns="0" tIns="0" rIns="0" bIns="0" anchor="t"/>
          <a:lstStyle/>
          <a:p>
            <a:pPr algn="l">
              <a:lnSpc>
                <a:spcPts val="3600"/>
              </a:lnSpc>
              <a:buChar char="•"/>
            </a:pPr>
            <a:r>
              <a:rPr lang="en-US" sz="2000">
                <a:solidFill>
                  <a:srgbClr val="333333"/>
                </a:solidFill>
              </a:rPr>
              <a:t>Test all crosses in PYT</a:t>
            </a:r>
          </a:p>
          <a:p>
            <a:pPr algn="l">
              <a:lnSpc>
                <a:spcPts val="3600"/>
              </a:lnSpc>
              <a:buChar char="•"/>
            </a:pPr>
            <a:r>
              <a:rPr lang="en-US" sz="2000">
                <a:solidFill>
                  <a:srgbClr val="333333"/>
                </a:solidFill>
              </a:rPr>
              <a:t>Advance best to AYT</a:t>
            </a:r>
          </a:p>
          <a:p>
            <a:pPr algn="l">
              <a:lnSpc>
                <a:spcPts val="3600"/>
              </a:lnSpc>
            </a:pPr>
            <a:endParaRPr lang="en-US" sz="1200"/>
          </a:p>
          <a:p>
            <a:pPr algn="l">
              <a:lnSpc>
                <a:spcPts val="3600"/>
              </a:lnSpc>
            </a:pPr>
            <a:r>
              <a:rPr lang="en-US" sz="2000" b="1">
                <a:solidFill>
                  <a:srgbClr val="4BACC6"/>
                </a:solidFill>
              </a:rPr>
              <a:t>Pros:</a:t>
            </a:r>
          </a:p>
          <a:p>
            <a:pPr algn="l">
              <a:lnSpc>
                <a:spcPts val="3600"/>
              </a:lnSpc>
              <a:buChar char="•"/>
            </a:pPr>
            <a:r>
              <a:rPr lang="en-US" sz="2000">
                <a:solidFill>
                  <a:srgbClr val="333333"/>
                </a:solidFill>
              </a:rPr>
              <a:t>Real field data on all candidates</a:t>
            </a:r>
          </a:p>
          <a:p>
            <a:pPr algn="l">
              <a:lnSpc>
                <a:spcPts val="3600"/>
              </a:lnSpc>
            </a:pPr>
            <a:endParaRPr lang="en-US" sz="1200"/>
          </a:p>
          <a:p>
            <a:pPr algn="l">
              <a:lnSpc>
                <a:spcPts val="3600"/>
              </a:lnSpc>
            </a:pPr>
            <a:r>
              <a:rPr lang="en-US" sz="2000" b="1">
                <a:solidFill>
                  <a:srgbClr val="C0504D"/>
                </a:solidFill>
              </a:rPr>
              <a:t>Cons:</a:t>
            </a:r>
          </a:p>
          <a:p>
            <a:pPr algn="l">
              <a:lnSpc>
                <a:spcPts val="3600"/>
              </a:lnSpc>
              <a:buChar char="•"/>
            </a:pPr>
            <a:r>
              <a:rPr lang="en-US" sz="2000">
                <a:solidFill>
                  <a:srgbClr val="333333"/>
                </a:solidFill>
              </a:rPr>
              <a:t>Expensive: $500K–1M</a:t>
            </a:r>
          </a:p>
          <a:p>
            <a:pPr algn="l">
              <a:lnSpc>
                <a:spcPts val="3600"/>
              </a:lnSpc>
              <a:buChar char="•"/>
            </a:pPr>
            <a:r>
              <a:rPr lang="en-US" sz="2000">
                <a:solidFill>
                  <a:srgbClr val="333333"/>
                </a:solidFill>
              </a:rPr>
              <a:t>Slow: +1 year to pipeline</a:t>
            </a:r>
          </a:p>
        </p:txBody>
      </p:sp>
      <p:sp>
        <p:nvSpPr>
          <p:cNvPr id="110" name="ModernCard"/>
          <p:cNvSpPr/>
          <p:nvPr/>
        </p:nvSpPr>
        <p:spPr>
          <a:xfrm>
            <a:off x="4648200" y="1066800"/>
            <a:ext cx="4038600" cy="5334000"/>
          </a:xfrm>
          <a:prstGeom prst="roundRect">
            <a:avLst>
              <a:gd name="adj" fmla="val 3000"/>
            </a:avLst>
          </a:prstGeom>
          <a:solidFill>
            <a:srgbClr val="D9EDF7"/>
          </a:solidFill>
          <a:ln w="0">
            <a:noFill/>
          </a:ln>
        </p:spPr>
        <p:txBody>
          <a:bodyPr/>
          <a:lstStyle/>
          <a:p>
            <a:endParaRPr/>
          </a:p>
        </p:txBody>
      </p:sp>
      <p:sp>
        <p:nvSpPr>
          <p:cNvPr id="111" name="ModernLabel"/>
          <p:cNvSpPr/>
          <p:nvPr/>
        </p:nvSpPr>
        <p:spPr>
          <a:xfrm>
            <a:off x="4800600" y="1143000"/>
            <a:ext cx="3733800" cy="342900"/>
          </a:xfrm>
          <a:prstGeom prst="rect">
            <a:avLst/>
          </a:prstGeom>
          <a:noFill/>
          <a:ln w="0">
            <a:noFill/>
          </a:ln>
        </p:spPr>
        <p:txBody>
          <a:bodyPr lIns="0" tIns="0" rIns="0" bIns="0" anchor="t"/>
          <a:lstStyle/>
          <a:p>
            <a:pPr algn="l"/>
            <a:r>
              <a:rPr lang="en-US" sz="2200" b="1" dirty="0">
                <a:solidFill>
                  <a:srgbClr val="1F497D"/>
                </a:solidFill>
              </a:rPr>
              <a:t>MODERN ALTERNATIVE</a:t>
            </a:r>
          </a:p>
        </p:txBody>
      </p:sp>
      <p:sp>
        <p:nvSpPr>
          <p:cNvPr id="112" name="ModernContent"/>
          <p:cNvSpPr/>
          <p:nvPr/>
        </p:nvSpPr>
        <p:spPr>
          <a:xfrm>
            <a:off x="4800600" y="1524000"/>
            <a:ext cx="3733800" cy="4724400"/>
          </a:xfrm>
          <a:prstGeom prst="rect">
            <a:avLst/>
          </a:prstGeom>
          <a:noFill/>
          <a:ln w="0">
            <a:noFill/>
          </a:ln>
        </p:spPr>
        <p:txBody>
          <a:bodyPr lIns="0" tIns="0" rIns="0" bIns="0" anchor="t"/>
          <a:lstStyle/>
          <a:p>
            <a:pPr algn="l">
              <a:lnSpc>
                <a:spcPts val="3600"/>
              </a:lnSpc>
              <a:buChar char="•"/>
            </a:pPr>
            <a:r>
              <a:rPr lang="en-US" sz="2000">
                <a:solidFill>
                  <a:srgbClr val="333333"/>
                </a:solidFill>
              </a:rPr>
              <a:t>Predict from GCA + genomic data</a:t>
            </a:r>
          </a:p>
          <a:p>
            <a:pPr algn="l">
              <a:lnSpc>
                <a:spcPts val="3600"/>
              </a:lnSpc>
              <a:buChar char="•"/>
            </a:pPr>
            <a:r>
              <a:rPr lang="en-US" sz="2000">
                <a:solidFill>
                  <a:srgbClr val="333333"/>
                </a:solidFill>
              </a:rPr>
              <a:t>Skip straight to AYT</a:t>
            </a:r>
          </a:p>
          <a:p>
            <a:pPr algn="l">
              <a:lnSpc>
                <a:spcPts val="3600"/>
              </a:lnSpc>
            </a:pPr>
            <a:endParaRPr lang="en-US" sz="1200"/>
          </a:p>
          <a:p>
            <a:pPr algn="l">
              <a:lnSpc>
                <a:spcPts val="3600"/>
              </a:lnSpc>
            </a:pPr>
            <a:r>
              <a:rPr lang="en-US" sz="2000" b="1">
                <a:solidFill>
                  <a:srgbClr val="4BACC6"/>
                </a:solidFill>
              </a:rPr>
              <a:t>Pros:</a:t>
            </a:r>
          </a:p>
          <a:p>
            <a:pPr algn="l">
              <a:lnSpc>
                <a:spcPts val="3600"/>
              </a:lnSpc>
              <a:buChar char="•"/>
            </a:pPr>
            <a:r>
              <a:rPr lang="en-US" sz="2000">
                <a:solidFill>
                  <a:srgbClr val="333333"/>
                </a:solidFill>
              </a:rPr>
              <a:t>Save $500K+ annually</a:t>
            </a:r>
          </a:p>
          <a:p>
            <a:pPr algn="l">
              <a:lnSpc>
                <a:spcPts val="3600"/>
              </a:lnSpc>
              <a:buChar char="•"/>
            </a:pPr>
            <a:r>
              <a:rPr lang="en-US" sz="2000">
                <a:solidFill>
                  <a:srgbClr val="333333"/>
                </a:solidFill>
              </a:rPr>
              <a:t>Accelerate by 1 year</a:t>
            </a:r>
          </a:p>
          <a:p>
            <a:pPr algn="l">
              <a:lnSpc>
                <a:spcPts val="3600"/>
              </a:lnSpc>
            </a:pPr>
            <a:endParaRPr lang="en-US" sz="1200"/>
          </a:p>
          <a:p>
            <a:pPr algn="l">
              <a:lnSpc>
                <a:spcPts val="3600"/>
              </a:lnSpc>
            </a:pPr>
            <a:r>
              <a:rPr lang="en-US" sz="2000" b="1">
                <a:solidFill>
                  <a:srgbClr val="C0504D"/>
                </a:solidFill>
              </a:rPr>
              <a:t>Cons:</a:t>
            </a:r>
          </a:p>
          <a:p>
            <a:pPr algn="l">
              <a:lnSpc>
                <a:spcPts val="3600"/>
              </a:lnSpc>
              <a:buChar char="•"/>
            </a:pPr>
            <a:r>
              <a:rPr lang="en-US" sz="2000">
                <a:solidFill>
                  <a:srgbClr val="333333"/>
                </a:solidFill>
              </a:rPr>
              <a:t>Model accuracy critical</a:t>
            </a:r>
          </a:p>
          <a:p>
            <a:pPr algn="l">
              <a:lnSpc>
                <a:spcPts val="3600"/>
              </a:lnSpc>
              <a:buChar char="•"/>
            </a:pPr>
            <a:r>
              <a:rPr lang="en-US" sz="2000">
                <a:solidFill>
                  <a:srgbClr val="333333"/>
                </a:solidFill>
              </a:rPr>
              <a:t>Risk missing winners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0"/>
            <a:ext cx="1628031" cy="6858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How good does your model need to be?</a:t>
            </a:r>
            <a:br>
              <a:rPr lang="en-US" sz="3500" kern="1200">
                <a:solidFill>
                  <a:srgbClr val="FFFFFF"/>
                </a:solidFill>
                <a:latin typeface="+mj-lt"/>
                <a:ea typeface="+mj-ea"/>
                <a:cs typeface="+mj-cs"/>
              </a:rPr>
            </a:br>
            <a:endParaRPr lang="en-US" sz="3500" kern="1200">
              <a:solidFill>
                <a:srgbClr val="FFFFFF"/>
              </a:solidFill>
              <a:latin typeface="+mj-lt"/>
              <a:ea typeface="+mj-ea"/>
              <a:cs typeface="+mj-cs"/>
            </a:endParaRPr>
          </a:p>
        </p:txBody>
      </p:sp>
      <p:graphicFrame>
        <p:nvGraphicFramePr>
          <p:cNvPr id="6" name="TextBox 3">
            <a:extLst>
              <a:ext uri="{FF2B5EF4-FFF2-40B4-BE49-F238E27FC236}">
                <a16:creationId xmlns:a16="http://schemas.microsoft.com/office/drawing/2014/main" id="{7FAA2A13-4FE1-C5C6-0E77-21BB25221241}"/>
              </a:ext>
            </a:extLst>
          </p:cNvPr>
          <p:cNvGraphicFramePr/>
          <p:nvPr>
            <p:extLst>
              <p:ext uri="{D42A27DB-BD31-4B8C-83A1-F6EECF244321}">
                <p14:modId xmlns:p14="http://schemas.microsoft.com/office/powerpoint/2010/main" val="344375986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1420" y="1115122"/>
            <a:ext cx="8441157" cy="1415772"/>
          </a:xfrm>
          <a:prstGeom prst="rect">
            <a:avLst/>
          </a:prstGeom>
          <a:noFill/>
        </p:spPr>
        <p:txBody>
          <a:bodyPr wrap="none">
            <a:spAutoFit/>
          </a:bodyPr>
          <a:lstStyle/>
          <a:p>
            <a:pPr algn="ctr">
              <a:defRPr sz="4000" b="1"/>
            </a:pPr>
            <a:r>
              <a:rPr sz="4000" dirty="0"/>
              <a:t>POLL: Your GCA model is </a:t>
            </a:r>
            <a:r>
              <a:rPr lang="en-US" sz="4000" dirty="0"/>
              <a:t>3</a:t>
            </a:r>
            <a:r>
              <a:rPr sz="4000" dirty="0"/>
              <a:t>0% accurate</a:t>
            </a:r>
          </a:p>
          <a:p>
            <a:endParaRPr dirty="0"/>
          </a:p>
          <a:p>
            <a:r>
              <a:rPr sz="2800" dirty="0"/>
              <a:t>Skip PYT and go straight to AYT?</a:t>
            </a:r>
          </a:p>
        </p:txBody>
      </p:sp>
      <p:sp>
        <p:nvSpPr>
          <p:cNvPr id="4" name="TextBox 3"/>
          <p:cNvSpPr txBox="1"/>
          <p:nvPr/>
        </p:nvSpPr>
        <p:spPr>
          <a:xfrm>
            <a:off x="1828800" y="4114800"/>
            <a:ext cx="5486400" cy="1371600"/>
          </a:xfrm>
          <a:prstGeom prst="rect">
            <a:avLst/>
          </a:prstGeom>
          <a:noFill/>
        </p:spPr>
        <p:txBody>
          <a:bodyPr wrap="none">
            <a:spAutoFit/>
          </a:bodyPr>
          <a:lstStyle/>
          <a:p>
            <a:pPr algn="ctr">
              <a:defRPr sz="2400"/>
            </a:pPr>
            <a:r>
              <a:rPr dirty="0"/>
              <a:t>Show of hands:</a:t>
            </a:r>
          </a:p>
          <a:p>
            <a:pPr algn="ctr">
              <a:defRPr sz="2400"/>
            </a:pPr>
            <a:r>
              <a:rPr dirty="0"/>
              <a:t>• YES - Skip PYT</a:t>
            </a:r>
          </a:p>
          <a:p>
            <a:pPr algn="ctr">
              <a:defRPr sz="2400"/>
            </a:pPr>
            <a:r>
              <a:rPr dirty="0"/>
              <a:t>• NO - Keep PYT</a:t>
            </a:r>
          </a:p>
          <a:p>
            <a:pPr algn="ctr">
              <a:defRPr sz="2400"/>
            </a:pPr>
            <a:endParaRPr dirty="0"/>
          </a:p>
          <a:p>
            <a:pPr algn="ctr">
              <a:defRPr sz="2400"/>
            </a:pPr>
            <a:r>
              <a:rPr dirty="0"/>
              <a:t>(2-3 min 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Drives the Skip-PYT Decision?</a:t>
            </a:r>
          </a:p>
        </p:txBody>
      </p:sp>
      <p:sp>
        <p:nvSpPr>
          <p:cNvPr id="3" name="Content Placeholder 2"/>
          <p:cNvSpPr>
            <a:spLocks noGrp="1"/>
          </p:cNvSpPr>
          <p:nvPr>
            <p:ph idx="1"/>
          </p:nvPr>
        </p:nvSpPr>
        <p:spPr/>
        <p:txBody>
          <a:bodyPr>
            <a:normAutofit fontScale="92500" lnSpcReduction="20000"/>
          </a:bodyPr>
          <a:lstStyle/>
          <a:p>
            <a:endParaRPr dirty="0"/>
          </a:p>
          <a:p>
            <a:pPr marL="0" indent="0">
              <a:buNone/>
              <a:defRPr sz="2000"/>
            </a:pPr>
            <a:r>
              <a:rPr dirty="0"/>
              <a:t>Program maturity:</a:t>
            </a:r>
          </a:p>
          <a:p>
            <a:pPr marL="0" indent="0">
              <a:buNone/>
              <a:defRPr sz="2000"/>
            </a:pPr>
            <a:r>
              <a:rPr lang="en-US" dirty="0"/>
              <a:t>	</a:t>
            </a:r>
            <a:r>
              <a:rPr dirty="0"/>
              <a:t>• Established programs with good GCA data predict better</a:t>
            </a:r>
          </a:p>
          <a:p>
            <a:pPr marL="0" indent="0">
              <a:buNone/>
              <a:defRPr sz="2000"/>
            </a:pPr>
            <a:r>
              <a:rPr lang="en-US" dirty="0"/>
              <a:t>	</a:t>
            </a:r>
            <a:r>
              <a:rPr dirty="0"/>
              <a:t>• Years of testcross and hybrid trials improve models</a:t>
            </a:r>
          </a:p>
          <a:p>
            <a:pPr>
              <a:defRPr sz="2000"/>
            </a:pPr>
            <a:endParaRPr dirty="0"/>
          </a:p>
          <a:p>
            <a:pPr marL="0" indent="0">
              <a:buNone/>
              <a:defRPr sz="2000"/>
            </a:pPr>
            <a:r>
              <a:rPr dirty="0"/>
              <a:t>Genetic architecture:</a:t>
            </a:r>
          </a:p>
          <a:p>
            <a:pPr marL="0" indent="0">
              <a:buNone/>
              <a:defRPr sz="2000"/>
            </a:pPr>
            <a:r>
              <a:rPr lang="en-US" dirty="0"/>
              <a:t>	</a:t>
            </a:r>
            <a:r>
              <a:rPr dirty="0"/>
              <a:t>• Traits with high GCA component predict better</a:t>
            </a:r>
          </a:p>
          <a:p>
            <a:pPr>
              <a:defRPr sz="2000"/>
            </a:pPr>
            <a:endParaRPr dirty="0"/>
          </a:p>
          <a:p>
            <a:pPr marL="0" indent="0">
              <a:buNone/>
              <a:defRPr sz="2000"/>
            </a:pPr>
            <a:r>
              <a:rPr dirty="0"/>
              <a:t>Risk tolerance:</a:t>
            </a:r>
          </a:p>
          <a:p>
            <a:pPr marL="0" indent="0">
              <a:buNone/>
              <a:defRPr sz="2000"/>
            </a:pPr>
            <a:r>
              <a:rPr lang="en-US" dirty="0"/>
              <a:t>	</a:t>
            </a:r>
            <a:r>
              <a:rPr dirty="0"/>
              <a:t>• Can you afford to miss a potential winner?</a:t>
            </a:r>
          </a:p>
          <a:p>
            <a:pPr>
              <a:defRPr sz="2000"/>
            </a:pPr>
            <a:endParaRPr dirty="0"/>
          </a:p>
          <a:p>
            <a:pPr marL="0" indent="0">
              <a:buNone/>
              <a:defRPr sz="2000"/>
            </a:pPr>
            <a:r>
              <a:rPr dirty="0"/>
              <a:t>Budget constraints:</a:t>
            </a:r>
          </a:p>
          <a:p>
            <a:pPr marL="0" indent="0">
              <a:buNone/>
              <a:defRPr sz="2000"/>
            </a:pPr>
            <a:r>
              <a:rPr lang="en-US" dirty="0"/>
              <a:t>	</a:t>
            </a:r>
            <a:r>
              <a:rPr dirty="0"/>
              <a:t>• If testing budget is tight, prediction becomes attractive</a:t>
            </a:r>
          </a:p>
          <a:p>
            <a:pPr>
              <a:defRPr sz="2000"/>
            </a:pPr>
            <a:endParaRPr dirty="0"/>
          </a:p>
          <a:p>
            <a:pPr marL="0" indent="0">
              <a:buNone/>
              <a:defRPr sz="2000"/>
            </a:pPr>
            <a:r>
              <a:rPr dirty="0"/>
              <a:t>Industry trend: Large programs increasingly skip PYT for routine crosses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0"/>
            <a:ext cx="1628031" cy="6858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But we can't test all possible crosses...</a:t>
            </a:r>
            <a:br>
              <a:rPr lang="en-US" sz="3500" kern="1200" dirty="0">
                <a:solidFill>
                  <a:srgbClr val="FFFFFF"/>
                </a:solidFill>
                <a:latin typeface="+mj-lt"/>
                <a:ea typeface="+mj-ea"/>
                <a:cs typeface="+mj-cs"/>
              </a:rPr>
            </a:br>
            <a:endParaRPr lang="en-US" sz="3500" kern="1200" dirty="0">
              <a:solidFill>
                <a:srgbClr val="FFFFFF"/>
              </a:solidFill>
              <a:latin typeface="+mj-lt"/>
              <a:ea typeface="+mj-ea"/>
              <a:cs typeface="+mj-cs"/>
            </a:endParaRPr>
          </a:p>
        </p:txBody>
      </p:sp>
      <p:graphicFrame>
        <p:nvGraphicFramePr>
          <p:cNvPr id="5" name="TextBox 2">
            <a:extLst>
              <a:ext uri="{FF2B5EF4-FFF2-40B4-BE49-F238E27FC236}">
                <a16:creationId xmlns:a16="http://schemas.microsoft.com/office/drawing/2014/main" id="{5122DBE0-5FD6-158D-4E4D-44BD306CE743}"/>
              </a:ext>
            </a:extLst>
          </p:cNvPr>
          <p:cNvGraphicFramePr/>
          <p:nvPr>
            <p:extLst>
              <p:ext uri="{D42A27DB-BD31-4B8C-83A1-F6EECF244321}">
                <p14:modId xmlns:p14="http://schemas.microsoft.com/office/powerpoint/2010/main" val="348362907"/>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635620"/>
            <a:ext cx="8229600" cy="731520"/>
          </a:xfrm>
          <a:prstGeom prst="rect">
            <a:avLst/>
          </a:prstGeom>
          <a:noFill/>
        </p:spPr>
        <p:txBody>
          <a:bodyPr wrap="none">
            <a:spAutoFit/>
          </a:bodyPr>
          <a:lstStyle/>
          <a:p>
            <a:pPr>
              <a:defRPr sz="3200" b="1"/>
            </a:pPr>
            <a:r>
              <a:rPr dirty="0"/>
              <a:t>INTERACTIVE: GCA Prediction Exercise</a:t>
            </a:r>
          </a:p>
        </p:txBody>
      </p:sp>
      <p:graphicFrame>
        <p:nvGraphicFramePr>
          <p:cNvPr id="4" name="Table 3"/>
          <p:cNvGraphicFramePr>
            <a:graphicFrameLocks noGrp="1"/>
          </p:cNvGraphicFramePr>
          <p:nvPr/>
        </p:nvGraphicFramePr>
        <p:xfrm>
          <a:off x="914400" y="1645920"/>
          <a:ext cx="7315200" cy="4114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85800">
                <a:tc>
                  <a:txBody>
                    <a:bodyPr/>
                    <a:lstStyle/>
                    <a:p>
                      <a:pPr>
                        <a:defRPr sz="1600" b="1">
                          <a:solidFill>
                            <a:srgbClr val="FFFFFF"/>
                          </a:solidFill>
                        </a:defRPr>
                      </a:pPr>
                      <a:r>
                        <a:t>Pool A (SSS)</a:t>
                      </a:r>
                    </a:p>
                  </a:txBody>
                  <a:tcPr>
                    <a:solidFill>
                      <a:srgbClr val="003366"/>
                    </a:solidFill>
                  </a:tcPr>
                </a:tc>
                <a:tc>
                  <a:txBody>
                    <a:bodyPr/>
                    <a:lstStyle/>
                    <a:p>
                      <a:pPr>
                        <a:defRPr sz="1600" b="1">
                          <a:solidFill>
                            <a:srgbClr val="FFFFFF"/>
                          </a:solidFill>
                        </a:defRPr>
                      </a:pPr>
                      <a:r>
                        <a:t>GCA</a:t>
                      </a:r>
                    </a:p>
                  </a:txBody>
                  <a:tcPr>
                    <a:solidFill>
                      <a:srgbClr val="003366"/>
                    </a:solidFill>
                  </a:tcPr>
                </a:tc>
                <a:tc>
                  <a:txBody>
                    <a:bodyPr/>
                    <a:lstStyle/>
                    <a:p>
                      <a:pPr>
                        <a:defRPr sz="1600" b="1">
                          <a:solidFill>
                            <a:srgbClr val="FFFFFF"/>
                          </a:solidFill>
                        </a:defRPr>
                      </a:pPr>
                      <a:r>
                        <a:t>Pool B (NSS)</a:t>
                      </a:r>
                    </a:p>
                  </a:txBody>
                  <a:tcPr>
                    <a:solidFill>
                      <a:srgbClr val="003366"/>
                    </a:solidFill>
                  </a:tcPr>
                </a:tc>
                <a:tc>
                  <a:txBody>
                    <a:bodyPr/>
                    <a:lstStyle/>
                    <a:p>
                      <a:pPr>
                        <a:defRPr sz="1600" b="1">
                          <a:solidFill>
                            <a:srgbClr val="FFFFFF"/>
                          </a:solidFill>
                        </a:defRPr>
                      </a:pPr>
                      <a:r>
                        <a:t>GCA</a:t>
                      </a:r>
                    </a:p>
                  </a:txBody>
                  <a:tcPr>
                    <a:solidFill>
                      <a:srgbClr val="003366"/>
                    </a:solidFill>
                  </a:tcPr>
                </a:tc>
                <a:extLst>
                  <a:ext uri="{0D108BD9-81ED-4DB2-BD59-A6C34878D82A}">
                    <a16:rowId xmlns:a16="http://schemas.microsoft.com/office/drawing/2014/main" val="10000"/>
                  </a:ext>
                </a:extLst>
              </a:tr>
              <a:tr h="685800">
                <a:tc>
                  <a:txBody>
                    <a:bodyPr/>
                    <a:lstStyle/>
                    <a:p>
                      <a:pPr>
                        <a:defRPr sz="1400"/>
                      </a:pPr>
                      <a:r>
                        <a:t>A-104</a:t>
                      </a:r>
                    </a:p>
                  </a:txBody>
                  <a:tcPr/>
                </a:tc>
                <a:tc>
                  <a:txBody>
                    <a:bodyPr/>
                    <a:lstStyle/>
                    <a:p>
                      <a:pPr>
                        <a:defRPr sz="1400"/>
                      </a:pPr>
                      <a:r>
                        <a:t>+15.1</a:t>
                      </a:r>
                    </a:p>
                  </a:txBody>
                  <a:tcPr/>
                </a:tc>
                <a:tc>
                  <a:txBody>
                    <a:bodyPr/>
                    <a:lstStyle/>
                    <a:p>
                      <a:pPr>
                        <a:defRPr sz="1400"/>
                      </a:pPr>
                      <a:r>
                        <a:t>B-202</a:t>
                      </a:r>
                    </a:p>
                  </a:txBody>
                  <a:tcPr/>
                </a:tc>
                <a:tc>
                  <a:txBody>
                    <a:bodyPr/>
                    <a:lstStyle/>
                    <a:p>
                      <a:pPr>
                        <a:defRPr sz="1400"/>
                      </a:pPr>
                      <a:r>
                        <a:t>+13.2</a:t>
                      </a:r>
                    </a:p>
                  </a:txBody>
                  <a:tcPr/>
                </a:tc>
                <a:extLst>
                  <a:ext uri="{0D108BD9-81ED-4DB2-BD59-A6C34878D82A}">
                    <a16:rowId xmlns:a16="http://schemas.microsoft.com/office/drawing/2014/main" val="10001"/>
                  </a:ext>
                </a:extLst>
              </a:tr>
              <a:tr h="685800">
                <a:tc>
                  <a:txBody>
                    <a:bodyPr/>
                    <a:lstStyle/>
                    <a:p>
                      <a:pPr>
                        <a:defRPr sz="1400"/>
                      </a:pPr>
                      <a:r>
                        <a:t>A-101</a:t>
                      </a:r>
                    </a:p>
                  </a:txBody>
                  <a:tcPr/>
                </a:tc>
                <a:tc>
                  <a:txBody>
                    <a:bodyPr/>
                    <a:lstStyle/>
                    <a:p>
                      <a:pPr>
                        <a:defRPr sz="1400"/>
                      </a:pPr>
                      <a:r>
                        <a:t>+12.3</a:t>
                      </a:r>
                    </a:p>
                  </a:txBody>
                  <a:tcPr/>
                </a:tc>
                <a:tc>
                  <a:txBody>
                    <a:bodyPr/>
                    <a:lstStyle/>
                    <a:p>
                      <a:pPr>
                        <a:defRPr sz="1400"/>
                      </a:pPr>
                      <a:r>
                        <a:t>B-204</a:t>
                      </a:r>
                    </a:p>
                  </a:txBody>
                  <a:tcPr/>
                </a:tc>
                <a:tc>
                  <a:txBody>
                    <a:bodyPr/>
                    <a:lstStyle/>
                    <a:p>
                      <a:pPr>
                        <a:defRPr sz="1400"/>
                      </a:pPr>
                      <a:r>
                        <a:t>+11.0</a:t>
                      </a:r>
                    </a:p>
                  </a:txBody>
                  <a:tcPr/>
                </a:tc>
                <a:extLst>
                  <a:ext uri="{0D108BD9-81ED-4DB2-BD59-A6C34878D82A}">
                    <a16:rowId xmlns:a16="http://schemas.microsoft.com/office/drawing/2014/main" val="10002"/>
                  </a:ext>
                </a:extLst>
              </a:tr>
              <a:tr h="685800">
                <a:tc>
                  <a:txBody>
                    <a:bodyPr/>
                    <a:lstStyle/>
                    <a:p>
                      <a:pPr>
                        <a:defRPr sz="1400"/>
                      </a:pPr>
                      <a:r>
                        <a:t>A-107</a:t>
                      </a:r>
                    </a:p>
                  </a:txBody>
                  <a:tcPr/>
                </a:tc>
                <a:tc>
                  <a:txBody>
                    <a:bodyPr/>
                    <a:lstStyle/>
                    <a:p>
                      <a:pPr>
                        <a:defRPr sz="1400"/>
                      </a:pPr>
                      <a:r>
                        <a:t>+10.5</a:t>
                      </a:r>
                    </a:p>
                  </a:txBody>
                  <a:tcPr/>
                </a:tc>
                <a:tc>
                  <a:txBody>
                    <a:bodyPr/>
                    <a:lstStyle/>
                    <a:p>
                      <a:pPr>
                        <a:defRPr sz="1400"/>
                      </a:pPr>
                      <a:r>
                        <a:t>B-201</a:t>
                      </a:r>
                    </a:p>
                  </a:txBody>
                  <a:tcPr/>
                </a:tc>
                <a:tc>
                  <a:txBody>
                    <a:bodyPr/>
                    <a:lstStyle/>
                    <a:p>
                      <a:pPr>
                        <a:defRPr sz="1400"/>
                      </a:pPr>
                      <a:r>
                        <a:t>+9.8</a:t>
                      </a:r>
                    </a:p>
                  </a:txBody>
                  <a:tcPr/>
                </a:tc>
                <a:extLst>
                  <a:ext uri="{0D108BD9-81ED-4DB2-BD59-A6C34878D82A}">
                    <a16:rowId xmlns:a16="http://schemas.microsoft.com/office/drawing/2014/main" val="10003"/>
                  </a:ext>
                </a:extLst>
              </a:tr>
              <a:tr h="685800">
                <a:tc>
                  <a:txBody>
                    <a:bodyPr/>
                    <a:lstStyle/>
                    <a:p>
                      <a:pPr>
                        <a:defRPr sz="1400"/>
                      </a:pPr>
                      <a:r>
                        <a:t>A-102</a:t>
                      </a:r>
                    </a:p>
                  </a:txBody>
                  <a:tcPr/>
                </a:tc>
                <a:tc>
                  <a:txBody>
                    <a:bodyPr/>
                    <a:lstStyle/>
                    <a:p>
                      <a:pPr>
                        <a:defRPr sz="1400"/>
                      </a:pPr>
                      <a:r>
                        <a:t>+8.7</a:t>
                      </a:r>
                    </a:p>
                  </a:txBody>
                  <a:tcPr/>
                </a:tc>
                <a:tc>
                  <a:txBody>
                    <a:bodyPr/>
                    <a:lstStyle/>
                    <a:p>
                      <a:pPr>
                        <a:defRPr sz="1400"/>
                      </a:pPr>
                      <a:r>
                        <a:t>B-207</a:t>
                      </a:r>
                    </a:p>
                  </a:txBody>
                  <a:tcPr/>
                </a:tc>
                <a:tc>
                  <a:txBody>
                    <a:bodyPr/>
                    <a:lstStyle/>
                    <a:p>
                      <a:pPr>
                        <a:defRPr sz="1400"/>
                      </a:pPr>
                      <a:r>
                        <a:t>+7.6</a:t>
                      </a:r>
                    </a:p>
                  </a:txBody>
                  <a:tcPr/>
                </a:tc>
                <a:extLst>
                  <a:ext uri="{0D108BD9-81ED-4DB2-BD59-A6C34878D82A}">
                    <a16:rowId xmlns:a16="http://schemas.microsoft.com/office/drawing/2014/main" val="10004"/>
                  </a:ext>
                </a:extLst>
              </a:tr>
              <a:tr h="685800">
                <a:tc>
                  <a:txBody>
                    <a:bodyPr/>
                    <a:lstStyle/>
                    <a:p>
                      <a:pPr>
                        <a:defRPr sz="1400"/>
                      </a:pPr>
                      <a:endParaRPr/>
                    </a:p>
                  </a:txBody>
                  <a:tcPr/>
                </a:tc>
                <a:tc>
                  <a:txBody>
                    <a:bodyPr/>
                    <a:lstStyle/>
                    <a:p>
                      <a:pPr>
                        <a:defRPr sz="1400"/>
                      </a:pPr>
                      <a:endParaRPr/>
                    </a:p>
                  </a:txBody>
                  <a:tcPr/>
                </a:tc>
                <a:tc>
                  <a:txBody>
                    <a:bodyPr/>
                    <a:lstStyle/>
                    <a:p>
                      <a:pPr>
                        <a:defRPr sz="1400"/>
                      </a:pPr>
                      <a:r>
                        <a:t>B-203</a:t>
                      </a:r>
                    </a:p>
                  </a:txBody>
                  <a:tcPr/>
                </a:tc>
                <a:tc>
                  <a:txBody>
                    <a:bodyPr/>
                    <a:lstStyle/>
                    <a:p>
                      <a:pPr>
                        <a:defRPr sz="1400"/>
                      </a:pPr>
                      <a:r>
                        <a:t>+5.5</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802888" y="5851842"/>
            <a:ext cx="3441263" cy="369332"/>
          </a:xfrm>
          <a:prstGeom prst="rect">
            <a:avLst/>
          </a:prstGeom>
          <a:noFill/>
        </p:spPr>
        <p:txBody>
          <a:bodyPr wrap="none">
            <a:spAutoFit/>
          </a:bodyPr>
          <a:lstStyle/>
          <a:p>
            <a:pPr>
              <a:defRPr sz="1800" b="1"/>
            </a:pPr>
            <a:r>
              <a:rPr dirty="0"/>
              <a:t>Which 5 crosses would you make?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9144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0040" y="0"/>
            <a:ext cx="5154557" cy="6858000"/>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1072" y="0"/>
            <a:ext cx="4572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18641" cy="6858000"/>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784" y="4049"/>
            <a:ext cx="7662432"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FB0C94F-98E0-12F3-FE76-C8492E263599}"/>
              </a:ext>
            </a:extLst>
          </p:cNvPr>
          <p:cNvSpPr>
            <a:spLocks noGrp="1"/>
          </p:cNvSpPr>
          <p:nvPr>
            <p:ph type="title"/>
          </p:nvPr>
        </p:nvSpPr>
        <p:spPr>
          <a:xfrm>
            <a:off x="1520019" y="1030406"/>
            <a:ext cx="6110785" cy="3081242"/>
          </a:xfrm>
        </p:spPr>
        <p:txBody>
          <a:bodyPr vert="horz" lIns="91440" tIns="45720" rIns="91440" bIns="45720" rtlCol="0" anchor="ctr">
            <a:normAutofit/>
          </a:bodyPr>
          <a:lstStyle/>
          <a:p>
            <a:pPr defTabSz="914400">
              <a:lnSpc>
                <a:spcPct val="90000"/>
              </a:lnSpc>
            </a:pPr>
            <a:r>
              <a:rPr lang="en-US" sz="4200" kern="1200" dirty="0">
                <a:solidFill>
                  <a:srgbClr val="FFFFFF"/>
                </a:solidFill>
                <a:latin typeface="+mj-lt"/>
                <a:ea typeface="+mj-ea"/>
                <a:cs typeface="+mj-cs"/>
              </a:rPr>
              <a:t>Session 5: Seed Production</a:t>
            </a:r>
            <a:endParaRPr lang="en-US" sz="4200" kern="1200">
              <a:solidFill>
                <a:srgbClr val="FFFFFF"/>
              </a:solidFill>
              <a:latin typeface="+mj-lt"/>
              <a:ea typeface="+mj-ea"/>
              <a:cs typeface="+mj-cs"/>
            </a:endParaRPr>
          </a:p>
        </p:txBody>
      </p:sp>
    </p:spTree>
    <p:extLst>
      <p:ext uri="{BB962C8B-B14F-4D97-AF65-F5344CB8AC3E}">
        <p14:creationId xmlns:p14="http://schemas.microsoft.com/office/powerpoint/2010/main" val="3824727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22326" y="411480"/>
            <a:ext cx="8401050" cy="1106424"/>
          </a:xfrm>
        </p:spPr>
        <p:txBody>
          <a:bodyPr vert="horz" lIns="91440" tIns="45720" rIns="91440" bIns="45720" rtlCol="0" anchor="ctr">
            <a:normAutofit/>
          </a:bodyPr>
          <a:lstStyle/>
          <a:p>
            <a:pPr algn="l" defTabSz="914400">
              <a:lnSpc>
                <a:spcPct val="90000"/>
              </a:lnSpc>
              <a:defRPr sz="3200" b="1"/>
            </a:pPr>
            <a:r>
              <a:rPr lang="en-US" sz="3100"/>
              <a:t>How Hybrid Seed is Made: F1 Production</a:t>
            </a:r>
          </a:p>
        </p:txBody>
      </p:sp>
      <p:sp>
        <p:nvSpPr>
          <p:cNvPr id="2057" name="Rectangle 2056">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0" name="Picture 2" descr="Field layout in hybrid maize seed production">
            <a:extLst>
              <a:ext uri="{FF2B5EF4-FFF2-40B4-BE49-F238E27FC236}">
                <a16:creationId xmlns:a16="http://schemas.microsoft.com/office/drawing/2014/main" id="{D46C78AB-07D4-C4E1-519E-1D18725BBF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307" r="14998" b="2"/>
          <a:stretch>
            <a:fillRect/>
          </a:stretch>
        </p:blipFill>
        <p:spPr bwMode="auto">
          <a:xfrm>
            <a:off x="322326" y="1721922"/>
            <a:ext cx="5028668" cy="4520559"/>
          </a:xfrm>
          <a:prstGeom prst="rect">
            <a:avLst/>
          </a:prstGeom>
          <a:noFill/>
          <a:extLst>
            <a:ext uri="{909E8E84-426E-40DD-AFC4-6F175D3DCCD1}">
              <a14:hiddenFill xmlns:a14="http://schemas.microsoft.com/office/drawing/2010/main">
                <a:solidFill>
                  <a:srgbClr val="FFFFFF"/>
                </a:solidFill>
              </a14:hiddenFill>
            </a:ext>
          </a:extLst>
        </p:spPr>
      </p:pic>
      <p:sp useBgFill="1">
        <p:nvSpPr>
          <p:cNvPr id="2059" name="Rectangle 2058">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7850" y="1721922"/>
            <a:ext cx="3163824" cy="4520560"/>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p:cNvSpPr txBox="1"/>
          <p:nvPr/>
        </p:nvSpPr>
        <p:spPr>
          <a:xfrm>
            <a:off x="5954064" y="2020824"/>
            <a:ext cx="2591322" cy="3959352"/>
          </a:xfrm>
          <a:prstGeom prst="rect">
            <a:avLst/>
          </a:prstGeom>
        </p:spPr>
        <p:txBody>
          <a:bodyPr vert="horz" lIns="91440" tIns="45720" rIns="91440" bIns="45720" rtlCol="0" anchor="ctr">
            <a:normAutofit fontScale="92500" lnSpcReduction="10000"/>
          </a:bodyPr>
          <a:lstStyle/>
          <a:p>
            <a:pPr defTabSz="914400">
              <a:lnSpc>
                <a:spcPct val="90000"/>
              </a:lnSpc>
              <a:spcAft>
                <a:spcPts val="600"/>
              </a:spcAft>
            </a:pPr>
            <a:endParaRPr lang="en-US" sz="1600" dirty="0"/>
          </a:p>
          <a:p>
            <a:pPr indent="-228600" defTabSz="914400">
              <a:lnSpc>
                <a:spcPct val="90000"/>
              </a:lnSpc>
              <a:spcAft>
                <a:spcPts val="600"/>
              </a:spcAft>
              <a:buFont typeface="Arial" panose="020B0604020202020204" pitchFamily="34" charset="0"/>
              <a:buChar char="•"/>
            </a:pPr>
            <a:r>
              <a:rPr lang="en-US" sz="2800" dirty="0"/>
              <a:t>Isolation: 660+ feet from other corn</a:t>
            </a:r>
          </a:p>
          <a:p>
            <a:pPr indent="-228600" defTabSz="914400">
              <a:lnSpc>
                <a:spcPct val="90000"/>
              </a:lnSpc>
              <a:spcAft>
                <a:spcPts val="600"/>
              </a:spcAft>
              <a:buFont typeface="Arial" panose="020B0604020202020204" pitchFamily="34" charset="0"/>
              <a:buChar char="•"/>
            </a:pPr>
            <a:endParaRPr lang="en-US" sz="2800" dirty="0"/>
          </a:p>
          <a:p>
            <a:pPr indent="-228600" defTabSz="914400">
              <a:lnSpc>
                <a:spcPct val="90000"/>
              </a:lnSpc>
              <a:spcAft>
                <a:spcPts val="600"/>
              </a:spcAft>
              <a:buFont typeface="Arial" panose="020B0604020202020204" pitchFamily="34" charset="0"/>
              <a:buChar char="•"/>
            </a:pPr>
            <a:r>
              <a:rPr lang="en-US" sz="2800" dirty="0"/>
              <a:t>Female rows: Detasseled or male-sterile</a:t>
            </a:r>
          </a:p>
          <a:p>
            <a:pPr indent="-228600" defTabSz="914400">
              <a:lnSpc>
                <a:spcPct val="90000"/>
              </a:lnSpc>
              <a:spcAft>
                <a:spcPts val="600"/>
              </a:spcAft>
              <a:buFont typeface="Arial" panose="020B0604020202020204" pitchFamily="34" charset="0"/>
              <a:buChar char="•"/>
            </a:pPr>
            <a:endParaRPr lang="en-US" sz="2800" dirty="0"/>
          </a:p>
          <a:p>
            <a:pPr indent="-228600" defTabSz="914400">
              <a:lnSpc>
                <a:spcPct val="90000"/>
              </a:lnSpc>
              <a:spcAft>
                <a:spcPts val="600"/>
              </a:spcAft>
              <a:buFont typeface="Arial" panose="020B0604020202020204" pitchFamily="34" charset="0"/>
              <a:buChar char="•"/>
            </a:pPr>
            <a:r>
              <a:rPr lang="en-US" sz="2800" dirty="0"/>
              <a:t>Male rows: Pollen donors</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etasseling corn in the summer heat - Ohio Farm Bureau">
            <a:extLst>
              <a:ext uri="{FF2B5EF4-FFF2-40B4-BE49-F238E27FC236}">
                <a16:creationId xmlns:a16="http://schemas.microsoft.com/office/drawing/2014/main" id="{D6EAA340-7F53-C62F-5894-ACD977F4F6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7332" y="1930400"/>
            <a:ext cx="3386667" cy="177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fontScale="90000"/>
          </a:bodyPr>
          <a:lstStyle/>
          <a:p>
            <a:r>
              <a:rPr dirty="0"/>
              <a:t>Preventing Female Self-Pollination: Three Methods</a:t>
            </a:r>
          </a:p>
        </p:txBody>
      </p:sp>
      <p:sp>
        <p:nvSpPr>
          <p:cNvPr id="3" name="Content Placeholder 2"/>
          <p:cNvSpPr>
            <a:spLocks noGrp="1"/>
          </p:cNvSpPr>
          <p:nvPr>
            <p:ph idx="1"/>
          </p:nvPr>
        </p:nvSpPr>
        <p:spPr>
          <a:xfrm>
            <a:off x="88900" y="1445418"/>
            <a:ext cx="8229600" cy="4525963"/>
          </a:xfrm>
        </p:spPr>
        <p:txBody>
          <a:bodyPr>
            <a:normAutofit lnSpcReduction="10000"/>
          </a:bodyPr>
          <a:lstStyle/>
          <a:p>
            <a:endParaRPr dirty="0"/>
          </a:p>
          <a:p>
            <a:pPr marL="0" indent="0">
              <a:buNone/>
              <a:defRPr sz="2000"/>
            </a:pPr>
            <a:r>
              <a:rPr dirty="0"/>
              <a:t>1. Manual Detasseling:</a:t>
            </a:r>
          </a:p>
          <a:p>
            <a:pPr marL="0" indent="0">
              <a:buNone/>
              <a:defRPr sz="2000"/>
            </a:pPr>
            <a:r>
              <a:rPr dirty="0"/>
              <a:t>  • Student crews walking rows, pulling tassels</a:t>
            </a:r>
          </a:p>
          <a:p>
            <a:pPr marL="0" indent="0">
              <a:buNone/>
              <a:defRPr sz="2000"/>
            </a:pPr>
            <a:r>
              <a:rPr lang="en-US" dirty="0"/>
              <a:t>  </a:t>
            </a:r>
            <a:r>
              <a:rPr dirty="0"/>
              <a:t>• Labor-intensive, timing critical (before pollen shed)</a:t>
            </a:r>
          </a:p>
          <a:p>
            <a:pPr marL="0" indent="0">
              <a:buNone/>
              <a:defRPr sz="2000"/>
            </a:pPr>
            <a:r>
              <a:rPr lang="en-US" dirty="0"/>
              <a:t>  </a:t>
            </a:r>
            <a:r>
              <a:rPr dirty="0"/>
              <a:t>• Significant cost, requires seasonal workforce</a:t>
            </a:r>
          </a:p>
          <a:p>
            <a:pPr>
              <a:defRPr sz="2000"/>
            </a:pPr>
            <a:endParaRPr dirty="0"/>
          </a:p>
          <a:p>
            <a:pPr marL="0" indent="0">
              <a:buNone/>
              <a:defRPr sz="2000"/>
            </a:pPr>
            <a:r>
              <a:rPr dirty="0"/>
              <a:t>2. Mechanical Detasseling:</a:t>
            </a:r>
          </a:p>
          <a:p>
            <a:pPr marL="0" indent="0">
              <a:buNone/>
              <a:defRPr sz="2000"/>
            </a:pPr>
            <a:r>
              <a:rPr lang="en-US" dirty="0"/>
              <a:t>  </a:t>
            </a:r>
            <a:r>
              <a:rPr dirty="0"/>
              <a:t>• Modern machines 'sweep' fields with cutting bars</a:t>
            </a:r>
            <a:endParaRPr lang="en-US" dirty="0"/>
          </a:p>
          <a:p>
            <a:pPr marL="0" indent="0">
              <a:buNone/>
              <a:defRPr sz="2000"/>
            </a:pPr>
            <a:r>
              <a:rPr lang="en-US" dirty="0"/>
              <a:t>  </a:t>
            </a:r>
            <a:r>
              <a:rPr dirty="0"/>
              <a:t>• Tractor-mounted, GPS-guided systems</a:t>
            </a:r>
          </a:p>
          <a:p>
            <a:pPr marL="0" indent="0">
              <a:buNone/>
              <a:defRPr sz="2000"/>
            </a:pPr>
            <a:r>
              <a:rPr lang="en-US" dirty="0"/>
              <a:t>  </a:t>
            </a:r>
            <a:r>
              <a:rPr dirty="0"/>
              <a:t>• Still requires manual follow-up for escapees</a:t>
            </a:r>
          </a:p>
          <a:p>
            <a:pPr>
              <a:defRPr sz="2000"/>
            </a:pPr>
            <a:endParaRPr dirty="0"/>
          </a:p>
          <a:p>
            <a:pPr marL="0" indent="0">
              <a:buNone/>
              <a:defRPr sz="2000"/>
            </a:pPr>
            <a:r>
              <a:rPr dirty="0"/>
              <a:t>3. CMS Systems (next slide):</a:t>
            </a:r>
          </a:p>
        </p:txBody>
      </p:sp>
      <p:pic>
        <p:nvPicPr>
          <p:cNvPr id="1030" name="Picture 6" descr="Oxbo 5180 - Seed Corn Detasseler with integrated technology">
            <a:extLst>
              <a:ext uri="{FF2B5EF4-FFF2-40B4-BE49-F238E27FC236}">
                <a16:creationId xmlns:a16="http://schemas.microsoft.com/office/drawing/2014/main" id="{46A66952-7651-B3F1-346F-7063F2B23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8572" y="3715543"/>
            <a:ext cx="3425427" cy="22836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Cytoplasmic Male Sterility (CMS) Systems</a:t>
            </a:r>
          </a:p>
        </p:txBody>
      </p:sp>
      <p:sp>
        <p:nvSpPr>
          <p:cNvPr id="3" name="Content Placeholder 2"/>
          <p:cNvSpPr>
            <a:spLocks noGrp="1"/>
          </p:cNvSpPr>
          <p:nvPr>
            <p:ph idx="1"/>
          </p:nvPr>
        </p:nvSpPr>
        <p:spPr>
          <a:xfrm>
            <a:off x="0" y="1587500"/>
            <a:ext cx="5753100" cy="4525963"/>
          </a:xfrm>
        </p:spPr>
        <p:txBody>
          <a:bodyPr>
            <a:normAutofit fontScale="92500" lnSpcReduction="20000"/>
          </a:bodyPr>
          <a:lstStyle/>
          <a:p>
            <a:endParaRPr dirty="0"/>
          </a:p>
          <a:p>
            <a:pPr marL="0" indent="0">
              <a:buNone/>
              <a:defRPr sz="2000"/>
            </a:pPr>
            <a:r>
              <a:rPr dirty="0"/>
              <a:t>Genetic solution: No detasseling needed</a:t>
            </a:r>
          </a:p>
          <a:p>
            <a:pPr>
              <a:defRPr sz="2000"/>
            </a:pPr>
            <a:endParaRPr dirty="0"/>
          </a:p>
          <a:p>
            <a:pPr marL="0" indent="0">
              <a:buNone/>
              <a:defRPr sz="2000"/>
            </a:pPr>
            <a:r>
              <a:rPr dirty="0"/>
              <a:t>How it works:</a:t>
            </a:r>
          </a:p>
          <a:p>
            <a:pPr marL="0" indent="0">
              <a:buNone/>
              <a:defRPr sz="2000"/>
            </a:pPr>
            <a:r>
              <a:rPr dirty="0"/>
              <a:t>• CMS cytoplasm → male-sterile female parent (no pollen)</a:t>
            </a:r>
          </a:p>
          <a:p>
            <a:pPr marL="0" indent="0">
              <a:buNone/>
              <a:defRPr sz="2000"/>
            </a:pPr>
            <a:r>
              <a:rPr dirty="0"/>
              <a:t>• Restorer (Rf) genes → restore fertility in F1 hybrid</a:t>
            </a:r>
          </a:p>
          <a:p>
            <a:pPr marL="0" indent="0">
              <a:buNone/>
              <a:defRPr sz="2000"/>
            </a:pPr>
            <a:r>
              <a:rPr dirty="0"/>
              <a:t>• Three-line breeding system required:</a:t>
            </a:r>
            <a:endParaRPr lang="en-US" dirty="0"/>
          </a:p>
          <a:p>
            <a:pPr marL="0" indent="0">
              <a:buNone/>
              <a:defRPr sz="2000"/>
            </a:pPr>
            <a:r>
              <a:rPr lang="en-US" dirty="0"/>
              <a:t>	</a:t>
            </a:r>
            <a:r>
              <a:rPr dirty="0"/>
              <a:t> - CMS line (female in production)</a:t>
            </a:r>
          </a:p>
          <a:p>
            <a:pPr marL="0" indent="0">
              <a:buNone/>
              <a:defRPr sz="2000"/>
            </a:pPr>
            <a:r>
              <a:rPr lang="en-US" dirty="0"/>
              <a:t>	</a:t>
            </a:r>
            <a:r>
              <a:rPr dirty="0"/>
              <a:t> - Maintainer line (to propagate CMS line)</a:t>
            </a:r>
          </a:p>
          <a:p>
            <a:pPr marL="0" indent="0">
              <a:buNone/>
              <a:defRPr sz="2000"/>
            </a:pPr>
            <a:r>
              <a:rPr lang="en-US" dirty="0"/>
              <a:t>	</a:t>
            </a:r>
            <a:r>
              <a:rPr dirty="0"/>
              <a:t> - Restorer line (male in production)</a:t>
            </a:r>
          </a:p>
          <a:p>
            <a:pPr>
              <a:defRPr sz="2000"/>
            </a:pPr>
            <a:endParaRPr dirty="0"/>
          </a:p>
          <a:p>
            <a:pPr marL="0" indent="0">
              <a:buNone/>
              <a:defRPr sz="2000"/>
            </a:pPr>
            <a:r>
              <a:rPr dirty="0"/>
              <a:t>Advantages: Cost savings, no labor/timing risk</a:t>
            </a:r>
          </a:p>
          <a:p>
            <a:pPr marL="0" indent="0">
              <a:buNone/>
              <a:defRPr sz="2000"/>
            </a:pPr>
            <a:r>
              <a:rPr dirty="0"/>
              <a:t>Trade-offs: Genetic complexity, maintaining three lines</a:t>
            </a:r>
          </a:p>
        </p:txBody>
      </p:sp>
      <p:pic>
        <p:nvPicPr>
          <p:cNvPr id="2050" name="Picture 2" descr="A review of rice male sterility types and their sterility mechanisms:  Heliyon">
            <a:extLst>
              <a:ext uri="{FF2B5EF4-FFF2-40B4-BE49-F238E27FC236}">
                <a16:creationId xmlns:a16="http://schemas.microsoft.com/office/drawing/2014/main" id="{E7D67DEF-326A-19EC-FC8F-9427DD841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2100" y="1641798"/>
            <a:ext cx="3771900" cy="44716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E6BD88C-2705-7951-AC34-43EF281B8F0F}"/>
              </a:ext>
            </a:extLst>
          </p:cNvPr>
          <p:cNvSpPr txBox="1"/>
          <p:nvPr/>
        </p:nvSpPr>
        <p:spPr>
          <a:xfrm>
            <a:off x="0" y="6583362"/>
            <a:ext cx="6832600" cy="276999"/>
          </a:xfrm>
          <a:prstGeom prst="rect">
            <a:avLst/>
          </a:prstGeom>
          <a:noFill/>
        </p:spPr>
        <p:txBody>
          <a:bodyPr wrap="square" rtlCol="0">
            <a:spAutoFit/>
          </a:bodyPr>
          <a:lstStyle/>
          <a:p>
            <a:r>
              <a:rPr lang="en-US" sz="1200" dirty="0"/>
              <a:t>https://</a:t>
            </a:r>
            <a:r>
              <a:rPr lang="en-US" sz="1200" dirty="0" err="1"/>
              <a:t>www.cell.com</a:t>
            </a:r>
            <a:r>
              <a:rPr lang="en-US" sz="1200" dirty="0"/>
              <a:t>/</a:t>
            </a:r>
            <a:r>
              <a:rPr lang="en-US" sz="1200" dirty="0" err="1"/>
              <a:t>heliyon</a:t>
            </a:r>
            <a:r>
              <a:rPr lang="en-US" sz="1200" dirty="0"/>
              <a:t>/</a:t>
            </a:r>
            <a:r>
              <a:rPr lang="en-US" sz="1200" dirty="0" err="1"/>
              <a:t>fulltext</a:t>
            </a:r>
            <a:r>
              <a:rPr lang="en-US" sz="1200" dirty="0"/>
              <a:t>/S2405-8440%2823%2905412-9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121018"/>
            <a:ext cx="3490722" cy="1719072"/>
          </a:xfrm>
        </p:spPr>
        <p:txBody>
          <a:bodyPr vert="horz" lIns="91440" tIns="45720" rIns="91440" bIns="45720" rtlCol="0" anchor="b">
            <a:normAutofit/>
          </a:bodyPr>
          <a:lstStyle/>
          <a:p>
            <a:pPr algn="l" defTabSz="914400">
              <a:lnSpc>
                <a:spcPct val="90000"/>
              </a:lnSpc>
              <a:defRPr sz="3200" b="1"/>
            </a:pPr>
            <a:r>
              <a:rPr lang="en-US" sz="3600" kern="1200" dirty="0">
                <a:solidFill>
                  <a:schemeClr val="tx1"/>
                </a:solidFill>
                <a:latin typeface="+mj-lt"/>
                <a:ea typeface="+mj-ea"/>
                <a:cs typeface="+mj-cs"/>
              </a:rPr>
              <a:t>Monoecious but Role-Focused</a:t>
            </a:r>
          </a:p>
        </p:txBody>
      </p:sp>
      <p:sp>
        <p:nvSpPr>
          <p:cNvPr id="308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0" y="2807208"/>
            <a:ext cx="3490722" cy="3410712"/>
          </a:xfrm>
          <a:prstGeom prst="rect">
            <a:avLst/>
          </a:prstGeom>
        </p:spPr>
        <p:txBody>
          <a:bodyPr vert="horz" lIns="91440" tIns="45720" rIns="91440" bIns="45720" rtlCol="0" anchor="t">
            <a:normAutofit fontScale="92500" lnSpcReduction="10000"/>
          </a:bodyPr>
          <a:lstStyle/>
          <a:p>
            <a:pPr defTabSz="914400">
              <a:lnSpc>
                <a:spcPct val="90000"/>
              </a:lnSpc>
              <a:spcAft>
                <a:spcPts val="600"/>
              </a:spcAft>
            </a:pPr>
            <a:r>
              <a:rPr lang="en-US" sz="2400" dirty="0"/>
              <a:t>Production plants serve different ROLES:</a:t>
            </a:r>
          </a:p>
          <a:p>
            <a:pPr defTabSz="914400">
              <a:lnSpc>
                <a:spcPct val="90000"/>
              </a:lnSpc>
              <a:spcAft>
                <a:spcPts val="600"/>
              </a:spcAft>
            </a:pPr>
            <a:endParaRPr lang="en-US" sz="2400" dirty="0"/>
          </a:p>
          <a:p>
            <a:pPr defTabSz="914400">
              <a:lnSpc>
                <a:spcPct val="90000"/>
              </a:lnSpc>
              <a:spcAft>
                <a:spcPts val="600"/>
              </a:spcAft>
            </a:pPr>
            <a:r>
              <a:rPr lang="en-US" sz="2400" dirty="0"/>
              <a:t>• Female-focused: Good seed set (primary) + pollen competency for maintenance</a:t>
            </a:r>
          </a:p>
          <a:p>
            <a:pPr defTabSz="914400">
              <a:lnSpc>
                <a:spcPct val="90000"/>
              </a:lnSpc>
              <a:spcAft>
                <a:spcPts val="600"/>
              </a:spcAft>
            </a:pPr>
            <a:endParaRPr lang="en-US" sz="2400" dirty="0"/>
          </a:p>
          <a:p>
            <a:pPr defTabSz="914400">
              <a:lnSpc>
                <a:spcPct val="90000"/>
              </a:lnSpc>
              <a:spcAft>
                <a:spcPts val="600"/>
              </a:spcAft>
            </a:pPr>
            <a:r>
              <a:rPr lang="en-US" sz="2400" dirty="0"/>
              <a:t>• Male-focused: Good pollen (primary) + seed set for </a:t>
            </a:r>
            <a:r>
              <a:rPr lang="en-US" sz="2400" dirty="0" err="1"/>
              <a:t>Male×Male</a:t>
            </a:r>
            <a:r>
              <a:rPr lang="en-US" sz="2400" dirty="0"/>
              <a:t> crosses</a:t>
            </a:r>
          </a:p>
        </p:txBody>
      </p:sp>
      <p:pic>
        <p:nvPicPr>
          <p:cNvPr id="3074" name="Picture 2" descr="Figure 4">
            <a:extLst>
              <a:ext uri="{FF2B5EF4-FFF2-40B4-BE49-F238E27FC236}">
                <a16:creationId xmlns:a16="http://schemas.microsoft.com/office/drawing/2014/main" id="{31FE192E-36F7-983F-FFD1-1236E83B66B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90722" y="787270"/>
            <a:ext cx="5177790" cy="528345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C2756E3-2207-FCF6-0D9F-DEAE384F12FC}"/>
              </a:ext>
            </a:extLst>
          </p:cNvPr>
          <p:cNvSpPr txBox="1"/>
          <p:nvPr/>
        </p:nvSpPr>
        <p:spPr>
          <a:xfrm>
            <a:off x="2603500" y="6141199"/>
            <a:ext cx="6540500" cy="646331"/>
          </a:xfrm>
          <a:prstGeom prst="rect">
            <a:avLst/>
          </a:prstGeom>
          <a:noFill/>
        </p:spPr>
        <p:txBody>
          <a:bodyPr wrap="square" rtlCol="0">
            <a:spAutoFit/>
          </a:bodyPr>
          <a:lstStyle/>
          <a:p>
            <a:r>
              <a:rPr lang="en-US" dirty="0"/>
              <a:t>https://</a:t>
            </a:r>
            <a:r>
              <a:rPr lang="en-US" dirty="0" err="1"/>
              <a:t>www.open.edu</a:t>
            </a:r>
            <a:r>
              <a:rPr lang="en-US" dirty="0"/>
              <a:t>/</a:t>
            </a:r>
            <a:r>
              <a:rPr lang="en-US" dirty="0" err="1"/>
              <a:t>openlearn</a:t>
            </a:r>
            <a:r>
              <a:rPr lang="en-US" dirty="0"/>
              <a:t>/science-</a:t>
            </a:r>
            <a:r>
              <a:rPr lang="en-US" dirty="0" err="1"/>
              <a:t>maths</a:t>
            </a:r>
            <a:r>
              <a:rPr lang="en-US" dirty="0"/>
              <a:t>-technology/biology/meiosis-and-mitosis/content-section-4.1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2029522"/>
          </a:xfr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p:spPr>
        <p:txBody>
          <a:bodyPr>
            <a:normAutofit/>
          </a:bodyPr>
          <a:lstStyle/>
          <a:p>
            <a:r>
              <a:rPr dirty="0">
                <a:solidFill>
                  <a:schemeClr val="bg1"/>
                </a:solidFill>
              </a:rPr>
              <a:t>Production Constraints Affect Breeding Decisions</a:t>
            </a:r>
          </a:p>
        </p:txBody>
      </p:sp>
      <p:sp>
        <p:nvSpPr>
          <p:cNvPr id="3" name="Content Placeholder 2"/>
          <p:cNvSpPr>
            <a:spLocks noGrp="1"/>
          </p:cNvSpPr>
          <p:nvPr>
            <p:ph idx="1"/>
          </p:nvPr>
        </p:nvSpPr>
        <p:spPr>
          <a:xfrm>
            <a:off x="289932" y="2029522"/>
            <a:ext cx="8229600" cy="4525963"/>
          </a:xfrm>
          <a:noFill/>
        </p:spPr>
        <p:txBody>
          <a:bodyPr>
            <a:normAutofit fontScale="92500" lnSpcReduction="10000"/>
          </a:bodyPr>
          <a:lstStyle/>
          <a:p>
            <a:endParaRPr dirty="0"/>
          </a:p>
          <a:p>
            <a:pPr marL="0" indent="0">
              <a:buNone/>
              <a:defRPr sz="2000"/>
            </a:pPr>
            <a:r>
              <a:rPr dirty="0"/>
              <a:t>Parent seed availability:</a:t>
            </a:r>
          </a:p>
          <a:p>
            <a:pPr marL="0" indent="0">
              <a:buNone/>
              <a:defRPr sz="2000"/>
            </a:pPr>
            <a:r>
              <a:rPr lang="en-US" dirty="0"/>
              <a:t>	</a:t>
            </a:r>
            <a:r>
              <a:rPr dirty="0"/>
              <a:t>• Need enough inbred seed of both parents annually</a:t>
            </a:r>
          </a:p>
          <a:p>
            <a:pPr marL="0" indent="0">
              <a:buNone/>
              <a:defRPr sz="2000"/>
            </a:pPr>
            <a:r>
              <a:rPr lang="en-US" dirty="0"/>
              <a:t>	</a:t>
            </a:r>
            <a:r>
              <a:rPr dirty="0"/>
              <a:t>• Some inbreds are poor seed producers → limits commercial viability</a:t>
            </a:r>
          </a:p>
          <a:p>
            <a:pPr>
              <a:defRPr sz="2000"/>
            </a:pPr>
            <a:endParaRPr dirty="0"/>
          </a:p>
          <a:p>
            <a:pPr marL="0" indent="0">
              <a:buNone/>
              <a:defRPr sz="2000"/>
            </a:pPr>
            <a:r>
              <a:rPr dirty="0"/>
              <a:t>Flowering synchrony:</a:t>
            </a:r>
          </a:p>
          <a:p>
            <a:pPr marL="0" indent="0">
              <a:buNone/>
              <a:defRPr sz="2000"/>
            </a:pPr>
            <a:r>
              <a:rPr lang="en-US" dirty="0"/>
              <a:t>	</a:t>
            </a:r>
            <a:r>
              <a:rPr dirty="0"/>
              <a:t>• Male/female timing must align (ASI - anthesis-silking interval)</a:t>
            </a:r>
          </a:p>
          <a:p>
            <a:pPr marL="0" indent="0">
              <a:buNone/>
              <a:defRPr sz="2000"/>
            </a:pPr>
            <a:r>
              <a:rPr lang="en-US" dirty="0"/>
              <a:t>	</a:t>
            </a:r>
            <a:r>
              <a:rPr dirty="0"/>
              <a:t>• Male pollen shed duration must cover female silk receptivity</a:t>
            </a:r>
          </a:p>
          <a:p>
            <a:pPr>
              <a:defRPr sz="2000"/>
            </a:pPr>
            <a:endParaRPr dirty="0"/>
          </a:p>
          <a:p>
            <a:pPr marL="0" indent="0">
              <a:buNone/>
              <a:defRPr sz="2000"/>
            </a:pPr>
            <a:r>
              <a:rPr dirty="0"/>
              <a:t>Other factors:</a:t>
            </a:r>
          </a:p>
          <a:p>
            <a:pPr marL="0" indent="0">
              <a:buNone/>
              <a:defRPr sz="2000"/>
            </a:pPr>
            <a:r>
              <a:rPr lang="en-US" dirty="0"/>
              <a:t>	</a:t>
            </a:r>
            <a:r>
              <a:rPr dirty="0"/>
              <a:t>• Geographic constraints: Where can we produce seed?</a:t>
            </a:r>
          </a:p>
          <a:p>
            <a:pPr marL="0" indent="0">
              <a:buNone/>
              <a:defRPr sz="2000"/>
            </a:pPr>
            <a:r>
              <a:rPr lang="en-US" dirty="0"/>
              <a:t>	</a:t>
            </a:r>
            <a:r>
              <a:rPr dirty="0"/>
              <a:t>• CMS/Rf genetics: Planning for fertility restoration</a:t>
            </a:r>
          </a:p>
          <a:p>
            <a:pPr marL="0" indent="0">
              <a:buNone/>
              <a:defRPr sz="2000"/>
            </a:pPr>
            <a:r>
              <a:rPr lang="en-US" dirty="0"/>
              <a:t>	</a:t>
            </a:r>
            <a:r>
              <a:rPr dirty="0"/>
              <a:t>• Seed quality: Kernel size, vigor, germination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57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840065"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68605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49" y="365125"/>
            <a:ext cx="8211415" cy="1325563"/>
          </a:xfrm>
        </p:spPr>
        <p:txBody>
          <a:bodyPr vert="horz" lIns="91440" tIns="45720" rIns="91440" bIns="45720" rtlCol="0" anchor="ctr">
            <a:normAutofit/>
          </a:bodyPr>
          <a:lstStyle/>
          <a:p>
            <a:pPr algn="l" defTabSz="914400">
              <a:lnSpc>
                <a:spcPct val="90000"/>
              </a:lnSpc>
            </a:pPr>
            <a:r>
              <a:rPr lang="en-US" kern="1200">
                <a:solidFill>
                  <a:schemeClr val="tx1"/>
                </a:solidFill>
                <a:latin typeface="+mj-lt"/>
                <a:ea typeface="+mj-ea"/>
                <a:cs typeface="+mj-cs"/>
              </a:rPr>
              <a:t>Which Hybrid Goes to Production?</a:t>
            </a:r>
            <a:endParaRPr lang="en-US" kern="1200" dirty="0">
              <a:solidFill>
                <a:schemeClr val="tx1"/>
              </a:solidFill>
              <a:latin typeface="+mj-lt"/>
              <a:ea typeface="+mj-ea"/>
              <a:cs typeface="+mj-cs"/>
            </a:endParaRPr>
          </a:p>
        </p:txBody>
      </p:sp>
      <p:sp>
        <p:nvSpPr>
          <p:cNvPr id="3" name="Content Placeholder 2"/>
          <p:cNvSpPr>
            <a:spLocks noGrp="1"/>
          </p:cNvSpPr>
          <p:nvPr>
            <p:ph idx="1"/>
          </p:nvPr>
        </p:nvSpPr>
        <p:spPr>
          <a:xfrm>
            <a:off x="628650" y="2010833"/>
            <a:ext cx="3822700" cy="4166130"/>
          </a:xfrm>
        </p:spPr>
        <p:txBody>
          <a:bodyPr vert="horz" lIns="91440" tIns="45720" rIns="91440" bIns="45720" rtlCol="0">
            <a:normAutofit/>
          </a:bodyPr>
          <a:lstStyle/>
          <a:p>
            <a:pPr marL="0" indent="0" defTabSz="914400">
              <a:lnSpc>
                <a:spcPct val="90000"/>
              </a:lnSpc>
              <a:buNone/>
              <a:defRPr sz="2000"/>
            </a:pPr>
            <a:r>
              <a:rPr lang="en-US" sz="2400" b="1"/>
              <a:t>Data requirements:</a:t>
            </a:r>
          </a:p>
          <a:p>
            <a:pPr marL="0" indent="-228600" defTabSz="914400">
              <a:lnSpc>
                <a:spcPct val="90000"/>
              </a:lnSpc>
              <a:buFont typeface="Arial" panose="020B0604020202020204" pitchFamily="34" charset="0"/>
              <a:buChar char="•"/>
              <a:defRPr sz="2000"/>
            </a:pPr>
            <a:endParaRPr lang="en-US" sz="1700" dirty="0"/>
          </a:p>
          <a:p>
            <a:pPr marL="0" indent="0" defTabSz="914400">
              <a:lnSpc>
                <a:spcPct val="90000"/>
              </a:lnSpc>
              <a:buNone/>
              <a:defRPr sz="2000"/>
            </a:pPr>
            <a:r>
              <a:rPr lang="en-US" sz="1700"/>
              <a:t>• 3+ years of testing</a:t>
            </a:r>
          </a:p>
          <a:p>
            <a:pPr marL="0" indent="-228600" defTabSz="914400">
              <a:lnSpc>
                <a:spcPct val="90000"/>
              </a:lnSpc>
              <a:buFont typeface="Arial" panose="020B0604020202020204" pitchFamily="34" charset="0"/>
              <a:buChar char="•"/>
              <a:defRPr sz="2000"/>
            </a:pPr>
            <a:endParaRPr lang="en-US" sz="1700" dirty="0"/>
          </a:p>
          <a:p>
            <a:pPr marL="0" indent="0" defTabSz="914400">
              <a:lnSpc>
                <a:spcPct val="90000"/>
              </a:lnSpc>
              <a:buNone/>
              <a:defRPr sz="2000"/>
            </a:pPr>
            <a:r>
              <a:rPr lang="en-US" sz="1700"/>
              <a:t>• 10-50+ locations</a:t>
            </a:r>
          </a:p>
          <a:p>
            <a:pPr marL="0" indent="-228600" defTabSz="914400">
              <a:lnSpc>
                <a:spcPct val="90000"/>
              </a:lnSpc>
              <a:buFont typeface="Arial" panose="020B0604020202020204" pitchFamily="34" charset="0"/>
              <a:buChar char="•"/>
              <a:defRPr sz="2000"/>
            </a:pPr>
            <a:endParaRPr lang="en-US" sz="1700" dirty="0"/>
          </a:p>
          <a:p>
            <a:pPr marL="0" indent="0" defTabSz="914400">
              <a:lnSpc>
                <a:spcPct val="90000"/>
              </a:lnSpc>
              <a:buNone/>
              <a:defRPr sz="2000"/>
            </a:pPr>
            <a:r>
              <a:rPr lang="en-US" sz="1700"/>
              <a:t>• Multi-environment performance </a:t>
            </a:r>
            <a:endParaRPr lang="en-US" sz="1700" dirty="0"/>
          </a:p>
        </p:txBody>
      </p:sp>
      <p:sp>
        <p:nvSpPr>
          <p:cNvPr id="4" name="TextBox 3">
            <a:extLst>
              <a:ext uri="{FF2B5EF4-FFF2-40B4-BE49-F238E27FC236}">
                <a16:creationId xmlns:a16="http://schemas.microsoft.com/office/drawing/2014/main" id="{6C2DE1D8-92F2-7503-9ACB-7ACB187E7D76}"/>
              </a:ext>
            </a:extLst>
          </p:cNvPr>
          <p:cNvSpPr txBox="1"/>
          <p:nvPr/>
        </p:nvSpPr>
        <p:spPr>
          <a:xfrm>
            <a:off x="4692650" y="1690688"/>
            <a:ext cx="3822700" cy="4166130"/>
          </a:xfrm>
          <a:prstGeom prst="rect">
            <a:avLst/>
          </a:prstGeom>
        </p:spPr>
        <p:txBody>
          <a:bodyPr vert="horz" lIns="91440" tIns="45720" rIns="91440" bIns="45720" rtlCol="0">
            <a:normAutofit lnSpcReduction="10000"/>
          </a:bodyPr>
          <a:lstStyle/>
          <a:p>
            <a:pPr indent="-228600" defTabSz="914400">
              <a:lnSpc>
                <a:spcPct val="90000"/>
              </a:lnSpc>
              <a:spcAft>
                <a:spcPts val="600"/>
              </a:spcAft>
              <a:buFont typeface="Arial" panose="020B0604020202020204" pitchFamily="34" charset="0"/>
              <a:buChar char="•"/>
              <a:defRPr sz="2000"/>
            </a:pPr>
            <a:endParaRPr lang="en-US" sz="1700"/>
          </a:p>
          <a:p>
            <a:pPr defTabSz="914400">
              <a:lnSpc>
                <a:spcPct val="90000"/>
              </a:lnSpc>
              <a:spcAft>
                <a:spcPts val="600"/>
              </a:spcAft>
              <a:defRPr sz="2000"/>
            </a:pPr>
            <a:r>
              <a:rPr lang="en-US" sz="2400" b="1"/>
              <a:t>Performance requirements:</a:t>
            </a:r>
          </a:p>
          <a:p>
            <a:pPr indent="-228600" defTabSz="914400">
              <a:lnSpc>
                <a:spcPct val="90000"/>
              </a:lnSpc>
              <a:spcAft>
                <a:spcPts val="600"/>
              </a:spcAft>
              <a:buFont typeface="Arial" panose="020B0604020202020204" pitchFamily="34" charset="0"/>
              <a:buChar char="•"/>
              <a:defRPr sz="2000"/>
            </a:pPr>
            <a:endParaRPr lang="en-US" sz="1700"/>
          </a:p>
          <a:p>
            <a:pPr defTabSz="914400">
              <a:lnSpc>
                <a:spcPct val="90000"/>
              </a:lnSpc>
              <a:spcAft>
                <a:spcPts val="600"/>
              </a:spcAft>
              <a:defRPr sz="2000"/>
            </a:pPr>
            <a:r>
              <a:rPr lang="en-US" sz="1700"/>
              <a:t>• Yield advantage: 3-5+ bu/ac minimum over competition</a:t>
            </a:r>
          </a:p>
          <a:p>
            <a:pPr indent="-228600" defTabSz="914400">
              <a:lnSpc>
                <a:spcPct val="90000"/>
              </a:lnSpc>
              <a:spcAft>
                <a:spcPts val="600"/>
              </a:spcAft>
              <a:buFont typeface="Arial" panose="020B0604020202020204" pitchFamily="34" charset="0"/>
              <a:buChar char="•"/>
              <a:defRPr sz="2000"/>
            </a:pPr>
            <a:endParaRPr lang="en-US" sz="1700"/>
          </a:p>
          <a:p>
            <a:pPr defTabSz="914400">
              <a:lnSpc>
                <a:spcPct val="90000"/>
              </a:lnSpc>
              <a:spcAft>
                <a:spcPts val="600"/>
              </a:spcAft>
              <a:defRPr sz="2000"/>
            </a:pPr>
            <a:r>
              <a:rPr lang="en-US" sz="1700"/>
              <a:t>• Agronomic package: Standability, maturity, stress tolerance</a:t>
            </a:r>
          </a:p>
          <a:p>
            <a:pPr indent="-228600" defTabSz="914400">
              <a:lnSpc>
                <a:spcPct val="90000"/>
              </a:lnSpc>
              <a:spcAft>
                <a:spcPts val="600"/>
              </a:spcAft>
              <a:buFont typeface="Arial" panose="020B0604020202020204" pitchFamily="34" charset="0"/>
              <a:buChar char="•"/>
              <a:defRPr sz="2000"/>
            </a:pPr>
            <a:endParaRPr lang="en-US" sz="1700"/>
          </a:p>
          <a:p>
            <a:pPr defTabSz="914400">
              <a:lnSpc>
                <a:spcPct val="90000"/>
              </a:lnSpc>
              <a:spcAft>
                <a:spcPts val="600"/>
              </a:spcAft>
              <a:defRPr sz="2000"/>
            </a:pPr>
            <a:r>
              <a:rPr lang="en-US" sz="1700"/>
              <a:t>• Stability: Consistent performance across environments (low G×E)</a:t>
            </a:r>
          </a:p>
          <a:p>
            <a:pPr indent="-228600" defTabSz="914400">
              <a:lnSpc>
                <a:spcPct val="90000"/>
              </a:lnSpc>
              <a:spcAft>
                <a:spcPts val="600"/>
              </a:spcAft>
              <a:buFont typeface="Arial" panose="020B0604020202020204" pitchFamily="34" charset="0"/>
              <a:buChar char="•"/>
              <a:defRPr sz="2000"/>
            </a:pPr>
            <a:endParaRPr lang="en-US" sz="1700"/>
          </a:p>
          <a:p>
            <a:pPr defTabSz="914400">
              <a:lnSpc>
                <a:spcPct val="90000"/>
              </a:lnSpc>
              <a:spcAft>
                <a:spcPts val="600"/>
              </a:spcAft>
              <a:defRPr sz="2000"/>
            </a:pPr>
            <a:r>
              <a:rPr lang="en-US" sz="1700"/>
              <a:t>• Production feasibility: Parent seed availability</a:t>
            </a:r>
          </a:p>
          <a:p>
            <a:pPr indent="-228600" defTabSz="914400">
              <a:lnSpc>
                <a:spcPct val="90000"/>
              </a:lnSpc>
              <a:spcAft>
                <a:spcPts val="600"/>
              </a:spcAft>
              <a:buFont typeface="Arial" panose="020B0604020202020204" pitchFamily="34" charset="0"/>
              <a:buChar char="•"/>
            </a:pPr>
            <a:endParaRPr lang="en-US" sz="1700" dirty="0"/>
          </a:p>
        </p:txBody>
      </p:sp>
    </p:spTree>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254248"/>
            <a:ext cx="6590371" cy="1077218"/>
          </a:xfrm>
          <a:prstGeom prst="rect">
            <a:avLst/>
          </a:prstGeom>
          <a:noFill/>
        </p:spPr>
        <p:txBody>
          <a:bodyPr wrap="square">
            <a:spAutoFit/>
          </a:bodyPr>
          <a:lstStyle/>
          <a:p>
            <a:pPr>
              <a:defRPr sz="3200" b="1"/>
            </a:pPr>
            <a:r>
              <a:rPr dirty="0"/>
              <a:t>INTERACTIVE: Which Hybrid Would You Commercialize?</a:t>
            </a:r>
          </a:p>
        </p:txBody>
      </p:sp>
      <p:graphicFrame>
        <p:nvGraphicFramePr>
          <p:cNvPr id="4" name="Table 3"/>
          <p:cNvGraphicFramePr>
            <a:graphicFrameLocks noGrp="1"/>
          </p:cNvGraphicFramePr>
          <p:nvPr/>
        </p:nvGraphicFramePr>
        <p:xfrm>
          <a:off x="914400" y="1645920"/>
          <a:ext cx="7315200" cy="41148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822960">
                <a:tc>
                  <a:txBody>
                    <a:bodyPr/>
                    <a:lstStyle/>
                    <a:p>
                      <a:pPr>
                        <a:defRPr sz="1600" b="1">
                          <a:solidFill>
                            <a:srgbClr val="FFFFFF"/>
                          </a:solidFill>
                        </a:defRPr>
                      </a:pPr>
                      <a:r>
                        <a:t>Hybrid</a:t>
                      </a:r>
                    </a:p>
                  </a:txBody>
                  <a:tcPr>
                    <a:solidFill>
                      <a:srgbClr val="003366"/>
                    </a:solidFill>
                  </a:tcPr>
                </a:tc>
                <a:tc>
                  <a:txBody>
                    <a:bodyPr/>
                    <a:lstStyle/>
                    <a:p>
                      <a:pPr>
                        <a:defRPr sz="1600" b="1">
                          <a:solidFill>
                            <a:srgbClr val="FFFFFF"/>
                          </a:solidFill>
                        </a:defRPr>
                      </a:pPr>
                      <a:r>
                        <a:t>Yield (bu/ac)</a:t>
                      </a:r>
                    </a:p>
                  </a:txBody>
                  <a:tcPr>
                    <a:solidFill>
                      <a:srgbClr val="003366"/>
                    </a:solidFill>
                  </a:tcPr>
                </a:tc>
                <a:tc>
                  <a:txBody>
                    <a:bodyPr/>
                    <a:lstStyle/>
                    <a:p>
                      <a:pPr>
                        <a:defRPr sz="1600" b="1">
                          <a:solidFill>
                            <a:srgbClr val="FFFFFF"/>
                          </a:solidFill>
                        </a:defRPr>
                      </a:pPr>
                      <a:r>
                        <a:t>vs. Check</a:t>
                      </a:r>
                    </a:p>
                  </a:txBody>
                  <a:tcPr>
                    <a:solidFill>
                      <a:srgbClr val="003366"/>
                    </a:solidFill>
                  </a:tcPr>
                </a:tc>
                <a:tc>
                  <a:txBody>
                    <a:bodyPr/>
                    <a:lstStyle/>
                    <a:p>
                      <a:pPr>
                        <a:defRPr sz="1600" b="1">
                          <a:solidFill>
                            <a:srgbClr val="FFFFFF"/>
                          </a:solidFill>
                        </a:defRPr>
                      </a:pPr>
                      <a:r>
                        <a:t>Standability</a:t>
                      </a:r>
                    </a:p>
                  </a:txBody>
                  <a:tcPr>
                    <a:solidFill>
                      <a:srgbClr val="003366"/>
                    </a:solidFill>
                  </a:tcPr>
                </a:tc>
                <a:tc>
                  <a:txBody>
                    <a:bodyPr/>
                    <a:lstStyle/>
                    <a:p>
                      <a:pPr>
                        <a:defRPr sz="1600" b="1">
                          <a:solidFill>
                            <a:srgbClr val="FFFFFF"/>
                          </a:solidFill>
                        </a:defRPr>
                      </a:pPr>
                      <a:r>
                        <a:t>Stability (CV%)</a:t>
                      </a:r>
                    </a:p>
                  </a:txBody>
                  <a:tcPr>
                    <a:solidFill>
                      <a:srgbClr val="003366"/>
                    </a:solidFill>
                  </a:tcPr>
                </a:tc>
                <a:extLst>
                  <a:ext uri="{0D108BD9-81ED-4DB2-BD59-A6C34878D82A}">
                    <a16:rowId xmlns:a16="http://schemas.microsoft.com/office/drawing/2014/main" val="10000"/>
                  </a:ext>
                </a:extLst>
              </a:tr>
              <a:tr h="822960">
                <a:tc>
                  <a:txBody>
                    <a:bodyPr/>
                    <a:lstStyle/>
                    <a:p>
                      <a:pPr>
                        <a:defRPr sz="1400"/>
                      </a:pPr>
                      <a:r>
                        <a:t>PH-2401</a:t>
                      </a:r>
                    </a:p>
                  </a:txBody>
                  <a:tcPr/>
                </a:tc>
                <a:tc>
                  <a:txBody>
                    <a:bodyPr/>
                    <a:lstStyle/>
                    <a:p>
                      <a:pPr>
                        <a:defRPr sz="1400"/>
                      </a:pPr>
                      <a:r>
                        <a:t>187.3</a:t>
                      </a:r>
                    </a:p>
                  </a:txBody>
                  <a:tcPr/>
                </a:tc>
                <a:tc>
                  <a:txBody>
                    <a:bodyPr/>
                    <a:lstStyle/>
                    <a:p>
                      <a:pPr>
                        <a:defRPr sz="1400"/>
                      </a:pPr>
                      <a:r>
                        <a:t>+5.2</a:t>
                      </a:r>
                    </a:p>
                  </a:txBody>
                  <a:tcPr/>
                </a:tc>
                <a:tc>
                  <a:txBody>
                    <a:bodyPr/>
                    <a:lstStyle/>
                    <a:p>
                      <a:pPr>
                        <a:defRPr sz="1400"/>
                      </a:pPr>
                      <a:r>
                        <a:t>6/9</a:t>
                      </a:r>
                    </a:p>
                  </a:txBody>
                  <a:tcPr/>
                </a:tc>
                <a:tc>
                  <a:txBody>
                    <a:bodyPr/>
                    <a:lstStyle/>
                    <a:p>
                      <a:pPr>
                        <a:defRPr sz="1400"/>
                      </a:pPr>
                      <a:r>
                        <a:t>18%</a:t>
                      </a:r>
                    </a:p>
                  </a:txBody>
                  <a:tcPr/>
                </a:tc>
                <a:extLst>
                  <a:ext uri="{0D108BD9-81ED-4DB2-BD59-A6C34878D82A}">
                    <a16:rowId xmlns:a16="http://schemas.microsoft.com/office/drawing/2014/main" val="10001"/>
                  </a:ext>
                </a:extLst>
              </a:tr>
              <a:tr h="822960">
                <a:tc>
                  <a:txBody>
                    <a:bodyPr/>
                    <a:lstStyle/>
                    <a:p>
                      <a:pPr>
                        <a:defRPr sz="1400"/>
                      </a:pPr>
                      <a:r>
                        <a:t>PH-2402</a:t>
                      </a:r>
                    </a:p>
                  </a:txBody>
                  <a:tcPr/>
                </a:tc>
                <a:tc>
                  <a:txBody>
                    <a:bodyPr/>
                    <a:lstStyle/>
                    <a:p>
                      <a:pPr>
                        <a:defRPr sz="1400"/>
                      </a:pPr>
                      <a:r>
                        <a:t>183.8</a:t>
                      </a:r>
                    </a:p>
                  </a:txBody>
                  <a:tcPr/>
                </a:tc>
                <a:tc>
                  <a:txBody>
                    <a:bodyPr/>
                    <a:lstStyle/>
                    <a:p>
                      <a:pPr>
                        <a:defRPr sz="1400"/>
                      </a:pPr>
                      <a:r>
                        <a:t>+1.7</a:t>
                      </a:r>
                    </a:p>
                  </a:txBody>
                  <a:tcPr/>
                </a:tc>
                <a:tc>
                  <a:txBody>
                    <a:bodyPr/>
                    <a:lstStyle/>
                    <a:p>
                      <a:pPr>
                        <a:defRPr sz="1400"/>
                      </a:pPr>
                      <a:r>
                        <a:t>8/9</a:t>
                      </a:r>
                    </a:p>
                  </a:txBody>
                  <a:tcPr/>
                </a:tc>
                <a:tc>
                  <a:txBody>
                    <a:bodyPr/>
                    <a:lstStyle/>
                    <a:p>
                      <a:pPr>
                        <a:defRPr sz="1400"/>
                      </a:pPr>
                      <a:r>
                        <a:t>12%</a:t>
                      </a:r>
                    </a:p>
                  </a:txBody>
                  <a:tcPr/>
                </a:tc>
                <a:extLst>
                  <a:ext uri="{0D108BD9-81ED-4DB2-BD59-A6C34878D82A}">
                    <a16:rowId xmlns:a16="http://schemas.microsoft.com/office/drawing/2014/main" val="10002"/>
                  </a:ext>
                </a:extLst>
              </a:tr>
              <a:tr h="822960">
                <a:tc>
                  <a:txBody>
                    <a:bodyPr/>
                    <a:lstStyle/>
                    <a:p>
                      <a:pPr>
                        <a:defRPr sz="1400"/>
                      </a:pPr>
                      <a:r>
                        <a:t>PH-2403</a:t>
                      </a:r>
                    </a:p>
                  </a:txBody>
                  <a:tcPr/>
                </a:tc>
                <a:tc>
                  <a:txBody>
                    <a:bodyPr/>
                    <a:lstStyle/>
                    <a:p>
                      <a:pPr>
                        <a:defRPr sz="1400"/>
                      </a:pPr>
                      <a:r>
                        <a:t>191.5</a:t>
                      </a:r>
                    </a:p>
                  </a:txBody>
                  <a:tcPr/>
                </a:tc>
                <a:tc>
                  <a:txBody>
                    <a:bodyPr/>
                    <a:lstStyle/>
                    <a:p>
                      <a:pPr>
                        <a:defRPr sz="1400"/>
                      </a:pPr>
                      <a:r>
                        <a:t>+9.4</a:t>
                      </a:r>
                    </a:p>
                  </a:txBody>
                  <a:tcPr/>
                </a:tc>
                <a:tc>
                  <a:txBody>
                    <a:bodyPr/>
                    <a:lstStyle/>
                    <a:p>
                      <a:pPr>
                        <a:defRPr sz="1400"/>
                      </a:pPr>
                      <a:r>
                        <a:t>5/9</a:t>
                      </a:r>
                    </a:p>
                  </a:txBody>
                  <a:tcPr/>
                </a:tc>
                <a:tc>
                  <a:txBody>
                    <a:bodyPr/>
                    <a:lstStyle/>
                    <a:p>
                      <a:pPr>
                        <a:defRPr sz="1400"/>
                      </a:pPr>
                      <a:r>
                        <a:t>22%</a:t>
                      </a:r>
                    </a:p>
                  </a:txBody>
                  <a:tcPr/>
                </a:tc>
                <a:extLst>
                  <a:ext uri="{0D108BD9-81ED-4DB2-BD59-A6C34878D82A}">
                    <a16:rowId xmlns:a16="http://schemas.microsoft.com/office/drawing/2014/main" val="10003"/>
                  </a:ext>
                </a:extLst>
              </a:tr>
              <a:tr h="822960">
                <a:tc>
                  <a:txBody>
                    <a:bodyPr/>
                    <a:lstStyle/>
                    <a:p>
                      <a:pPr>
                        <a:defRPr sz="1400"/>
                      </a:pPr>
                      <a:r>
                        <a:t>PH-2404</a:t>
                      </a:r>
                    </a:p>
                  </a:txBody>
                  <a:tcPr/>
                </a:tc>
                <a:tc>
                  <a:txBody>
                    <a:bodyPr/>
                    <a:lstStyle/>
                    <a:p>
                      <a:pPr>
                        <a:defRPr sz="1400"/>
                      </a:pPr>
                      <a:r>
                        <a:t>185.2</a:t>
                      </a:r>
                    </a:p>
                  </a:txBody>
                  <a:tcPr/>
                </a:tc>
                <a:tc>
                  <a:txBody>
                    <a:bodyPr/>
                    <a:lstStyle/>
                    <a:p>
                      <a:pPr>
                        <a:defRPr sz="1400"/>
                      </a:pPr>
                      <a:r>
                        <a:t>+3.1</a:t>
                      </a:r>
                    </a:p>
                  </a:txBody>
                  <a:tcPr/>
                </a:tc>
                <a:tc>
                  <a:txBody>
                    <a:bodyPr/>
                    <a:lstStyle/>
                    <a:p>
                      <a:pPr>
                        <a:defRPr sz="1400"/>
                      </a:pPr>
                      <a:r>
                        <a:t>7/9</a:t>
                      </a:r>
                    </a:p>
                  </a:txBody>
                  <a:tcPr/>
                </a:tc>
                <a:tc>
                  <a:txBody>
                    <a:bodyPr/>
                    <a:lstStyle/>
                    <a:p>
                      <a:pPr>
                        <a:defRPr sz="1400"/>
                      </a:pPr>
                      <a:r>
                        <a:t>14%</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US" sz="3500" dirty="0">
                <a:solidFill>
                  <a:srgbClr val="FFFFFF"/>
                </a:solidFill>
              </a:rPr>
              <a:t>The Complete System: </a:t>
            </a:r>
            <a:br>
              <a:rPr lang="en-US" sz="3500" dirty="0">
                <a:solidFill>
                  <a:srgbClr val="FFFFFF"/>
                </a:solidFill>
              </a:rPr>
            </a:br>
            <a:r>
              <a:rPr lang="en-US" sz="3500" dirty="0">
                <a:solidFill>
                  <a:srgbClr val="FFFFFF"/>
                </a:solidFill>
              </a:rPr>
              <a:t>Biology to ROI</a:t>
            </a:r>
          </a:p>
        </p:txBody>
      </p:sp>
      <p:sp>
        <p:nvSpPr>
          <p:cNvPr id="3" name="Content Placeholder 2"/>
          <p:cNvSpPr>
            <a:spLocks noGrp="1"/>
          </p:cNvSpPr>
          <p:nvPr>
            <p:ph idx="1"/>
          </p:nvPr>
        </p:nvSpPr>
        <p:spPr>
          <a:xfrm>
            <a:off x="4877368" y="649480"/>
            <a:ext cx="3646835" cy="5546047"/>
          </a:xfrm>
        </p:spPr>
        <p:txBody>
          <a:bodyPr anchor="ctr">
            <a:normAutofit/>
          </a:bodyPr>
          <a:lstStyle/>
          <a:p>
            <a:pPr>
              <a:lnSpc>
                <a:spcPct val="90000"/>
              </a:lnSpc>
            </a:pPr>
            <a:endParaRPr lang="en-US" sz="1400"/>
          </a:p>
          <a:p>
            <a:pPr marL="0" indent="0">
              <a:lnSpc>
                <a:spcPct val="90000"/>
              </a:lnSpc>
              <a:buNone/>
              <a:defRPr sz="2000"/>
            </a:pPr>
            <a:r>
              <a:rPr lang="en-US" sz="1400"/>
              <a:t>1. Heterosis exists → Justifies hybrid breeding system</a:t>
            </a:r>
          </a:p>
          <a:p>
            <a:pPr marL="0" indent="0">
              <a:lnSpc>
                <a:spcPct val="90000"/>
              </a:lnSpc>
              <a:buNone/>
              <a:defRPr sz="2000"/>
            </a:pPr>
            <a:endParaRPr lang="en-US" sz="1400"/>
          </a:p>
          <a:p>
            <a:pPr marL="0" indent="0">
              <a:lnSpc>
                <a:spcPct val="90000"/>
              </a:lnSpc>
              <a:buNone/>
              <a:defRPr sz="2000"/>
            </a:pPr>
            <a:r>
              <a:rPr lang="en-US" sz="1400"/>
              <a:t>2. Heterotic pools → Maximize crossing potential</a:t>
            </a:r>
          </a:p>
          <a:p>
            <a:pPr marL="0" indent="0">
              <a:lnSpc>
                <a:spcPct val="90000"/>
              </a:lnSpc>
              <a:buNone/>
              <a:defRPr sz="2000"/>
            </a:pPr>
            <a:endParaRPr lang="en-US" sz="1400"/>
          </a:p>
          <a:p>
            <a:pPr marL="0" indent="0">
              <a:lnSpc>
                <a:spcPct val="90000"/>
              </a:lnSpc>
              <a:buNone/>
              <a:defRPr sz="2000"/>
            </a:pPr>
            <a:r>
              <a:rPr lang="en-US" sz="1400"/>
              <a:t>3. Inbred development → Create homozygous parents</a:t>
            </a:r>
          </a:p>
          <a:p>
            <a:pPr marL="0" indent="0">
              <a:lnSpc>
                <a:spcPct val="90000"/>
              </a:lnSpc>
              <a:buNone/>
              <a:defRPr sz="2000"/>
            </a:pPr>
            <a:endParaRPr lang="en-US" sz="1400"/>
          </a:p>
          <a:p>
            <a:pPr marL="0" indent="0">
              <a:lnSpc>
                <a:spcPct val="90000"/>
              </a:lnSpc>
              <a:buNone/>
              <a:defRPr sz="2000"/>
            </a:pPr>
            <a:r>
              <a:rPr lang="en-US" sz="1400"/>
              <a:t>4. GCA testing → Identify valuable parents</a:t>
            </a:r>
          </a:p>
          <a:p>
            <a:pPr marL="0" indent="0">
              <a:lnSpc>
                <a:spcPct val="90000"/>
              </a:lnSpc>
              <a:buNone/>
              <a:defRPr sz="2000"/>
            </a:pPr>
            <a:endParaRPr lang="en-US" sz="1400"/>
          </a:p>
          <a:p>
            <a:pPr marL="0" indent="0">
              <a:lnSpc>
                <a:spcPct val="90000"/>
              </a:lnSpc>
              <a:buNone/>
              <a:defRPr sz="2000"/>
            </a:pPr>
            <a:r>
              <a:rPr lang="en-US" sz="1400"/>
              <a:t>5. SCA testing → Find specific winning crosses</a:t>
            </a:r>
          </a:p>
          <a:p>
            <a:pPr marL="0" indent="0">
              <a:lnSpc>
                <a:spcPct val="90000"/>
              </a:lnSpc>
              <a:buNone/>
              <a:defRPr sz="2000"/>
            </a:pPr>
            <a:endParaRPr lang="en-US" sz="1400"/>
          </a:p>
          <a:p>
            <a:pPr marL="0" indent="0">
              <a:lnSpc>
                <a:spcPct val="90000"/>
              </a:lnSpc>
              <a:buNone/>
              <a:defRPr sz="2000"/>
            </a:pPr>
            <a:r>
              <a:rPr lang="en-US" sz="1400"/>
              <a:t>6. Production seed → Deliver uniform product</a:t>
            </a:r>
          </a:p>
          <a:p>
            <a:pPr marL="0" indent="0">
              <a:lnSpc>
                <a:spcPct val="90000"/>
              </a:lnSpc>
              <a:buNone/>
              <a:defRPr sz="2000"/>
            </a:pPr>
            <a:endParaRPr lang="en-US" sz="1400"/>
          </a:p>
          <a:p>
            <a:pPr marL="0" indent="0">
              <a:lnSpc>
                <a:spcPct val="90000"/>
              </a:lnSpc>
              <a:buNone/>
              <a:defRPr sz="2000"/>
            </a:pPr>
            <a:r>
              <a:rPr lang="en-US" sz="1400"/>
              <a:t>7. Farmer ROI → Yield advantage, consistency</a:t>
            </a:r>
          </a:p>
          <a:p>
            <a:pPr marL="0" indent="0">
              <a:lnSpc>
                <a:spcPct val="90000"/>
              </a:lnSpc>
              <a:buNone/>
              <a:defRPr sz="2000"/>
            </a:pPr>
            <a:endParaRPr lang="en-US" sz="1400"/>
          </a:p>
          <a:p>
            <a:pPr marL="0" indent="0">
              <a:lnSpc>
                <a:spcPct val="90000"/>
              </a:lnSpc>
              <a:buNone/>
              <a:defRPr sz="2000"/>
            </a:pPr>
            <a:r>
              <a:rPr lang="en-US" sz="1400"/>
              <a:t>8. Company ROI → Sustainable business model</a:t>
            </a:r>
          </a:p>
          <a:p>
            <a:pPr>
              <a:lnSpc>
                <a:spcPct val="90000"/>
              </a:lnSpc>
              <a:defRPr sz="2000"/>
            </a:pPr>
            <a:endParaRPr lang="en-US"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US" sz="3500">
                <a:solidFill>
                  <a:srgbClr val="FFFFFF"/>
                </a:solidFill>
              </a:rPr>
              <a:t>Bottlenecks in Hybrid Breeding</a:t>
            </a:r>
          </a:p>
        </p:txBody>
      </p:sp>
      <p:sp>
        <p:nvSpPr>
          <p:cNvPr id="3" name="Content Placeholder 2"/>
          <p:cNvSpPr>
            <a:spLocks noGrp="1"/>
          </p:cNvSpPr>
          <p:nvPr>
            <p:ph idx="1"/>
          </p:nvPr>
        </p:nvSpPr>
        <p:spPr>
          <a:xfrm>
            <a:off x="4175954" y="649480"/>
            <a:ext cx="4967472" cy="5546047"/>
          </a:xfrm>
        </p:spPr>
        <p:txBody>
          <a:bodyPr anchor="ctr">
            <a:normAutofit/>
          </a:bodyPr>
          <a:lstStyle/>
          <a:p>
            <a:endParaRPr lang="en-US" sz="1700" dirty="0"/>
          </a:p>
          <a:p>
            <a:pPr marL="0" indent="0">
              <a:buNone/>
              <a:defRPr sz="2000"/>
            </a:pPr>
            <a:r>
              <a:rPr lang="en-US" sz="1700" dirty="0"/>
              <a:t>Time: Inbred development takes years</a:t>
            </a:r>
          </a:p>
          <a:p>
            <a:pPr>
              <a:defRPr sz="2000"/>
            </a:pPr>
            <a:endParaRPr lang="en-US" sz="1700" dirty="0"/>
          </a:p>
          <a:p>
            <a:pPr marL="0" indent="0">
              <a:buNone/>
              <a:defRPr sz="2000"/>
            </a:pPr>
            <a:r>
              <a:rPr lang="en-US" sz="1700" dirty="0"/>
              <a:t>Money: Testing is expensive</a:t>
            </a:r>
          </a:p>
          <a:p>
            <a:pPr marL="0" indent="0">
              <a:buNone/>
              <a:defRPr sz="2000"/>
            </a:pPr>
            <a:r>
              <a:rPr lang="en-US" sz="1700" dirty="0"/>
              <a:t>	• Medium program: $5-15M/year</a:t>
            </a:r>
          </a:p>
          <a:p>
            <a:pPr marL="0" indent="0">
              <a:buNone/>
              <a:defRPr sz="2000"/>
            </a:pPr>
            <a:r>
              <a:rPr lang="en-US" sz="1700" dirty="0"/>
              <a:t>	• No revenue for 10+ years</a:t>
            </a:r>
          </a:p>
          <a:p>
            <a:pPr>
              <a:defRPr sz="2000"/>
            </a:pPr>
            <a:endParaRPr lang="en-US" sz="1700" dirty="0"/>
          </a:p>
          <a:p>
            <a:pPr marL="0" indent="0">
              <a:buNone/>
              <a:defRPr sz="2000"/>
            </a:pPr>
            <a:r>
              <a:rPr lang="en-US" sz="1700" dirty="0"/>
              <a:t>Personnel: Skilled breeders scarce (40-60% of budget)</a:t>
            </a:r>
          </a:p>
          <a:p>
            <a:pPr>
              <a:defRPr sz="2000"/>
            </a:pPr>
            <a:endParaRPr lang="en-US" sz="1700" dirty="0"/>
          </a:p>
          <a:p>
            <a:pPr marL="0" indent="0">
              <a:buNone/>
              <a:defRPr sz="2000"/>
            </a:pPr>
            <a:r>
              <a:rPr lang="en-US" sz="1700" dirty="0"/>
              <a:t>Scale: Small programs face high per-hybrid costs</a:t>
            </a:r>
          </a:p>
          <a:p>
            <a:pPr>
              <a:defRPr sz="2000"/>
            </a:pPr>
            <a:endParaRPr lang="en-US" sz="1700" dirty="0"/>
          </a:p>
          <a:p>
            <a:pPr marL="0" indent="0">
              <a:buNone/>
              <a:defRPr sz="2000"/>
            </a:pPr>
            <a:r>
              <a:rPr lang="en-US" sz="1700" dirty="0"/>
              <a:t>Prediction: SCA is hard to predict</a:t>
            </a:r>
          </a:p>
          <a:p>
            <a:pPr marL="0" indent="0">
              <a:buNone/>
              <a:defRPr sz="2000"/>
            </a:pPr>
            <a:endParaRPr lang="en-US" sz="1700" dirty="0"/>
          </a:p>
          <a:p>
            <a:pPr marL="0" indent="0">
              <a:buNone/>
              <a:defRPr sz="2000"/>
            </a:pPr>
            <a:r>
              <a:rPr lang="en-US" sz="1700" dirty="0"/>
              <a:t>Market dynamics: Target keeps moving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457200"/>
            <a:ext cx="8229600" cy="731520"/>
          </a:xfrm>
          <a:prstGeom prst="rect">
            <a:avLst/>
          </a:prstGeom>
          <a:noFill/>
        </p:spPr>
        <p:txBody>
          <a:bodyPr wrap="none">
            <a:spAutoFit/>
          </a:bodyPr>
          <a:lstStyle/>
          <a:p>
            <a:pPr>
              <a:defRPr sz="3200" b="1"/>
            </a:pPr>
            <a:r>
              <a:t>Modern Tools: Where to Invest?</a:t>
            </a:r>
          </a:p>
        </p:txBody>
      </p:sp>
      <p:graphicFrame>
        <p:nvGraphicFramePr>
          <p:cNvPr id="4" name="Table 3"/>
          <p:cNvGraphicFramePr>
            <a:graphicFrameLocks noGrp="1"/>
          </p:cNvGraphicFramePr>
          <p:nvPr/>
        </p:nvGraphicFramePr>
        <p:xfrm>
          <a:off x="914400" y="1645920"/>
          <a:ext cx="7315200" cy="41148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822960">
                <a:tc>
                  <a:txBody>
                    <a:bodyPr/>
                    <a:lstStyle/>
                    <a:p>
                      <a:pPr>
                        <a:defRPr sz="1600" b="1">
                          <a:solidFill>
                            <a:srgbClr val="FFFFFF"/>
                          </a:solidFill>
                        </a:defRPr>
                      </a:pPr>
                      <a:r>
                        <a:t>Tool</a:t>
                      </a:r>
                    </a:p>
                  </a:txBody>
                  <a:tcPr>
                    <a:solidFill>
                      <a:srgbClr val="003366"/>
                    </a:solidFill>
                  </a:tcPr>
                </a:tc>
                <a:tc>
                  <a:txBody>
                    <a:bodyPr/>
                    <a:lstStyle/>
                    <a:p>
                      <a:pPr>
                        <a:defRPr sz="1600" b="1">
                          <a:solidFill>
                            <a:srgbClr val="FFFFFF"/>
                          </a:solidFill>
                        </a:defRPr>
                      </a:pPr>
                      <a:r>
                        <a:t>Benefit</a:t>
                      </a:r>
                    </a:p>
                  </a:txBody>
                  <a:tcPr>
                    <a:solidFill>
                      <a:srgbClr val="003366"/>
                    </a:solidFill>
                  </a:tcPr>
                </a:tc>
                <a:tc>
                  <a:txBody>
                    <a:bodyPr/>
                    <a:lstStyle/>
                    <a:p>
                      <a:pPr>
                        <a:defRPr sz="1600" b="1">
                          <a:solidFill>
                            <a:srgbClr val="FFFFFF"/>
                          </a:solidFill>
                        </a:defRPr>
                      </a:pPr>
                      <a:r>
                        <a:t>Cost</a:t>
                      </a:r>
                    </a:p>
                  </a:txBody>
                  <a:tcPr>
                    <a:solidFill>
                      <a:srgbClr val="003366"/>
                    </a:solidFill>
                  </a:tcPr>
                </a:tc>
                <a:tc>
                  <a:txBody>
                    <a:bodyPr/>
                    <a:lstStyle/>
                    <a:p>
                      <a:pPr>
                        <a:defRPr sz="1600" b="1">
                          <a:solidFill>
                            <a:srgbClr val="FFFFFF"/>
                          </a:solidFill>
                        </a:defRPr>
                      </a:pPr>
                      <a:r>
                        <a:t>Savings/Gain</a:t>
                      </a:r>
                    </a:p>
                  </a:txBody>
                  <a:tcPr>
                    <a:solidFill>
                      <a:srgbClr val="003366"/>
                    </a:solidFill>
                  </a:tcPr>
                </a:tc>
                <a:extLst>
                  <a:ext uri="{0D108BD9-81ED-4DB2-BD59-A6C34878D82A}">
                    <a16:rowId xmlns:a16="http://schemas.microsoft.com/office/drawing/2014/main" val="10000"/>
                  </a:ext>
                </a:extLst>
              </a:tr>
              <a:tr h="822960">
                <a:tc>
                  <a:txBody>
                    <a:bodyPr/>
                    <a:lstStyle/>
                    <a:p>
                      <a:pPr>
                        <a:defRPr sz="1400"/>
                      </a:pPr>
                      <a:r>
                        <a:t>Genomic prediction</a:t>
                      </a:r>
                    </a:p>
                  </a:txBody>
                  <a:tcPr/>
                </a:tc>
                <a:tc>
                  <a:txBody>
                    <a:bodyPr/>
                    <a:lstStyle/>
                    <a:p>
                      <a:pPr>
                        <a:defRPr sz="1400"/>
                      </a:pPr>
                      <a:r>
                        <a:t>Skip PYT stage</a:t>
                      </a:r>
                    </a:p>
                  </a:txBody>
                  <a:tcPr/>
                </a:tc>
                <a:tc>
                  <a:txBody>
                    <a:bodyPr/>
                    <a:lstStyle/>
                    <a:p>
                      <a:pPr>
                        <a:defRPr sz="1400"/>
                      </a:pPr>
                      <a:r>
                        <a:t>$30-80K/year</a:t>
                      </a:r>
                    </a:p>
                  </a:txBody>
                  <a:tcPr/>
                </a:tc>
                <a:tc>
                  <a:txBody>
                    <a:bodyPr/>
                    <a:lstStyle/>
                    <a:p>
                      <a:pPr>
                        <a:defRPr sz="1400"/>
                      </a:pPr>
                      <a:r>
                        <a:t>Save $500K/year</a:t>
                      </a:r>
                    </a:p>
                  </a:txBody>
                  <a:tcPr/>
                </a:tc>
                <a:extLst>
                  <a:ext uri="{0D108BD9-81ED-4DB2-BD59-A6C34878D82A}">
                    <a16:rowId xmlns:a16="http://schemas.microsoft.com/office/drawing/2014/main" val="10001"/>
                  </a:ext>
                </a:extLst>
              </a:tr>
              <a:tr h="822960">
                <a:tc>
                  <a:txBody>
                    <a:bodyPr/>
                    <a:lstStyle/>
                    <a:p>
                      <a:pPr>
                        <a:defRPr sz="1400"/>
                      </a:pPr>
                      <a:r>
                        <a:t>DH technology</a:t>
                      </a:r>
                    </a:p>
                  </a:txBody>
                  <a:tcPr/>
                </a:tc>
                <a:tc>
                  <a:txBody>
                    <a:bodyPr/>
                    <a:lstStyle/>
                    <a:p>
                      <a:pPr>
                        <a:defRPr sz="1400"/>
                      </a:pPr>
                      <a:r>
                        <a:t>Save 4-5 years</a:t>
                      </a:r>
                    </a:p>
                  </a:txBody>
                  <a:tcPr/>
                </a:tc>
                <a:tc>
                  <a:txBody>
                    <a:bodyPr/>
                    <a:lstStyle/>
                    <a:p>
                      <a:pPr>
                        <a:defRPr sz="1400"/>
                      </a:pPr>
                      <a:r>
                        <a:t>$200-500K infra</a:t>
                      </a:r>
                    </a:p>
                  </a:txBody>
                  <a:tcPr/>
                </a:tc>
                <a:tc>
                  <a:txBody>
                    <a:bodyPr/>
                    <a:lstStyle/>
                    <a:p>
                      <a:pPr>
                        <a:defRPr sz="1400"/>
                      </a:pPr>
                      <a:r>
                        <a:t>Faster cycles</a:t>
                      </a:r>
                    </a:p>
                  </a:txBody>
                  <a:tcPr/>
                </a:tc>
                <a:extLst>
                  <a:ext uri="{0D108BD9-81ED-4DB2-BD59-A6C34878D82A}">
                    <a16:rowId xmlns:a16="http://schemas.microsoft.com/office/drawing/2014/main" val="10002"/>
                  </a:ext>
                </a:extLst>
              </a:tr>
              <a:tr h="822960">
                <a:tc>
                  <a:txBody>
                    <a:bodyPr/>
                    <a:lstStyle/>
                    <a:p>
                      <a:pPr>
                        <a:defRPr sz="1400"/>
                      </a:pPr>
                      <a:r>
                        <a:t>Precision phenotyping</a:t>
                      </a:r>
                    </a:p>
                  </a:txBody>
                  <a:tcPr/>
                </a:tc>
                <a:tc>
                  <a:txBody>
                    <a:bodyPr/>
                    <a:lstStyle/>
                    <a:p>
                      <a:pPr>
                        <a:defRPr sz="1400"/>
                      </a:pPr>
                      <a:r>
                        <a:t>Better data, less labor</a:t>
                      </a:r>
                    </a:p>
                  </a:txBody>
                  <a:tcPr/>
                </a:tc>
                <a:tc>
                  <a:txBody>
                    <a:bodyPr/>
                    <a:lstStyle/>
                    <a:p>
                      <a:pPr>
                        <a:defRPr sz="1400"/>
                      </a:pPr>
                      <a:r>
                        <a:t>$50-200K equip</a:t>
                      </a:r>
                    </a:p>
                  </a:txBody>
                  <a:tcPr/>
                </a:tc>
                <a:tc>
                  <a:txBody>
                    <a:bodyPr/>
                    <a:lstStyle/>
                    <a:p>
                      <a:pPr>
                        <a:defRPr sz="1400"/>
                      </a:pPr>
                      <a:r>
                        <a:t>30-50% labor</a:t>
                      </a:r>
                    </a:p>
                  </a:txBody>
                  <a:tcPr/>
                </a:tc>
                <a:extLst>
                  <a:ext uri="{0D108BD9-81ED-4DB2-BD59-A6C34878D82A}">
                    <a16:rowId xmlns:a16="http://schemas.microsoft.com/office/drawing/2014/main" val="10003"/>
                  </a:ext>
                </a:extLst>
              </a:tr>
              <a:tr h="822960">
                <a:tc>
                  <a:txBody>
                    <a:bodyPr/>
                    <a:lstStyle/>
                    <a:p>
                      <a:pPr>
                        <a:defRPr sz="1400"/>
                      </a:pPr>
                      <a:r>
                        <a:t>Speed breeding</a:t>
                      </a:r>
                    </a:p>
                  </a:txBody>
                  <a:tcPr/>
                </a:tc>
                <a:tc>
                  <a:txBody>
                    <a:bodyPr/>
                    <a:lstStyle/>
                    <a:p>
                      <a:pPr>
                        <a:defRPr sz="1400"/>
                      </a:pPr>
                      <a:r>
                        <a:t>2-3 gen/year</a:t>
                      </a:r>
                    </a:p>
                  </a:txBody>
                  <a:tcPr/>
                </a:tc>
                <a:tc>
                  <a:txBody>
                    <a:bodyPr/>
                    <a:lstStyle/>
                    <a:p>
                      <a:pPr>
                        <a:defRPr sz="1400"/>
                      </a:pPr>
                      <a:r>
                        <a:t>$100-500K/year</a:t>
                      </a:r>
                    </a:p>
                  </a:txBody>
                  <a:tcPr/>
                </a:tc>
                <a:tc>
                  <a:txBody>
                    <a:bodyPr/>
                    <a:lstStyle/>
                    <a:p>
                      <a:pPr>
                        <a:defRPr sz="1400"/>
                      </a:pPr>
                      <a:r>
                        <a:t>Double gain rate</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8"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9144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0040" y="0"/>
            <a:ext cx="5154557" cy="6858000"/>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1072" y="0"/>
            <a:ext cx="4572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18641" cy="6858000"/>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784" y="4049"/>
            <a:ext cx="7662432"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520019" y="1030406"/>
            <a:ext cx="6110785" cy="3081242"/>
          </a:xfrm>
        </p:spPr>
        <p:txBody>
          <a:bodyPr vert="horz" lIns="91440" tIns="45720" rIns="91440" bIns="45720" rtlCol="0" anchor="ctr">
            <a:normAutofit/>
          </a:bodyPr>
          <a:lstStyle/>
          <a:p>
            <a:pPr defTabSz="914400">
              <a:lnSpc>
                <a:spcPct val="90000"/>
              </a:lnSpc>
            </a:pPr>
            <a:r>
              <a:rPr lang="en-US" sz="3600" kern="1200" dirty="0">
                <a:solidFill>
                  <a:srgbClr val="FFFFFF"/>
                </a:solidFill>
                <a:latin typeface="+mj-lt"/>
                <a:ea typeface="+mj-ea"/>
                <a:cs typeface="+mj-cs"/>
              </a:rPr>
              <a:t>If you had to design a hybrid breeding program from scratch, what would you prioritize?</a:t>
            </a:r>
            <a:br>
              <a:rPr lang="en-US" sz="3600" kern="1200" dirty="0">
                <a:solidFill>
                  <a:srgbClr val="FFFFFF"/>
                </a:solidFill>
                <a:latin typeface="+mj-lt"/>
                <a:ea typeface="+mj-ea"/>
                <a:cs typeface="+mj-cs"/>
              </a:rPr>
            </a:br>
            <a:br>
              <a:rPr lang="en-US" sz="3600" kern="1200" dirty="0">
                <a:solidFill>
                  <a:srgbClr val="FFFFFF"/>
                </a:solidFill>
                <a:latin typeface="+mj-lt"/>
                <a:ea typeface="+mj-ea"/>
                <a:cs typeface="+mj-cs"/>
              </a:rPr>
            </a:br>
            <a:endParaRPr lang="en-US" sz="3600" kern="1200" dirty="0">
              <a:solidFill>
                <a:srgbClr val="FFFFFF"/>
              </a:solidFill>
              <a:latin typeface="+mj-lt"/>
              <a:ea typeface="+mj-ea"/>
              <a:cs typeface="+mj-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Resources for Further Learning</a:t>
            </a:r>
          </a:p>
        </p:txBody>
      </p:sp>
      <p:sp>
        <p:nvSpPr>
          <p:cNvPr id="3" name="Content Placeholder 2"/>
          <p:cNvSpPr>
            <a:spLocks noGrp="1"/>
          </p:cNvSpPr>
          <p:nvPr>
            <p:ph idx="1"/>
          </p:nvPr>
        </p:nvSpPr>
        <p:spPr/>
        <p:txBody>
          <a:bodyPr>
            <a:normAutofit fontScale="92500" lnSpcReduction="20000"/>
          </a:bodyPr>
          <a:lstStyle/>
          <a:p>
            <a:endParaRPr/>
          </a:p>
          <a:p>
            <a:pPr>
              <a:defRPr sz="2000"/>
            </a:pPr>
            <a:r>
              <a:t>Classic Papers:</a:t>
            </a:r>
          </a:p>
          <a:p>
            <a:pPr>
              <a:defRPr sz="2000"/>
            </a:pPr>
            <a:r>
              <a:t>• Shull (1908), East (1908), Jones (1918) - Historical foundation</a:t>
            </a:r>
          </a:p>
          <a:p>
            <a:pPr>
              <a:defRPr sz="2000"/>
            </a:pPr>
            <a:r>
              <a:t>• Crow (1948) - Dominance vs. overdominance</a:t>
            </a:r>
          </a:p>
          <a:p>
            <a:pPr>
              <a:defRPr sz="2000"/>
            </a:pPr>
            <a:endParaRPr/>
          </a:p>
          <a:p>
            <a:pPr>
              <a:defRPr sz="2000"/>
            </a:pPr>
            <a:r>
              <a:t>Modern Reviews:</a:t>
            </a:r>
          </a:p>
          <a:p>
            <a:pPr>
              <a:defRPr sz="2000"/>
            </a:pPr>
            <a:r>
              <a:t>• Birchler et al. (2006) - Genetic basis of heterosis</a:t>
            </a:r>
          </a:p>
          <a:p>
            <a:pPr>
              <a:defRPr sz="2000"/>
            </a:pPr>
            <a:r>
              <a:t>• Schnable &amp; Springer (2013) - Molecular insights</a:t>
            </a:r>
          </a:p>
          <a:p>
            <a:pPr>
              <a:defRPr sz="2000"/>
            </a:pPr>
            <a:endParaRPr/>
          </a:p>
          <a:p>
            <a:pPr>
              <a:defRPr sz="2000"/>
            </a:pPr>
            <a:r>
              <a:t>Textbooks:</a:t>
            </a:r>
          </a:p>
          <a:p>
            <a:pPr>
              <a:defRPr sz="2000"/>
            </a:pPr>
            <a:r>
              <a:t>• Hallauer et al. - Quantitative Genetics in Maize Breeding</a:t>
            </a:r>
          </a:p>
          <a:p>
            <a:pPr>
              <a:defRPr sz="2000"/>
            </a:pPr>
            <a:r>
              <a:t>• Bernardo - Breeding for Quantitative Traits in Plants</a:t>
            </a:r>
          </a:p>
          <a:p>
            <a:pPr>
              <a:defRPr sz="2000"/>
            </a:pPr>
            <a:endParaRPr/>
          </a:p>
          <a:p>
            <a:pPr>
              <a:defRPr sz="2000"/>
            </a:pPr>
            <a:r>
              <a:t>Datasets: NCSU variety trials, CIMMYT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576C5E875F7B478D6A5649968E304D" ma:contentTypeVersion="9" ma:contentTypeDescription="Create a new document." ma:contentTypeScope="" ma:versionID="1d21d16da81215a46a251103cce87cc7">
  <xsd:schema xmlns:xsd="http://www.w3.org/2001/XMLSchema" xmlns:xs="http://www.w3.org/2001/XMLSchema" xmlns:p="http://schemas.microsoft.com/office/2006/metadata/properties" xmlns:ns2="f94f2b36-2c46-45af-a0ad-9380a455945f" targetNamespace="http://schemas.microsoft.com/office/2006/metadata/properties" ma:root="true" ma:fieldsID="e4e67ff2465ef76a65e76eec63cc7459" ns2:_="">
    <xsd:import namespace="f94f2b36-2c46-45af-a0ad-9380a45594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4f2b36-2c46-45af-a0ad-9380a45594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c43322-b630-4bac-8b27-31def233d1d0"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4f2b36-2c46-45af-a0ad-9380a45594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5E57453-05C2-4EB8-A490-FE6C4E7E6686}"/>
</file>

<file path=customXml/itemProps2.xml><?xml version="1.0" encoding="utf-8"?>
<ds:datastoreItem xmlns:ds="http://schemas.openxmlformats.org/officeDocument/2006/customXml" ds:itemID="{D6B26EC4-46C2-45D3-807A-54A8D3375869}"/>
</file>

<file path=customXml/itemProps3.xml><?xml version="1.0" encoding="utf-8"?>
<ds:datastoreItem xmlns:ds="http://schemas.openxmlformats.org/officeDocument/2006/customXml" ds:itemID="{B472060A-1E7A-4E8E-8983-D4D56D89AEFB}"/>
</file>

<file path=docProps/app.xml><?xml version="1.0" encoding="utf-8"?>
<Properties xmlns="http://schemas.openxmlformats.org/officeDocument/2006/extended-properties" xmlns:vt="http://schemas.openxmlformats.org/officeDocument/2006/docPropsVTypes">
  <Template>Office 2013 - 2022 Theme</Template>
  <TotalTime>21417</TotalTime>
  <Words>2715</Words>
  <Application>Microsoft Macintosh PowerPoint</Application>
  <PresentationFormat>On-screen Show (4:3)</PresentationFormat>
  <Paragraphs>528</Paragraphs>
  <Slides>57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Aptos</vt:lpstr>
      <vt:lpstr>Arial</vt:lpstr>
      <vt:lpstr>Calibri</vt:lpstr>
      <vt:lpstr>Consolas</vt:lpstr>
      <vt:lpstr>Office Theme</vt:lpstr>
      <vt:lpstr>Hybrid Breeding in Maize</vt:lpstr>
      <vt:lpstr>Course Overview</vt:lpstr>
      <vt:lpstr>Why do farmers buy hybrid seed every year? </vt:lpstr>
      <vt:lpstr>Session 1: The End Goal</vt:lpstr>
      <vt:lpstr>What Success Looks Like</vt:lpstr>
      <vt:lpstr>Farmer ROI: Why Buy Hybrids?</vt:lpstr>
      <vt:lpstr>Seed Company ROI</vt:lpstr>
      <vt:lpstr>Session 2: Biological Foundation</vt:lpstr>
      <vt:lpstr>Heterosis: F1 Outperforms Parents</vt:lpstr>
      <vt:lpstr>Heterosis Magnitude in Maize</vt:lpstr>
      <vt:lpstr>Genetic Basis: Dominance Hypothesis</vt:lpstr>
      <vt:lpstr>Genetic Basis (Cont)</vt:lpstr>
      <vt:lpstr>General Combining Ability (GCA)</vt:lpstr>
      <vt:lpstr>Specific Combining Ability (SCA)</vt:lpstr>
      <vt:lpstr>GCA + SCA Relationship</vt:lpstr>
      <vt:lpstr>PowerPoint Presentation</vt:lpstr>
      <vt:lpstr>Session 3: Parent Creation </vt:lpstr>
      <vt:lpstr>Where do these inbred parents come from?</vt:lpstr>
      <vt:lpstr>What is an Inbred Line?</vt:lpstr>
      <vt:lpstr>PowerPoint Presentation</vt:lpstr>
      <vt:lpstr>Inbreeding Depression</vt:lpstr>
      <vt:lpstr>PowerPoint Presentation</vt:lpstr>
      <vt:lpstr>PowerPoint Presentation</vt:lpstr>
      <vt:lpstr>PowerPoint Presentation</vt:lpstr>
      <vt:lpstr>PowerPoint Presentation</vt:lpstr>
      <vt:lpstr>What Makes a Good Inbred?</vt:lpstr>
      <vt:lpstr>Why don't all inbreds work well together?  Why separate breeding pools?</vt:lpstr>
      <vt:lpstr>Heterotic Groups in Maize</vt:lpstr>
      <vt:lpstr>PowerPoint Presentation</vt:lpstr>
      <vt:lpstr>Heterotic Pattern: Distance = Heterosis</vt:lpstr>
      <vt:lpstr>PowerPoint Presentation</vt:lpstr>
      <vt:lpstr>Maintaining Pool Divergence</vt:lpstr>
      <vt:lpstr>Session 4: How do we test what should be a product?</vt:lpstr>
      <vt:lpstr>PowerPoint Presentation</vt:lpstr>
      <vt:lpstr>PowerPoint Presentation</vt:lpstr>
      <vt:lpstr>Stage 1: Preliminary Yield Trials (PYT)</vt:lpstr>
      <vt:lpstr>Stage 2: Advanced Yield Trials (AYT)</vt:lpstr>
      <vt:lpstr>Stage 3: Elite/Regional Trials</vt:lpstr>
      <vt:lpstr>Advances in Genomic Prediction</vt:lpstr>
      <vt:lpstr>How good does your model need to be? </vt:lpstr>
      <vt:lpstr>PowerPoint Presentation</vt:lpstr>
      <vt:lpstr>What Drives the Skip-PYT Decision?</vt:lpstr>
      <vt:lpstr>But we can't test all possible crosses... </vt:lpstr>
      <vt:lpstr>PowerPoint Presentation</vt:lpstr>
      <vt:lpstr>Session 5: Seed Production</vt:lpstr>
      <vt:lpstr>How Hybrid Seed is Made: F1 Production</vt:lpstr>
      <vt:lpstr>Preventing Female Self-Pollination: Three Methods</vt:lpstr>
      <vt:lpstr>Cytoplasmic Male Sterility (CMS) Systems</vt:lpstr>
      <vt:lpstr>Monoecious but Role-Focused</vt:lpstr>
      <vt:lpstr>Production Constraints Affect Breeding Decisions</vt:lpstr>
      <vt:lpstr>Which Hybrid Goes to Production?</vt:lpstr>
      <vt:lpstr>PowerPoint Presentation</vt:lpstr>
      <vt:lpstr>The Complete System:  Biology to ROI</vt:lpstr>
      <vt:lpstr>Bottlenecks in Hybrid Breeding</vt:lpstr>
      <vt:lpstr>PowerPoint Presentation</vt:lpstr>
      <vt:lpstr>If you had to design a hybrid breeding program from scratch, what would you prioritize?  </vt:lpstr>
      <vt:lpstr>Resources for Further Learning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Nick Ames</cp:lastModifiedBy>
  <cp:revision>6</cp:revision>
  <dcterms:created xsi:type="dcterms:W3CDTF">2013-01-27T09:14:16Z</dcterms:created>
  <dcterms:modified xsi:type="dcterms:W3CDTF">2026-05-13T14:41:05Z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c76c141-ac86-40e5-abf2-c6f60e474cee_Enabled">
    <vt:lpwstr>true</vt:lpwstr>
  </property>
  <property fmtid="{D5CDD505-2E9C-101B-9397-08002B2CF9AE}" pid="3" name="MSIP_Label_2c76c141-ac86-40e5-abf2-c6f60e474cee_SetDate">
    <vt:lpwstr>2026-04-13T17:06:19Z</vt:lpwstr>
  </property>
  <property fmtid="{D5CDD505-2E9C-101B-9397-08002B2CF9AE}" pid="4" name="MSIP_Label_2c76c141-ac86-40e5-abf2-c6f60e474cee_Method">
    <vt:lpwstr>Standard</vt:lpwstr>
  </property>
  <property fmtid="{D5CDD505-2E9C-101B-9397-08002B2CF9AE}" pid="5" name="MSIP_Label_2c76c141-ac86-40e5-abf2-c6f60e474cee_Name">
    <vt:lpwstr>2c76c141-ac86-40e5-abf2-c6f60e474cee</vt:lpwstr>
  </property>
  <property fmtid="{D5CDD505-2E9C-101B-9397-08002B2CF9AE}" pid="6" name="MSIP_Label_2c76c141-ac86-40e5-abf2-c6f60e474cee_SiteId">
    <vt:lpwstr>fcb2b37b-5da0-466b-9b83-0014b67a7c78</vt:lpwstr>
  </property>
  <property fmtid="{D5CDD505-2E9C-101B-9397-08002B2CF9AE}" pid="7" name="MSIP_Label_2c76c141-ac86-40e5-abf2-c6f60e474cee_ActionId">
    <vt:lpwstr>dafc811f-0206-4615-a4b5-e254ac01539b</vt:lpwstr>
  </property>
  <property fmtid="{D5CDD505-2E9C-101B-9397-08002B2CF9AE}" pid="8" name="MSIP_Label_2c76c141-ac86-40e5-abf2-c6f60e474cee_ContentBits">
    <vt:lpwstr>2</vt:lpwstr>
  </property>
  <property fmtid="{D5CDD505-2E9C-101B-9397-08002B2CF9AE}" pid="9" name="MSIP_Label_2c76c141-ac86-40e5-abf2-c6f60e474cee_Tag">
    <vt:lpwstr>50, 3, 0, 1</vt:lpwstr>
  </property>
  <property fmtid="{D5CDD505-2E9C-101B-9397-08002B2CF9AE}" pid="10" name="ClassificationContentMarkingFooterLocations">
    <vt:lpwstr>Office Theme:8</vt:lpwstr>
  </property>
  <property fmtid="{D5CDD505-2E9C-101B-9397-08002B2CF9AE}" pid="11" name="ClassificationContentMarkingFooterText">
    <vt:lpwstr>RESTRICTED</vt:lpwstr>
  </property>
  <property fmtid="{D5CDD505-2E9C-101B-9397-08002B2CF9AE}" pid="12" name="ContentTypeId">
    <vt:lpwstr>0x01010017576C5E875F7B478D6A5649968E304D</vt:lpwstr>
  </property>
</Properties>
</file>